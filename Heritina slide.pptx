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81b29bf3-7684-b65a-da98-916460579c8f}">
          <p14:sldIdLst>
            <p14:sldId id="256"/>
            <p14:sldId id="257"/>
            <p14:sldId id="258"/>
            <p14:sldId id="259"/>
          </p14:sldIdLst>
        </p14:section>
        <p14:section name="Présentation générale" id="{dc89cae9-13d7-2df5-9ba3-192094001bf1}">
          <p14:sldIdLst>
            <p14:sldId id="260"/>
            <p14:sldId id="261"/>
            <p14:sldId id="262"/>
            <p14:sldId id="263"/>
            <p14:sldId id="264"/>
            <p14:sldId id="265"/>
            <p14:sldId id="266"/>
            <p14:sldId id="267"/>
          </p14:sldIdLst>
        </p14:section>
        <p14:section name="Analyse et conception" id="{7bf1d249-7540-a4fd-bcf7-0aa8fda06d8c}">
          <p14:sldIdLst>
            <p14:sldId id="268"/>
            <p14:sldId id="269"/>
            <p14:sldId id="270"/>
            <p14:sldId id="271"/>
            <p14:sldId id="272"/>
            <p14:sldId id="273"/>
            <p14:sldId id="274"/>
            <p14:sldId id="275"/>
            <p14:sldId id="276"/>
            <p14:sldId id="277"/>
            <p14:sldId id="278"/>
          </p14:sldIdLst>
        </p14:section>
        <p14:section name="Réalisation et démonstration" id="{2f9288f5-5336-3064-8de5-c6e356311ba2}">
          <p14:sldIdLst>
            <p14:sldId id="279"/>
            <p14:sldId id="280"/>
            <p14:sldId id="281"/>
            <p14:sldId id="282"/>
            <p14:sldId id="283"/>
            <p14:sldId id="284"/>
            <p14:sldId id="285"/>
            <p14:sldId id="286"/>
            <p14:sldId id="287"/>
          </p14:sldIdLst>
        </p14:section>
        <p14:section name="Conclusion" id="{89ab75c4-d033-b59b-5f52-c896767f7efa}">
          <p14:sldIdLst>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Monsieur le Président du jury de me donner la parole.
Mesdames et Messieurs les membres du jury, chers invités, bonjour.
Je m’appelle Heritina Johnny NOMENJANAHARY.
Je vais vous présenter mon mémoire de Master.
Le thème est : une application web intelligente pour gérer les rendez-vous entre patients et médecins, dans une polyclinique.
Ce travail a été fait pendant mon stage à la Polyclinique Saint François d’Assise.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commencer, je veux dire merci.
Merci d’abord à Dieu.
Merci au Président de l’Université de Fianarantsoa, Monsieur HAJALALAINA Aimé Richard.
Merci au Directeur de l’ENI, Monsieur MAHATODY Thomas.
Merci à Madame la Directrice de la PSFA, qui m’a accueilli pour ce stage.
Merci à Monsieur RALAIVAO Jean Christian et à Madame RATIANANTITRA Volatiana Marielle, pour notre formation.
Merci à mon encadreur pédagogique, Monsieur RAZAFIMAHATRATRA Hajarisena.
Merci à mon encadreur professionnel, Monsieur ANDRIANTSOA Herinirina Toky.
Merci aux membres du jury d’avoir accepté de juger ce travail.
Et merci à ma famille et à mes amis pour leur soutien.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le numérique change la santé.
Mais dans beaucoup de cliniques, on prend encore les rendez-vous par téléphone ou à l’accueil.
Cela crée des files d’attente, des oublis et parfois deux patients sur le même créneau.
Notre question est simple : comment planifier les rendez-vous de façon fiable, simple et intelligente ?
Pour y répondre, j’ai utilisé la méthode Scrum, le langage UML, le framework Next.js, la base PostgreSQL et un assistant d’intelligence artificielle.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présentation a quatre parties.
D’abord, la présentation générale.
Ensuite, l’analyse et la conception.
Puis, la réalisation, avec une démonstration.
Et enfin, la conclusion et les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première partie : la présentation générale.
Je vais présenter l’ENI, puis la PSFA, et enfin le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L’ENI, c’est l’École Nationale d’Informatique.
Elle est à Tanambao, à Fianarantsoa.
Elle a été créée en 1983.
Sa mission : former des informaticiens compétents et prêts à travailler.
Elle a trois mentions : Informatique, Intelligence Artificielle et Expertise Digitale.
Voici maintenant son organigramme.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l’organigramme de l’ENI.
L’école est administrée par un Conseil d’École et dirigée par un Directeur.
Le service pédagogique gère les mentions et les parcours.
Passons maintenant à la Polyclinique Saint François d’Assise.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PSFA, c’est la Polyclinique Saint François d’Assise.
Elle se trouve à Ankadifotsy, à Antananarivo.
Elle a été fondée par les Sœurs Franciscaines Missionnaires de Marie.
Elle propose plusieurs spécialités : médecine générale, pédiatrie, gynécologie, chirurgie et orthopédie.
Sa mission : offrir des soins de qualité, accessibles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l’organigramme de la PSFA.
En haut, les Sœurs et la Direction de l’établissement.
Ensuite, les médecins, les responsables de service, les infirmiers et les aides-soignants.
Passons maintenant à la description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le projet.
Le contexte : à la PSFA, les rendez-vous se gèrent à la main, par téléphone, à l’accueil ou dans des registres.
L’objectif : créer une application web intelligente pour planifier ces rendez-vous.
Les résultats attendus : une application fiable, simple, sécurisée, utilisable sur ordinateur et sur téléphone, avec un assistant intelligent.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a deux types d’utilisateurs.
Le patient peut créer un compte, chercher un créneau libre, réserver avec l’assistant, annuler, ou s’inscrire en liste d’attente. Il reçoit aussi des notifications et des rappels.
L’administrateur, c’est la réception. Il gère les patients et les médecins, les horaires et les absences. Il confirme, déplace ou annule les rendez-vous, enregistre les consultations et suit le tableau de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chronogramme du projet.
Le stage a duré cinq mois, du premier juin au trente octobre 2026.
Juin : analyse et conception.
Juillet : les fonctions principales.
Août : les modules complémentaires.
Septembre : intégration et tests.
Octobre : rédaction du mémoire.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deuxième partie : l’analyse et la 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d’abord comment cela se passe aujourd’hui.
Le patient appelle ou vient à l’accueil. L’agent note le rendez-vous dans un registre ou dans un tableur.
Les points forts : le contact humain, un personnel expérimenté, et un coût faible.
Mais il y a des points faibles : des files d’attente, des lignes saturées, des doubles réservations, aucun rappel, des créneaux annulés perdus, et aucune statistique.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résoudre ces problèmes, trois solutions ont été étudiées.
Solution 1 : une plateforme commerciale. Mais l’abonnement est cher et les données sont à l’étranger.
Solution 2 : un logiciel open source. Mais il est lourd et difficile à adapter.
Solution 3 : une application web sur mesure, avec un assistant intelligent.
C’est la solution 3 qui a été retenue, car elle répond exactement aux besoins de la polyclinique.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bien mener le projet, j’ai choisi la méthode agile Scrum.
Elle est souple et permet de livrer le travail petit à petit.
Pour modéliser, j’ai utilisé le langage UML.
Et pour dessiner les diagrammes, l’outil Visual Paradigm.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comment fonctionne Scrum.
Le Product Owner écrit les besoins sous forme d’user stories, dans le Product Backlog.
On choisit les plus importantes pour un sprint.
Chaque jour, une courte réunion fait le point.
À la fin du sprint, on livre une partie qui fonctionne.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l’équipe Scrum.
Le Product Owner est mon encadreur professionnel, Monsieur ANDRIANTSOA. Il exprime les besoins de la polyclinique.
Le Scrum Master est mon encadreur pédagogique, Monsieur RAZAFIMAHATRATRA. Il me guide sur la méthode.
Et l’équipe de développement, c’est moi : j’ai analysé, conçu, développé et testé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diagramme montre les acteurs et ce qu’ils font.
Le patient réserve, annule, et reçoit les rappels.
L’administrateur gère tout le planning.
Le service OpenAI aide à comprendre la demande du patient.
Et un planificateur envoie les rappels automatiquement.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besoins sont écrits sous forme d’user stories.
Par exemple : en tant que patient, je veux chercher un créneau libre, afin de choisir mon rendez-vous.
Ou encore : en tant qu’administrateur, je veux configurer les horaires, afin de générer les créneaux automatiquement.
Le mémoire en contient quinze au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Product Backlog a été découpé en cinq sprints.
Sprint 1 : l’authentification et les comptes.
Sprint 2 : les patients et les médecins.
Sprint 3 : les disponibilités et les rendez-vous.
Sprint 4 : la liste d’attente et les rappels.
Sprint 5 : l’assistant intelligent et le tableau de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diagramme de classes global.
Il montre la structure du système.
Il y a neuf classes principales : l’utilisateur, le patient, le médecin, ses horaires et ses absences, le rendez-vous, la consultation, la notification et la liste d’attente.
Ce diagramme a servi de base pour créer la base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déploiement montre l’architecture physique.
L’utilisateur passe par son navigateur.
Le serveur Node.js exécute l’application Next.js.
Les données sont dans PostgreSQL.
Et l’assistant appelle l’API d’OpenAI par une connexion sécurisée.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Entamons la troisième partie : la réalisation et la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développer l’application, j’ai utilisé ces technologies.
Next.js et React pour l’application web.
TypeScript comme langage, pour un code plus sûr.
Tailwind CSS pour le design.
PostgreSQL pour la base de données, avec Drizzle ORM.
Le modèle GPT-4o-mini pour l’assistant.
Et Git pour suivre les versions du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suit une architecture en trois couches.
La couche présentation : les pages que l’on voit dans le navigateur.
La couche métier : le serveur vérifie la sécurité et applique les règles de planification.
La couche données : la base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tableau de bord de l’administrateur.
Il affiche en temps réel le nombre de patients, de médecins et de rendez-vous du jour.
On voit aussi les rendez-vous confirmés, en attente et annulés, et les patients en liste d’attente.
Deux graphiques montrent l’activité de la semaine et la répartition par statut.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part du médecin.
L’administrateur configure ses jours et heures de travail, et la durée d’une consultation : trente minutes par défaut.
L’application calcule alors les créneaux libres.
À droite, la réception crée un rendez-vous en choisissant un créneau proposé.
Le point important : on vérifie deux fois la disponibilité. C’est ce qui empêche les doubles réservations.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rendez-vous passe par quatre étapes : à valider, confirmé, en consultation, puis consulté. Il peut aussi être annulé.
Le jour du rendez-vous, le médecin remplit une fiche : diagnostic, prescription et notes.
L’emploi du temps montre la semaine sous forme de calendrier, et on peut filtrer par médecin.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point fort du projet : l’assistant intelligent.
Le patient écrit simplement, par exemple : « je veux voir un pédiatre mardi matin ».
L’assistant comprend la spécialité, le jour et le moment.
Il propose seulement les créneaux vraiment libres.
Puis il demande une confirmation avant d’envoyer la demande.
Pour la confidentialité, aucune donnée personnelle du patient n’est envoyée à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 n’y a aucun créneau, le patient peut s’inscrire en liste d’attente.
Dès qu’un rendez-vous est annulé, le créneau est proposé au premier patient de la liste.
Le patient reçoit aussi des notifications : confirmation, annulation ou changement d’heure.
Et des rappels automatiques sont envoyés 48 heures et 24 heures avant le rendez-vous.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maintenant une petite démonstration de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dernière partie : la conclusion et les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l’application apporte quatre choses à la PSFA.
La fiabilité : plus de doubles réservations.
La simplicité : un assistant qui comprend le langage courant.
L’efficacité : la liste d’attente et les rappels automatiques.
La visibilité : un tableau de bord clair pour la direction.
Pour la suite, on peut ajouter les rappels par SMS et par e-mail, une application mobile, un espace pour les médecins, la téléconsultation, et un assistant en malagasy.
Ce stage m’a beaucoup appris, sur le plan technique comme sur le plan humain.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ma présentation est terminée.
Merci beaucoup pour votre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suis maintenant à votre disposition pour vos questions et vos remarques.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U-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UVERTUR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7863840" cy="128016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UVER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2.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2.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2.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Université" descr="/tmp/claude-0/assets/logo_uf.jpg">    </p:cNvPr>
          <p:cNvPicPr>
            <a:picLocks noChangeAspect="1"/>
          </p:cNvPicPr>
          <p:nvPr/>
        </p:nvPicPr>
        <p:blipFill>
          <a:blip r:embed="rId1"/>
          <a:stretch>
            <a:fillRect/>
          </a:stretch>
        </p:blipFill>
        <p:spPr>
          <a:xfrm>
            <a:off x="640080" y="411480"/>
            <a:ext cx="960120" cy="1033272"/>
          </a:xfrm>
          <a:prstGeom prst="rect">
            <a:avLst/>
          </a:prstGeom>
        </p:spPr>
      </p:pic>
      <p:pic>
        <p:nvPicPr>
          <p:cNvPr id="3" name="Logo ENI" descr="/tmp/claude-0/assets/logo_eni.jpg">    </p:cNvPr>
          <p:cNvPicPr>
            <a:picLocks noChangeAspect="1"/>
          </p:cNvPicPr>
          <p:nvPr/>
        </p:nvPicPr>
        <p:blipFill>
          <a:blip r:embed="rId2"/>
          <a:stretch>
            <a:fillRect/>
          </a:stretch>
        </p:blipFill>
        <p:spPr>
          <a:xfrm>
            <a:off x="1783080" y="411480"/>
            <a:ext cx="1024128" cy="1033272"/>
          </a:xfrm>
          <a:prstGeom prst="rect">
            <a:avLst/>
          </a:prstGeom>
        </p:spPr>
      </p:pic>
      <p:pic>
        <p:nvPicPr>
          <p:cNvPr id="4" name="Logo PSFA" descr="/tmp/claude-0/assets/logo.jpg">    </p:cNvPr>
          <p:cNvPicPr>
            <a:picLocks noChangeAspect="1"/>
          </p:cNvPicPr>
          <p:nvPr/>
        </p:nvPicPr>
        <p:blipFill>
          <a:blip r:embed="rId3"/>
          <a:stretch>
            <a:fillRect/>
          </a:stretch>
        </p:blipFill>
        <p:spPr>
          <a:xfrm>
            <a:off x="2990088" y="411480"/>
            <a:ext cx="1005840" cy="1033272"/>
          </a:xfrm>
          <a:prstGeom prst="rect">
            <a:avLst/>
          </a:prstGeom>
        </p:spPr>
      </p:pic>
      <p:sp>
        <p:nvSpPr>
          <p:cNvPr id="5" name="Diplome"/>
          <p:cNvSpPr txBox="1"/>
          <p:nvPr/>
        </p:nvSpPr>
        <p:spPr>
          <a:xfrm>
            <a:off x="640080" y="1691640"/>
            <a:ext cx="8412480" cy="411480"/>
          </a:xfrm>
          <a:prstGeom prst="rect">
            <a:avLst/>
          </a:prstGeom>
          <a:noFill/>
          <a:ln/>
        </p:spPr>
        <p:txBody>
          <a:bodyPr wrap="square" lIns="0" tIns="0" rIns="0" bIns="0" rtlCol="0" anchor="t"/>
          <a:lstStyle/>
          <a:p>
            <a:pPr indent="0" marL="0">
              <a:buNone/>
            </a:pPr>
            <a:r>
              <a:rPr lang="en-US" sz="1500" b="1" spc="100" kern="0" dirty="0">
                <a:solidFill>
                  <a:schemeClr val="accent2"/>
                </a:solidFill>
              </a:rPr>
              <a:t>MÉMOIRE DE FIN D’ÉTUDES POUR L’OBTENTION DU DIPLÔME DE MASTER PROFESSIONNEL</a:t>
            </a:r>
            <a:endParaRPr lang="en-US" sz="1500" dirty="0"/>
          </a:p>
        </p:txBody>
      </p:sp>
      <p:sp>
        <p:nvSpPr>
          <p:cNvPr id="6" name="Titre du memoire"/>
          <p:cNvSpPr txBox="1"/>
          <p:nvPr/>
        </p:nvSpPr>
        <p:spPr>
          <a:xfrm>
            <a:off x="640080" y="2194560"/>
            <a:ext cx="7772400" cy="1737360"/>
          </a:xfrm>
          <a:prstGeom prst="rect">
            <a:avLst/>
          </a:prstGeom>
          <a:noFill/>
          <a:ln/>
        </p:spPr>
        <p:txBody>
          <a:bodyPr wrap="square" lIns="0" tIns="0" rIns="0" bIns="0" rtlCol="0" anchor="ctr"/>
          <a:lstStyle/>
          <a:p>
            <a:pPr indent="0" marL="0">
              <a:buNone/>
            </a:pPr>
            <a:r>
              <a:rPr lang="en-US" sz="3000" b="1" dirty="0">
                <a:solidFill>
                  <a:schemeClr val="tx2"/>
                </a:solidFill>
              </a:rPr>
              <a:t>Conception et réalisation d’une application web intelligente pour la gestion des rendez-vous patient-médecin au sein d’une polyclinique</a:t>
            </a:r>
            <a:endParaRPr lang="en-US" sz="3000" dirty="0"/>
          </a:p>
        </p:txBody>
      </p:sp>
      <p:sp>
        <p:nvSpPr>
          <p:cNvPr id="7" name="Auteur et encadreurs"/>
          <p:cNvSpPr txBox="1"/>
          <p:nvPr/>
        </p:nvSpPr>
        <p:spPr>
          <a:xfrm>
            <a:off x="640080" y="4023360"/>
            <a:ext cx="7772400" cy="109728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Présenté par : </a:t>
            </a:r>
            <a:pPr indent="0" marL="0">
              <a:spcAft>
                <a:spcPts val="400"/>
              </a:spcAft>
              <a:buNone/>
            </a:pPr>
            <a:r>
              <a:rPr lang="en-US" sz="1500" dirty="0">
                <a:solidFill>
                  <a:schemeClr val="tx1"/>
                </a:solidFill>
              </a:rPr>
              <a:t>Monsieur NOMENJANAHARY Heritina Johnny</a:t>
            </a:r>
            <a:endParaRPr lang="en-US" sz="1500" dirty="0"/>
          </a:p>
          <a:p>
            <a:pPr indent="0" marL="0">
              <a:spcAft>
                <a:spcPts val="400"/>
              </a:spcAft>
              <a:buNone/>
            </a:pPr>
            <a:r>
              <a:rPr lang="en-US" sz="1500" b="1" dirty="0">
                <a:solidFill>
                  <a:schemeClr val="tx2"/>
                </a:solidFill>
              </a:rPr>
              <a:t>Encadreur pédagogique : </a:t>
            </a:r>
            <a:pPr indent="0" marL="0">
              <a:spcAft>
                <a:spcPts val="400"/>
              </a:spcAft>
              <a:buNone/>
            </a:pPr>
            <a:r>
              <a:rPr lang="en-US" sz="1500" dirty="0">
                <a:solidFill>
                  <a:schemeClr val="tx1"/>
                </a:solidFill>
              </a:rPr>
              <a:t>Monsieur RAZAFIMAHATRATRA Hajarisena, Maître de conférences</a:t>
            </a:r>
            <a:endParaRPr lang="en-US" sz="1500" dirty="0"/>
          </a:p>
          <a:p>
            <a:pPr indent="0" marL="0">
              <a:spcAft>
                <a:spcPts val="400"/>
              </a:spcAft>
              <a:buNone/>
            </a:pPr>
            <a:r>
              <a:rPr lang="en-US" sz="1500" b="1" dirty="0">
                <a:solidFill>
                  <a:schemeClr val="tx2"/>
                </a:solidFill>
              </a:rPr>
              <a:t>Encadreur professionnel : </a:t>
            </a:r>
            <a:pPr indent="0" marL="0">
              <a:spcAft>
                <a:spcPts val="400"/>
              </a:spcAft>
              <a:buNone/>
            </a:pPr>
            <a:r>
              <a:rPr lang="en-US" sz="1500" dirty="0">
                <a:solidFill>
                  <a:schemeClr val="tx1"/>
                </a:solidFill>
              </a:rPr>
              <a:t>Monsieur ANDRIANTSOA Herinirina Toky, Responsable en informatique</a:t>
            </a:r>
            <a:endParaRPr lang="en-US" sz="1500" dirty="0"/>
          </a:p>
        </p:txBody>
      </p:sp>
      <p:sp>
        <p:nvSpPr>
          <p:cNvPr id="8" name="Date"/>
          <p:cNvSpPr txBox="1"/>
          <p:nvPr/>
        </p:nvSpPr>
        <p:spPr>
          <a:xfrm>
            <a:off x="640080" y="5257800"/>
            <a:ext cx="6400800" cy="320040"/>
          </a:xfrm>
          <a:prstGeom prst="rect">
            <a:avLst/>
          </a:prstGeom>
          <a:noFill/>
          <a:ln/>
        </p:spPr>
        <p:txBody>
          <a:bodyPr wrap="square" lIns="0" tIns="0" rIns="0" bIns="0" rtlCol="0" anchor="t"/>
          <a:lstStyle/>
          <a:p>
            <a:pPr indent="0" marL="0">
              <a:buNone/>
            </a:pPr>
            <a:r>
              <a:rPr lang="en-US" sz="1400" i="1" dirty="0">
                <a:solidFill>
                  <a:schemeClr val="tx2"/>
                </a:solidFill>
              </a:rPr>
              <a:t>Le 13 novembre 2026  •  Année universitaire 2025 – 2026</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9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Remerciements</a:t>
            </a:r>
            <a:endParaRPr lang="en-US" sz="3200" dirty="0"/>
          </a:p>
        </p:txBody>
      </p:sp>
      <p:sp>
        <p:nvSpPr>
          <p:cNvPr id="3" name="Carte merci 1"/>
          <p:cNvSpPr/>
          <p:nvPr/>
        </p:nvSpPr>
        <p:spPr>
          <a:xfrm>
            <a:off x="548640" y="1417320"/>
            <a:ext cx="4572000" cy="749808"/>
          </a:xfrm>
          <a:prstGeom prst="roundRect">
            <a:avLst>
              <a:gd name="adj" fmla="val 14634"/>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4" name="Merci 1 cercle"/>
          <p:cNvSpPr/>
          <p:nvPr/>
        </p:nvSpPr>
        <p:spPr>
          <a:xfrm>
            <a:off x="685800" y="1536192"/>
            <a:ext cx="512064" cy="512064"/>
          </a:xfrm>
          <a:prstGeom prst="ellipse">
            <a:avLst/>
          </a:prstGeom>
          <a:solidFill>
            <a:schemeClr val="accent1"/>
          </a:solidFill>
          <a:ln w="12700">
            <a:solidFill>
              <a:schemeClr val="accent1"/>
            </a:solidFill>
            <a:prstDash val="solid"/>
          </a:ln>
        </p:spPr>
      </p:sp>
      <p:pic>
        <p:nvPicPr>
          <p:cNvPr id="5" name="Merci 1 icone" descr="preencoded.png">    </p:cNvPr>
          <p:cNvPicPr>
            <a:picLocks noChangeAspect="1"/>
          </p:cNvPicPr>
          <p:nvPr/>
        </p:nvPicPr>
        <p:blipFill>
          <a:blip r:embed="rId1"/>
          <a:stretch>
            <a:fillRect/>
          </a:stretch>
        </p:blipFill>
        <p:spPr>
          <a:xfrm>
            <a:off x="808695" y="1659087"/>
            <a:ext cx="266273" cy="266273"/>
          </a:xfrm>
          <a:prstGeom prst="rect">
            <a:avLst/>
          </a:prstGeom>
        </p:spPr>
      </p:pic>
      <p:sp>
        <p:nvSpPr>
          <p:cNvPr id="6" name="Texte merci 1"/>
          <p:cNvSpPr txBox="1"/>
          <p:nvPr/>
        </p:nvSpPr>
        <p:spPr>
          <a:xfrm>
            <a:off x="1325880" y="1490472"/>
            <a:ext cx="3703320" cy="603504"/>
          </a:xfrm>
          <a:prstGeom prst="rect">
            <a:avLst/>
          </a:prstGeom>
          <a:noFill/>
          <a:ln/>
        </p:spPr>
        <p:txBody>
          <a:bodyPr wrap="square" lIns="0" tIns="0" rIns="0" bIns="0" rtlCol="0" anchor="ctr"/>
          <a:lstStyle/>
          <a:p>
            <a:pPr indent="0" marL="0">
              <a:buNone/>
            </a:pPr>
            <a:r>
              <a:rPr lang="en-US" sz="1500" b="1" dirty="0">
                <a:solidFill>
                  <a:schemeClr val="tx2"/>
                </a:solidFill>
              </a:rPr>
              <a:t>Dieu Tout-Puissant</a:t>
            </a:r>
            <a:endParaRPr lang="en-US" sz="1500" dirty="0"/>
          </a:p>
        </p:txBody>
      </p:sp>
      <p:sp>
        <p:nvSpPr>
          <p:cNvPr id="7" name="Carte merci 2"/>
          <p:cNvSpPr/>
          <p:nvPr/>
        </p:nvSpPr>
        <p:spPr>
          <a:xfrm>
            <a:off x="548640" y="2331720"/>
            <a:ext cx="4572000" cy="749808"/>
          </a:xfrm>
          <a:prstGeom prst="roundRect">
            <a:avLst>
              <a:gd name="adj" fmla="val 14634"/>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8" name="Merci 2 cercle"/>
          <p:cNvSpPr/>
          <p:nvPr/>
        </p:nvSpPr>
        <p:spPr>
          <a:xfrm>
            <a:off x="685800" y="2450592"/>
            <a:ext cx="512064" cy="512064"/>
          </a:xfrm>
          <a:prstGeom prst="ellipse">
            <a:avLst/>
          </a:prstGeom>
          <a:solidFill>
            <a:schemeClr val="accent2"/>
          </a:solidFill>
          <a:ln w="12700">
            <a:solidFill>
              <a:schemeClr val="accent2"/>
            </a:solidFill>
            <a:prstDash val="solid"/>
          </a:ln>
        </p:spPr>
      </p:sp>
      <p:pic>
        <p:nvPicPr>
          <p:cNvPr id="9" name="Merci 2 icone" descr="preencoded.png">    </p:cNvPr>
          <p:cNvPicPr>
            <a:picLocks noChangeAspect="1"/>
          </p:cNvPicPr>
          <p:nvPr/>
        </p:nvPicPr>
        <p:blipFill>
          <a:blip r:embed="rId2"/>
          <a:stretch>
            <a:fillRect/>
          </a:stretch>
        </p:blipFill>
        <p:spPr>
          <a:xfrm>
            <a:off x="808695" y="2573487"/>
            <a:ext cx="266273" cy="266273"/>
          </a:xfrm>
          <a:prstGeom prst="rect">
            <a:avLst/>
          </a:prstGeom>
        </p:spPr>
      </p:pic>
      <p:sp>
        <p:nvSpPr>
          <p:cNvPr id="10" name="Texte merci 2"/>
          <p:cNvSpPr txBox="1"/>
          <p:nvPr/>
        </p:nvSpPr>
        <p:spPr>
          <a:xfrm>
            <a:off x="1325880" y="2404872"/>
            <a:ext cx="3703320" cy="603504"/>
          </a:xfrm>
          <a:prstGeom prst="rect">
            <a:avLst/>
          </a:prstGeom>
          <a:noFill/>
          <a:ln/>
        </p:spPr>
        <p:txBody>
          <a:bodyPr wrap="square" lIns="0" tIns="0" rIns="0" bIns="0" rtlCol="0" anchor="ctr"/>
          <a:lstStyle/>
          <a:p>
            <a:pPr indent="0" marL="0">
              <a:buNone/>
            </a:pPr>
            <a:r>
              <a:rPr lang="en-US" sz="1500" b="1" dirty="0">
                <a:solidFill>
                  <a:schemeClr val="tx2"/>
                </a:solidFill>
              </a:rPr>
              <a:t>M. HAJALALAINA Aimé Richard</a:t>
            </a:r>
            <a:endParaRPr lang="en-US" sz="1500" dirty="0"/>
          </a:p>
          <a:p>
            <a:pPr indent="0" marL="0">
              <a:buNone/>
            </a:pPr>
            <a:r>
              <a:rPr lang="en-US" sz="1300" dirty="0">
                <a:solidFill>
                  <a:schemeClr val="tx1"/>
                </a:solidFill>
              </a:rPr>
              <a:t>Président de l’Université de Fianarantsoa</a:t>
            </a:r>
            <a:endParaRPr lang="en-US" sz="1500" dirty="0"/>
          </a:p>
        </p:txBody>
      </p:sp>
      <p:sp>
        <p:nvSpPr>
          <p:cNvPr id="11" name="Carte merci 3"/>
          <p:cNvSpPr/>
          <p:nvPr/>
        </p:nvSpPr>
        <p:spPr>
          <a:xfrm>
            <a:off x="548640" y="3246120"/>
            <a:ext cx="4572000" cy="749808"/>
          </a:xfrm>
          <a:prstGeom prst="roundRect">
            <a:avLst>
              <a:gd name="adj" fmla="val 14634"/>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2" name="Merci 3 cercle"/>
          <p:cNvSpPr/>
          <p:nvPr/>
        </p:nvSpPr>
        <p:spPr>
          <a:xfrm>
            <a:off x="685800" y="3364992"/>
            <a:ext cx="512064" cy="512064"/>
          </a:xfrm>
          <a:prstGeom prst="ellipse">
            <a:avLst/>
          </a:prstGeom>
          <a:solidFill>
            <a:schemeClr val="accent1"/>
          </a:solidFill>
          <a:ln w="12700">
            <a:solidFill>
              <a:schemeClr val="accent1"/>
            </a:solidFill>
            <a:prstDash val="solid"/>
          </a:ln>
        </p:spPr>
      </p:sp>
      <p:pic>
        <p:nvPicPr>
          <p:cNvPr id="13" name="Merci 3 icone" descr="preencoded.png">    </p:cNvPr>
          <p:cNvPicPr>
            <a:picLocks noChangeAspect="1"/>
          </p:cNvPicPr>
          <p:nvPr/>
        </p:nvPicPr>
        <p:blipFill>
          <a:blip r:embed="rId3"/>
          <a:stretch>
            <a:fillRect/>
          </a:stretch>
        </p:blipFill>
        <p:spPr>
          <a:xfrm>
            <a:off x="808695" y="3487887"/>
            <a:ext cx="266273" cy="266273"/>
          </a:xfrm>
          <a:prstGeom prst="rect">
            <a:avLst/>
          </a:prstGeom>
        </p:spPr>
      </p:pic>
      <p:sp>
        <p:nvSpPr>
          <p:cNvPr id="14" name="Texte merci 3"/>
          <p:cNvSpPr txBox="1"/>
          <p:nvPr/>
        </p:nvSpPr>
        <p:spPr>
          <a:xfrm>
            <a:off x="1325880" y="3319272"/>
            <a:ext cx="3703320" cy="603504"/>
          </a:xfrm>
          <a:prstGeom prst="rect">
            <a:avLst/>
          </a:prstGeom>
          <a:noFill/>
          <a:ln/>
        </p:spPr>
        <p:txBody>
          <a:bodyPr wrap="square" lIns="0" tIns="0" rIns="0" bIns="0" rtlCol="0" anchor="ctr"/>
          <a:lstStyle/>
          <a:p>
            <a:pPr indent="0" marL="0">
              <a:buNone/>
            </a:pPr>
            <a:r>
              <a:rPr lang="en-US" sz="1500" b="1" dirty="0">
                <a:solidFill>
                  <a:schemeClr val="tx2"/>
                </a:solidFill>
              </a:rPr>
              <a:t>M. MAHATODY Thomas</a:t>
            </a:r>
            <a:endParaRPr lang="en-US" sz="1500" dirty="0"/>
          </a:p>
          <a:p>
            <a:pPr indent="0" marL="0">
              <a:buNone/>
            </a:pPr>
            <a:r>
              <a:rPr lang="en-US" sz="1300" dirty="0">
                <a:solidFill>
                  <a:schemeClr val="tx1"/>
                </a:solidFill>
              </a:rPr>
              <a:t>Directeur de l’ENI</a:t>
            </a:r>
            <a:endParaRPr lang="en-US" sz="1500" dirty="0"/>
          </a:p>
        </p:txBody>
      </p:sp>
      <p:sp>
        <p:nvSpPr>
          <p:cNvPr id="15" name="Carte merci 4"/>
          <p:cNvSpPr/>
          <p:nvPr/>
        </p:nvSpPr>
        <p:spPr>
          <a:xfrm>
            <a:off x="548640" y="4160520"/>
            <a:ext cx="4572000" cy="749808"/>
          </a:xfrm>
          <a:prstGeom prst="roundRect">
            <a:avLst>
              <a:gd name="adj" fmla="val 14634"/>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6" name="Merci 4 cercle"/>
          <p:cNvSpPr/>
          <p:nvPr/>
        </p:nvSpPr>
        <p:spPr>
          <a:xfrm>
            <a:off x="685800" y="4279392"/>
            <a:ext cx="512064" cy="512064"/>
          </a:xfrm>
          <a:prstGeom prst="ellipse">
            <a:avLst/>
          </a:prstGeom>
          <a:solidFill>
            <a:schemeClr val="accent2"/>
          </a:solidFill>
          <a:ln w="12700">
            <a:solidFill>
              <a:schemeClr val="accent2"/>
            </a:solidFill>
            <a:prstDash val="solid"/>
          </a:ln>
        </p:spPr>
      </p:sp>
      <p:pic>
        <p:nvPicPr>
          <p:cNvPr id="17" name="Merci 4 icone" descr="preencoded.png">    </p:cNvPr>
          <p:cNvPicPr>
            <a:picLocks noChangeAspect="1"/>
          </p:cNvPicPr>
          <p:nvPr/>
        </p:nvPicPr>
        <p:blipFill>
          <a:blip r:embed="rId4"/>
          <a:stretch>
            <a:fillRect/>
          </a:stretch>
        </p:blipFill>
        <p:spPr>
          <a:xfrm>
            <a:off x="808695" y="4402287"/>
            <a:ext cx="266273" cy="266273"/>
          </a:xfrm>
          <a:prstGeom prst="rect">
            <a:avLst/>
          </a:prstGeom>
        </p:spPr>
      </p:pic>
      <p:sp>
        <p:nvSpPr>
          <p:cNvPr id="18" name="Texte merci 4"/>
          <p:cNvSpPr txBox="1"/>
          <p:nvPr/>
        </p:nvSpPr>
        <p:spPr>
          <a:xfrm>
            <a:off x="1325880" y="4233672"/>
            <a:ext cx="3703320" cy="603504"/>
          </a:xfrm>
          <a:prstGeom prst="rect">
            <a:avLst/>
          </a:prstGeom>
          <a:noFill/>
          <a:ln/>
        </p:spPr>
        <p:txBody>
          <a:bodyPr wrap="square" lIns="0" tIns="0" rIns="0" bIns="0" rtlCol="0" anchor="ctr"/>
          <a:lstStyle/>
          <a:p>
            <a:pPr indent="0" marL="0">
              <a:buNone/>
            </a:pPr>
            <a:r>
              <a:rPr lang="en-US" sz="1500" b="1" dirty="0">
                <a:solidFill>
                  <a:schemeClr val="tx2"/>
                </a:solidFill>
              </a:rPr>
              <a:t>Mme la Directrice de la PSFA</a:t>
            </a:r>
            <a:endParaRPr lang="en-US" sz="1500" dirty="0"/>
          </a:p>
          <a:p>
            <a:pPr indent="0" marL="0">
              <a:buNone/>
            </a:pPr>
            <a:r>
              <a:rPr lang="en-US" sz="1300" dirty="0">
                <a:solidFill>
                  <a:schemeClr val="tx1"/>
                </a:solidFill>
              </a:rPr>
              <a:t>Polyclinique Saint François d’Assise</a:t>
            </a:r>
            <a:endParaRPr lang="en-US" sz="1500" dirty="0"/>
          </a:p>
        </p:txBody>
      </p:sp>
      <p:sp>
        <p:nvSpPr>
          <p:cNvPr id="19" name="Carte merci 5"/>
          <p:cNvSpPr/>
          <p:nvPr/>
        </p:nvSpPr>
        <p:spPr>
          <a:xfrm>
            <a:off x="548640" y="5074920"/>
            <a:ext cx="4572000" cy="749808"/>
          </a:xfrm>
          <a:prstGeom prst="roundRect">
            <a:avLst>
              <a:gd name="adj" fmla="val 14634"/>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20" name="Merci 5 cercle"/>
          <p:cNvSpPr/>
          <p:nvPr/>
        </p:nvSpPr>
        <p:spPr>
          <a:xfrm>
            <a:off x="685800" y="5193792"/>
            <a:ext cx="512064" cy="512064"/>
          </a:xfrm>
          <a:prstGeom prst="ellipse">
            <a:avLst/>
          </a:prstGeom>
          <a:solidFill>
            <a:schemeClr val="accent1"/>
          </a:solidFill>
          <a:ln w="12700">
            <a:solidFill>
              <a:schemeClr val="accent1"/>
            </a:solidFill>
            <a:prstDash val="solid"/>
          </a:ln>
        </p:spPr>
      </p:sp>
      <p:pic>
        <p:nvPicPr>
          <p:cNvPr id="21" name="Merci 5 icone" descr="preencoded.png">    </p:cNvPr>
          <p:cNvPicPr>
            <a:picLocks noChangeAspect="1"/>
          </p:cNvPicPr>
          <p:nvPr/>
        </p:nvPicPr>
        <p:blipFill>
          <a:blip r:embed="rId5"/>
          <a:stretch>
            <a:fillRect/>
          </a:stretch>
        </p:blipFill>
        <p:spPr>
          <a:xfrm>
            <a:off x="808695" y="5316687"/>
            <a:ext cx="266273" cy="266273"/>
          </a:xfrm>
          <a:prstGeom prst="rect">
            <a:avLst/>
          </a:prstGeom>
        </p:spPr>
      </p:pic>
      <p:sp>
        <p:nvSpPr>
          <p:cNvPr id="22" name="Texte merci 5"/>
          <p:cNvSpPr txBox="1"/>
          <p:nvPr/>
        </p:nvSpPr>
        <p:spPr>
          <a:xfrm>
            <a:off x="1325880" y="5148072"/>
            <a:ext cx="3703320" cy="603504"/>
          </a:xfrm>
          <a:prstGeom prst="rect">
            <a:avLst/>
          </a:prstGeom>
          <a:noFill/>
          <a:ln/>
        </p:spPr>
        <p:txBody>
          <a:bodyPr wrap="square" lIns="0" tIns="0" rIns="0" bIns="0" rtlCol="0" anchor="ctr"/>
          <a:lstStyle/>
          <a:p>
            <a:pPr indent="0" marL="0">
              <a:buNone/>
            </a:pPr>
            <a:r>
              <a:rPr lang="en-US" sz="1500" b="1" dirty="0">
                <a:solidFill>
                  <a:schemeClr val="tx2"/>
                </a:solidFill>
              </a:rPr>
              <a:t>M. RALAIVAO Jean Christian</a:t>
            </a:r>
            <a:endParaRPr lang="en-US" sz="1500" dirty="0"/>
          </a:p>
          <a:p>
            <a:pPr indent="0" marL="0">
              <a:buNone/>
            </a:pPr>
            <a:r>
              <a:rPr lang="en-US" sz="1300" dirty="0">
                <a:solidFill>
                  <a:schemeClr val="tx1"/>
                </a:solidFill>
              </a:rPr>
              <a:t>Responsable de la mention Informatique</a:t>
            </a:r>
            <a:endParaRPr lang="en-US" sz="1500" dirty="0"/>
          </a:p>
        </p:txBody>
      </p:sp>
      <p:sp>
        <p:nvSpPr>
          <p:cNvPr id="23" name="Carte merci 6"/>
          <p:cNvSpPr/>
          <p:nvPr/>
        </p:nvSpPr>
        <p:spPr>
          <a:xfrm>
            <a:off x="5394960" y="1417320"/>
            <a:ext cx="4572000" cy="749808"/>
          </a:xfrm>
          <a:prstGeom prst="roundRect">
            <a:avLst>
              <a:gd name="adj" fmla="val 14634"/>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24" name="Merci 6 cercle"/>
          <p:cNvSpPr/>
          <p:nvPr/>
        </p:nvSpPr>
        <p:spPr>
          <a:xfrm>
            <a:off x="5532120" y="1536192"/>
            <a:ext cx="512064" cy="512064"/>
          </a:xfrm>
          <a:prstGeom prst="ellipse">
            <a:avLst/>
          </a:prstGeom>
          <a:solidFill>
            <a:schemeClr val="accent2"/>
          </a:solidFill>
          <a:ln w="12700">
            <a:solidFill>
              <a:schemeClr val="accent2"/>
            </a:solidFill>
            <a:prstDash val="solid"/>
          </a:ln>
        </p:spPr>
      </p:sp>
      <p:pic>
        <p:nvPicPr>
          <p:cNvPr id="25" name="Merci 6 icone" descr="preencoded.png">    </p:cNvPr>
          <p:cNvPicPr>
            <a:picLocks noChangeAspect="1"/>
          </p:cNvPicPr>
          <p:nvPr/>
        </p:nvPicPr>
        <p:blipFill>
          <a:blip r:embed="rId6"/>
          <a:stretch>
            <a:fillRect/>
          </a:stretch>
        </p:blipFill>
        <p:spPr>
          <a:xfrm>
            <a:off x="5655015" y="1659087"/>
            <a:ext cx="266273" cy="266273"/>
          </a:xfrm>
          <a:prstGeom prst="rect">
            <a:avLst/>
          </a:prstGeom>
        </p:spPr>
      </p:pic>
      <p:sp>
        <p:nvSpPr>
          <p:cNvPr id="26" name="Texte merci 6"/>
          <p:cNvSpPr txBox="1"/>
          <p:nvPr/>
        </p:nvSpPr>
        <p:spPr>
          <a:xfrm>
            <a:off x="6172200" y="1490472"/>
            <a:ext cx="3703320" cy="603504"/>
          </a:xfrm>
          <a:prstGeom prst="rect">
            <a:avLst/>
          </a:prstGeom>
          <a:noFill/>
          <a:ln/>
        </p:spPr>
        <p:txBody>
          <a:bodyPr wrap="square" lIns="0" tIns="0" rIns="0" bIns="0" rtlCol="0" anchor="ctr"/>
          <a:lstStyle/>
          <a:p>
            <a:pPr indent="0" marL="0">
              <a:buNone/>
            </a:pPr>
            <a:r>
              <a:rPr lang="en-US" sz="1500" b="1" dirty="0">
                <a:solidFill>
                  <a:schemeClr val="tx2"/>
                </a:solidFill>
              </a:rPr>
              <a:t>Mme RATIANANTITRA Volatiana Marielle</a:t>
            </a:r>
            <a:endParaRPr lang="en-US" sz="1500" dirty="0"/>
          </a:p>
          <a:p>
            <a:pPr indent="0" marL="0">
              <a:buNone/>
            </a:pPr>
            <a:r>
              <a:rPr lang="en-US" sz="1300" dirty="0">
                <a:solidFill>
                  <a:schemeClr val="tx1"/>
                </a:solidFill>
              </a:rPr>
              <a:t>Responsable du parcours</a:t>
            </a:r>
            <a:endParaRPr lang="en-US" sz="1500" dirty="0"/>
          </a:p>
        </p:txBody>
      </p:sp>
      <p:sp>
        <p:nvSpPr>
          <p:cNvPr id="27" name="Carte merci 7"/>
          <p:cNvSpPr/>
          <p:nvPr/>
        </p:nvSpPr>
        <p:spPr>
          <a:xfrm>
            <a:off x="5394960" y="2331720"/>
            <a:ext cx="4572000" cy="749808"/>
          </a:xfrm>
          <a:prstGeom prst="roundRect">
            <a:avLst>
              <a:gd name="adj" fmla="val 14634"/>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28" name="Merci 7 cercle"/>
          <p:cNvSpPr/>
          <p:nvPr/>
        </p:nvSpPr>
        <p:spPr>
          <a:xfrm>
            <a:off x="5532120" y="2450592"/>
            <a:ext cx="512064" cy="512064"/>
          </a:xfrm>
          <a:prstGeom prst="ellipse">
            <a:avLst/>
          </a:prstGeom>
          <a:solidFill>
            <a:schemeClr val="accent1"/>
          </a:solidFill>
          <a:ln w="12700">
            <a:solidFill>
              <a:schemeClr val="accent1"/>
            </a:solidFill>
            <a:prstDash val="solid"/>
          </a:ln>
        </p:spPr>
      </p:sp>
      <p:pic>
        <p:nvPicPr>
          <p:cNvPr id="29" name="Merci 7 icone" descr="preencoded.png">    </p:cNvPr>
          <p:cNvPicPr>
            <a:picLocks noChangeAspect="1"/>
          </p:cNvPicPr>
          <p:nvPr/>
        </p:nvPicPr>
        <p:blipFill>
          <a:blip r:embed="rId7"/>
          <a:stretch>
            <a:fillRect/>
          </a:stretch>
        </p:blipFill>
        <p:spPr>
          <a:xfrm>
            <a:off x="5655015" y="2573487"/>
            <a:ext cx="266273" cy="266273"/>
          </a:xfrm>
          <a:prstGeom prst="rect">
            <a:avLst/>
          </a:prstGeom>
        </p:spPr>
      </p:pic>
      <p:sp>
        <p:nvSpPr>
          <p:cNvPr id="30" name="Texte merci 7"/>
          <p:cNvSpPr txBox="1"/>
          <p:nvPr/>
        </p:nvSpPr>
        <p:spPr>
          <a:xfrm>
            <a:off x="6172200" y="2404872"/>
            <a:ext cx="3703320" cy="603504"/>
          </a:xfrm>
          <a:prstGeom prst="rect">
            <a:avLst/>
          </a:prstGeom>
          <a:noFill/>
          <a:ln/>
        </p:spPr>
        <p:txBody>
          <a:bodyPr wrap="square" lIns="0" tIns="0" rIns="0" bIns="0" rtlCol="0" anchor="ctr"/>
          <a:lstStyle/>
          <a:p>
            <a:pPr indent="0" marL="0">
              <a:buNone/>
            </a:pPr>
            <a:r>
              <a:rPr lang="en-US" sz="1500" b="1" dirty="0">
                <a:solidFill>
                  <a:schemeClr val="tx2"/>
                </a:solidFill>
              </a:rPr>
              <a:t>M. RAZAFIMAHATRATRA Hajarisena</a:t>
            </a:r>
            <a:endParaRPr lang="en-US" sz="1500" dirty="0"/>
          </a:p>
          <a:p>
            <a:pPr indent="0" marL="0">
              <a:buNone/>
            </a:pPr>
            <a:r>
              <a:rPr lang="en-US" sz="1300" dirty="0">
                <a:solidFill>
                  <a:schemeClr val="tx1"/>
                </a:solidFill>
              </a:rPr>
              <a:t>Encadreur pédagogique</a:t>
            </a:r>
            <a:endParaRPr lang="en-US" sz="1500" dirty="0"/>
          </a:p>
        </p:txBody>
      </p:sp>
      <p:sp>
        <p:nvSpPr>
          <p:cNvPr id="31" name="Carte merci 8"/>
          <p:cNvSpPr/>
          <p:nvPr/>
        </p:nvSpPr>
        <p:spPr>
          <a:xfrm>
            <a:off x="5394960" y="3246120"/>
            <a:ext cx="4572000" cy="749808"/>
          </a:xfrm>
          <a:prstGeom prst="roundRect">
            <a:avLst>
              <a:gd name="adj" fmla="val 14634"/>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32" name="Merci 8 cercle"/>
          <p:cNvSpPr/>
          <p:nvPr/>
        </p:nvSpPr>
        <p:spPr>
          <a:xfrm>
            <a:off x="5532120" y="3364992"/>
            <a:ext cx="512064" cy="512064"/>
          </a:xfrm>
          <a:prstGeom prst="ellipse">
            <a:avLst/>
          </a:prstGeom>
          <a:solidFill>
            <a:schemeClr val="accent2"/>
          </a:solidFill>
          <a:ln w="12700">
            <a:solidFill>
              <a:schemeClr val="accent2"/>
            </a:solidFill>
            <a:prstDash val="solid"/>
          </a:ln>
        </p:spPr>
      </p:sp>
      <p:pic>
        <p:nvPicPr>
          <p:cNvPr id="33" name="Merci 8 icone" descr="preencoded.png">    </p:cNvPr>
          <p:cNvPicPr>
            <a:picLocks noChangeAspect="1"/>
          </p:cNvPicPr>
          <p:nvPr/>
        </p:nvPicPr>
        <p:blipFill>
          <a:blip r:embed="rId8"/>
          <a:stretch>
            <a:fillRect/>
          </a:stretch>
        </p:blipFill>
        <p:spPr>
          <a:xfrm>
            <a:off x="5655015" y="3487887"/>
            <a:ext cx="266273" cy="266273"/>
          </a:xfrm>
          <a:prstGeom prst="rect">
            <a:avLst/>
          </a:prstGeom>
        </p:spPr>
      </p:pic>
      <p:sp>
        <p:nvSpPr>
          <p:cNvPr id="34" name="Texte merci 8"/>
          <p:cNvSpPr txBox="1"/>
          <p:nvPr/>
        </p:nvSpPr>
        <p:spPr>
          <a:xfrm>
            <a:off x="6172200" y="3319272"/>
            <a:ext cx="3703320" cy="603504"/>
          </a:xfrm>
          <a:prstGeom prst="rect">
            <a:avLst/>
          </a:prstGeom>
          <a:noFill/>
          <a:ln/>
        </p:spPr>
        <p:txBody>
          <a:bodyPr wrap="square" lIns="0" tIns="0" rIns="0" bIns="0" rtlCol="0" anchor="ctr"/>
          <a:lstStyle/>
          <a:p>
            <a:pPr indent="0" marL="0">
              <a:buNone/>
            </a:pPr>
            <a:r>
              <a:rPr lang="en-US" sz="1500" b="1" dirty="0">
                <a:solidFill>
                  <a:schemeClr val="tx2"/>
                </a:solidFill>
              </a:rPr>
              <a:t>M. ANDRIANTSOA Herinirina Toky</a:t>
            </a:r>
            <a:endParaRPr lang="en-US" sz="1500" dirty="0"/>
          </a:p>
          <a:p>
            <a:pPr indent="0" marL="0">
              <a:buNone/>
            </a:pPr>
            <a:r>
              <a:rPr lang="en-US" sz="1300" dirty="0">
                <a:solidFill>
                  <a:schemeClr val="tx1"/>
                </a:solidFill>
              </a:rPr>
              <a:t>Encadreur professionnel</a:t>
            </a:r>
            <a:endParaRPr lang="en-US" sz="1500" dirty="0"/>
          </a:p>
        </p:txBody>
      </p:sp>
      <p:sp>
        <p:nvSpPr>
          <p:cNvPr id="35" name="Carte merci 9"/>
          <p:cNvSpPr/>
          <p:nvPr/>
        </p:nvSpPr>
        <p:spPr>
          <a:xfrm>
            <a:off x="5394960" y="4160520"/>
            <a:ext cx="4572000" cy="749808"/>
          </a:xfrm>
          <a:prstGeom prst="roundRect">
            <a:avLst>
              <a:gd name="adj" fmla="val 14634"/>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36" name="Merci 9 cercle"/>
          <p:cNvSpPr/>
          <p:nvPr/>
        </p:nvSpPr>
        <p:spPr>
          <a:xfrm>
            <a:off x="5532120" y="4279392"/>
            <a:ext cx="512064" cy="512064"/>
          </a:xfrm>
          <a:prstGeom prst="ellipse">
            <a:avLst/>
          </a:prstGeom>
          <a:solidFill>
            <a:schemeClr val="accent1"/>
          </a:solidFill>
          <a:ln w="12700">
            <a:solidFill>
              <a:schemeClr val="accent1"/>
            </a:solidFill>
            <a:prstDash val="solid"/>
          </a:ln>
        </p:spPr>
      </p:sp>
      <p:pic>
        <p:nvPicPr>
          <p:cNvPr id="37" name="Merci 9 icone" descr="preencoded.png">    </p:cNvPr>
          <p:cNvPicPr>
            <a:picLocks noChangeAspect="1"/>
          </p:cNvPicPr>
          <p:nvPr/>
        </p:nvPicPr>
        <p:blipFill>
          <a:blip r:embed="rId9"/>
          <a:stretch>
            <a:fillRect/>
          </a:stretch>
        </p:blipFill>
        <p:spPr>
          <a:xfrm>
            <a:off x="5655015" y="4402287"/>
            <a:ext cx="266273" cy="266273"/>
          </a:xfrm>
          <a:prstGeom prst="rect">
            <a:avLst/>
          </a:prstGeom>
        </p:spPr>
      </p:pic>
      <p:sp>
        <p:nvSpPr>
          <p:cNvPr id="38" name="Texte merci 9"/>
          <p:cNvSpPr txBox="1"/>
          <p:nvPr/>
        </p:nvSpPr>
        <p:spPr>
          <a:xfrm>
            <a:off x="6172200" y="4233672"/>
            <a:ext cx="3703320" cy="603504"/>
          </a:xfrm>
          <a:prstGeom prst="rect">
            <a:avLst/>
          </a:prstGeom>
          <a:noFill/>
          <a:ln/>
        </p:spPr>
        <p:txBody>
          <a:bodyPr wrap="square" lIns="0" tIns="0" rIns="0" bIns="0" rtlCol="0" anchor="ctr"/>
          <a:lstStyle/>
          <a:p>
            <a:pPr indent="0" marL="0">
              <a:buNone/>
            </a:pPr>
            <a:r>
              <a:rPr lang="en-US" sz="1500" b="1" dirty="0">
                <a:solidFill>
                  <a:schemeClr val="tx2"/>
                </a:solidFill>
              </a:rPr>
              <a:t>Les membres du jury</a:t>
            </a:r>
            <a:endParaRPr lang="en-US" sz="1500" dirty="0"/>
          </a:p>
          <a:p>
            <a:pPr indent="0" marL="0">
              <a:buNone/>
            </a:pPr>
            <a:r>
              <a:rPr lang="en-US" sz="1300" dirty="0">
                <a:solidFill>
                  <a:schemeClr val="tx1"/>
                </a:solidFill>
              </a:rPr>
              <a:t>Président et examinateur</a:t>
            </a:r>
            <a:endParaRPr lang="en-US" sz="1500" dirty="0"/>
          </a:p>
        </p:txBody>
      </p:sp>
      <p:sp>
        <p:nvSpPr>
          <p:cNvPr id="39" name="Carte merci 10"/>
          <p:cNvSpPr/>
          <p:nvPr/>
        </p:nvSpPr>
        <p:spPr>
          <a:xfrm>
            <a:off x="5394960" y="5074920"/>
            <a:ext cx="4572000" cy="749808"/>
          </a:xfrm>
          <a:prstGeom prst="roundRect">
            <a:avLst>
              <a:gd name="adj" fmla="val 14634"/>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40" name="Merci 10 cercle"/>
          <p:cNvSpPr/>
          <p:nvPr/>
        </p:nvSpPr>
        <p:spPr>
          <a:xfrm>
            <a:off x="5532120" y="5193792"/>
            <a:ext cx="512064" cy="512064"/>
          </a:xfrm>
          <a:prstGeom prst="ellipse">
            <a:avLst/>
          </a:prstGeom>
          <a:solidFill>
            <a:schemeClr val="accent2"/>
          </a:solidFill>
          <a:ln w="12700">
            <a:solidFill>
              <a:schemeClr val="accent2"/>
            </a:solidFill>
            <a:prstDash val="solid"/>
          </a:ln>
        </p:spPr>
      </p:sp>
      <p:pic>
        <p:nvPicPr>
          <p:cNvPr id="41" name="Merci 10 icone" descr="preencoded.png">    </p:cNvPr>
          <p:cNvPicPr>
            <a:picLocks noChangeAspect="1"/>
          </p:cNvPicPr>
          <p:nvPr/>
        </p:nvPicPr>
        <p:blipFill>
          <a:blip r:embed="rId10"/>
          <a:stretch>
            <a:fillRect/>
          </a:stretch>
        </p:blipFill>
        <p:spPr>
          <a:xfrm>
            <a:off x="5655015" y="5316687"/>
            <a:ext cx="266273" cy="266273"/>
          </a:xfrm>
          <a:prstGeom prst="rect">
            <a:avLst/>
          </a:prstGeom>
        </p:spPr>
      </p:pic>
      <p:sp>
        <p:nvSpPr>
          <p:cNvPr id="42" name="Texte merci 10"/>
          <p:cNvSpPr txBox="1"/>
          <p:nvPr/>
        </p:nvSpPr>
        <p:spPr>
          <a:xfrm>
            <a:off x="6172200" y="5148072"/>
            <a:ext cx="3703320" cy="603504"/>
          </a:xfrm>
          <a:prstGeom prst="rect">
            <a:avLst/>
          </a:prstGeom>
          <a:noFill/>
          <a:ln/>
        </p:spPr>
        <p:txBody>
          <a:bodyPr wrap="square" lIns="0" tIns="0" rIns="0" bIns="0" rtlCol="0" anchor="ctr"/>
          <a:lstStyle/>
          <a:p>
            <a:pPr indent="0" marL="0">
              <a:buNone/>
            </a:pPr>
            <a:r>
              <a:rPr lang="en-US" sz="1500" b="1" dirty="0">
                <a:solidFill>
                  <a:schemeClr val="tx2"/>
                </a:solidFill>
              </a:rPr>
              <a:t>Ma famille et mes amis</a:t>
            </a:r>
            <a:endParaRPr lang="en-US" sz="1500" dirty="0"/>
          </a:p>
          <a:p>
            <a:pPr indent="0" marL="0">
              <a:buNone/>
            </a:pPr>
            <a:r>
              <a:rPr lang="en-US" sz="1300" dirty="0">
                <a:solidFill>
                  <a:schemeClr val="tx1"/>
                </a:solidFill>
              </a:rPr>
              <a:t>Pour leur soutien</a:t>
            </a:r>
            <a:endParaRPr lang="en-US" sz="15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71"/>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142"/>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13"/>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284"/>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355"/>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426"/>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497"/>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568"/>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639"/>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71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781"/>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852"/>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923"/>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994"/>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1065"/>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6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1136"/>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fill="hold"/>
                                        <p:tgtEl>
                                          <p:spTgt spid="18"/>
                                        </p:tgtEl>
                                        <p:attrNameLst>
                                          <p:attrName>ppt_x</p:attrName>
                                        </p:attrNameLst>
                                      </p:cBhvr>
                                      <p:tavLst>
                                        <p:tav tm="0">
                                          <p:val>
                                            <p:strVal val="#ppt_x"/>
                                          </p:val>
                                        </p:tav>
                                        <p:tav tm="100000">
                                          <p:val>
                                            <p:strVal val="#ppt_x"/>
                                          </p:val>
                                        </p:tav>
                                      </p:tavLst>
                                    </p:anim>
                                    <p:anim calcmode="lin" valueType="num">
                                      <p:cBhvr>
                                        <p:cTn id="89" dur="6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1207"/>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fill="hold"/>
                                        <p:tgtEl>
                                          <p:spTgt spid="19"/>
                                        </p:tgtEl>
                                        <p:attrNameLst>
                                          <p:attrName>ppt_x</p:attrName>
                                        </p:attrNameLst>
                                      </p:cBhvr>
                                      <p:tavLst>
                                        <p:tav tm="0">
                                          <p:val>
                                            <p:strVal val="#ppt_x"/>
                                          </p:val>
                                        </p:tav>
                                        <p:tav tm="100000">
                                          <p:val>
                                            <p:strVal val="#ppt_x"/>
                                          </p:val>
                                        </p:tav>
                                      </p:tavLst>
                                    </p:anim>
                                    <p:anim calcmode="lin" valueType="num">
                                      <p:cBhvr>
                                        <p:cTn id="94" dur="6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1278"/>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1349"/>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fill="hold"/>
                                        <p:tgtEl>
                                          <p:spTgt spid="21"/>
                                        </p:tgtEl>
                                        <p:attrNameLst>
                                          <p:attrName>ppt_x</p:attrName>
                                        </p:attrNameLst>
                                      </p:cBhvr>
                                      <p:tavLst>
                                        <p:tav tm="0">
                                          <p:val>
                                            <p:strVal val="#ppt_x"/>
                                          </p:val>
                                        </p:tav>
                                        <p:tav tm="100000">
                                          <p:val>
                                            <p:strVal val="#ppt_x"/>
                                          </p:val>
                                        </p:tav>
                                      </p:tavLst>
                                    </p:anim>
                                    <p:anim calcmode="lin" valueType="num">
                                      <p:cBhvr>
                                        <p:cTn id="104" dur="6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142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fill="hold"/>
                                        <p:tgtEl>
                                          <p:spTgt spid="22"/>
                                        </p:tgtEl>
                                        <p:attrNameLst>
                                          <p:attrName>ppt_x</p:attrName>
                                        </p:attrNameLst>
                                      </p:cBhvr>
                                      <p:tavLst>
                                        <p:tav tm="0">
                                          <p:val>
                                            <p:strVal val="#ppt_x"/>
                                          </p:val>
                                        </p:tav>
                                        <p:tav tm="100000">
                                          <p:val>
                                            <p:strVal val="#ppt_x"/>
                                          </p:val>
                                        </p:tav>
                                      </p:tavLst>
                                    </p:anim>
                                    <p:anim calcmode="lin" valueType="num">
                                      <p:cBhvr>
                                        <p:cTn id="109" dur="6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1491"/>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600"/>
                                        <p:tgtEl>
                                          <p:spTgt spid="23"/>
                                        </p:tgtEl>
                                      </p:cBhvr>
                                    </p:animEffect>
                                    <p:anim calcmode="lin" valueType="num">
                                      <p:cBhvr>
                                        <p:cTn id="113" dur="600" fill="hold"/>
                                        <p:tgtEl>
                                          <p:spTgt spid="23"/>
                                        </p:tgtEl>
                                        <p:attrNameLst>
                                          <p:attrName>ppt_x</p:attrName>
                                        </p:attrNameLst>
                                      </p:cBhvr>
                                      <p:tavLst>
                                        <p:tav tm="0">
                                          <p:val>
                                            <p:strVal val="#ppt_x"/>
                                          </p:val>
                                        </p:tav>
                                        <p:tav tm="100000">
                                          <p:val>
                                            <p:strVal val="#ppt_x"/>
                                          </p:val>
                                        </p:tav>
                                      </p:tavLst>
                                    </p:anim>
                                    <p:anim calcmode="lin" valueType="num">
                                      <p:cBhvr>
                                        <p:cTn id="114" dur="6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1562"/>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600"/>
                                        <p:tgtEl>
                                          <p:spTgt spid="24"/>
                                        </p:tgtEl>
                                      </p:cBhvr>
                                    </p:animEffect>
                                    <p:anim calcmode="lin" valueType="num">
                                      <p:cBhvr>
                                        <p:cTn id="118" dur="600" fill="hold"/>
                                        <p:tgtEl>
                                          <p:spTgt spid="24"/>
                                        </p:tgtEl>
                                        <p:attrNameLst>
                                          <p:attrName>ppt_x</p:attrName>
                                        </p:attrNameLst>
                                      </p:cBhvr>
                                      <p:tavLst>
                                        <p:tav tm="0">
                                          <p:val>
                                            <p:strVal val="#ppt_x"/>
                                          </p:val>
                                        </p:tav>
                                        <p:tav tm="100000">
                                          <p:val>
                                            <p:strVal val="#ppt_x"/>
                                          </p:val>
                                        </p:tav>
                                      </p:tavLst>
                                    </p:anim>
                                    <p:anim calcmode="lin" valueType="num">
                                      <p:cBhvr>
                                        <p:cTn id="119" dur="600" fill="hold"/>
                                        <p:tgtEl>
                                          <p:spTgt spid="24"/>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1633"/>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600"/>
                                        <p:tgtEl>
                                          <p:spTgt spid="25"/>
                                        </p:tgtEl>
                                      </p:cBhvr>
                                    </p:animEffect>
                                    <p:anim calcmode="lin" valueType="num">
                                      <p:cBhvr>
                                        <p:cTn id="123" dur="600" fill="hold"/>
                                        <p:tgtEl>
                                          <p:spTgt spid="25"/>
                                        </p:tgtEl>
                                        <p:attrNameLst>
                                          <p:attrName>ppt_x</p:attrName>
                                        </p:attrNameLst>
                                      </p:cBhvr>
                                      <p:tavLst>
                                        <p:tav tm="0">
                                          <p:val>
                                            <p:strVal val="#ppt_x"/>
                                          </p:val>
                                        </p:tav>
                                        <p:tav tm="100000">
                                          <p:val>
                                            <p:strVal val="#ppt_x"/>
                                          </p:val>
                                        </p:tav>
                                      </p:tavLst>
                                    </p:anim>
                                    <p:anim calcmode="lin" valueType="num">
                                      <p:cBhvr>
                                        <p:cTn id="124" dur="600" fill="hold"/>
                                        <p:tgtEl>
                                          <p:spTgt spid="25"/>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1704"/>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600"/>
                                        <p:tgtEl>
                                          <p:spTgt spid="26"/>
                                        </p:tgtEl>
                                      </p:cBhvr>
                                    </p:animEffect>
                                    <p:anim calcmode="lin" valueType="num">
                                      <p:cBhvr>
                                        <p:cTn id="128" dur="600" fill="hold"/>
                                        <p:tgtEl>
                                          <p:spTgt spid="26"/>
                                        </p:tgtEl>
                                        <p:attrNameLst>
                                          <p:attrName>ppt_x</p:attrName>
                                        </p:attrNameLst>
                                      </p:cBhvr>
                                      <p:tavLst>
                                        <p:tav tm="0">
                                          <p:val>
                                            <p:strVal val="#ppt_x"/>
                                          </p:val>
                                        </p:tav>
                                        <p:tav tm="100000">
                                          <p:val>
                                            <p:strVal val="#ppt_x"/>
                                          </p:val>
                                        </p:tav>
                                      </p:tavLst>
                                    </p:anim>
                                    <p:anim calcmode="lin" valueType="num">
                                      <p:cBhvr>
                                        <p:cTn id="129" dur="600" fill="hold"/>
                                        <p:tgtEl>
                                          <p:spTgt spid="26"/>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1775"/>
                                  </p:stCondLst>
                                  <p:childTnLst>
                                    <p:set>
                                      <p:cBhvr>
                                        <p:cTn id="131" dur="1" fill="hold">
                                          <p:stCondLst>
                                            <p:cond delay="0"/>
                                          </p:stCondLst>
                                        </p:cTn>
                                        <p:tgtEl>
                                          <p:spTgt spid="27"/>
                                        </p:tgtEl>
                                        <p:attrNameLst>
                                          <p:attrName>style.visibility</p:attrName>
                                        </p:attrNameLst>
                                      </p:cBhvr>
                                      <p:to>
                                        <p:strVal val="visible"/>
                                      </p:to>
                                    </p:set>
                                    <p:animEffect transition="in" filter="fade">
                                      <p:cBhvr>
                                        <p:cTn id="132" dur="600"/>
                                        <p:tgtEl>
                                          <p:spTgt spid="27"/>
                                        </p:tgtEl>
                                      </p:cBhvr>
                                    </p:animEffect>
                                    <p:anim calcmode="lin" valueType="num">
                                      <p:cBhvr>
                                        <p:cTn id="133" dur="600" fill="hold"/>
                                        <p:tgtEl>
                                          <p:spTgt spid="27"/>
                                        </p:tgtEl>
                                        <p:attrNameLst>
                                          <p:attrName>ppt_x</p:attrName>
                                        </p:attrNameLst>
                                      </p:cBhvr>
                                      <p:tavLst>
                                        <p:tav tm="0">
                                          <p:val>
                                            <p:strVal val="#ppt_x"/>
                                          </p:val>
                                        </p:tav>
                                        <p:tav tm="100000">
                                          <p:val>
                                            <p:strVal val="#ppt_x"/>
                                          </p:val>
                                        </p:tav>
                                      </p:tavLst>
                                    </p:anim>
                                    <p:anim calcmode="lin" valueType="num">
                                      <p:cBhvr>
                                        <p:cTn id="134" dur="600" fill="hold"/>
                                        <p:tgtEl>
                                          <p:spTgt spid="27"/>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1846"/>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600"/>
                                        <p:tgtEl>
                                          <p:spTgt spid="28"/>
                                        </p:tgtEl>
                                      </p:cBhvr>
                                    </p:animEffect>
                                    <p:anim calcmode="lin" valueType="num">
                                      <p:cBhvr>
                                        <p:cTn id="138" dur="600" fill="hold"/>
                                        <p:tgtEl>
                                          <p:spTgt spid="28"/>
                                        </p:tgtEl>
                                        <p:attrNameLst>
                                          <p:attrName>ppt_x</p:attrName>
                                        </p:attrNameLst>
                                      </p:cBhvr>
                                      <p:tavLst>
                                        <p:tav tm="0">
                                          <p:val>
                                            <p:strVal val="#ppt_x"/>
                                          </p:val>
                                        </p:tav>
                                        <p:tav tm="100000">
                                          <p:val>
                                            <p:strVal val="#ppt_x"/>
                                          </p:val>
                                        </p:tav>
                                      </p:tavLst>
                                    </p:anim>
                                    <p:anim calcmode="lin" valueType="num">
                                      <p:cBhvr>
                                        <p:cTn id="139" dur="600" fill="hold"/>
                                        <p:tgtEl>
                                          <p:spTgt spid="28"/>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1917"/>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600"/>
                                        <p:tgtEl>
                                          <p:spTgt spid="29"/>
                                        </p:tgtEl>
                                      </p:cBhvr>
                                    </p:animEffect>
                                    <p:anim calcmode="lin" valueType="num">
                                      <p:cBhvr>
                                        <p:cTn id="143" dur="600" fill="hold"/>
                                        <p:tgtEl>
                                          <p:spTgt spid="29"/>
                                        </p:tgtEl>
                                        <p:attrNameLst>
                                          <p:attrName>ppt_x</p:attrName>
                                        </p:attrNameLst>
                                      </p:cBhvr>
                                      <p:tavLst>
                                        <p:tav tm="0">
                                          <p:val>
                                            <p:strVal val="#ppt_x"/>
                                          </p:val>
                                        </p:tav>
                                        <p:tav tm="100000">
                                          <p:val>
                                            <p:strVal val="#ppt_x"/>
                                          </p:val>
                                        </p:tav>
                                      </p:tavLst>
                                    </p:anim>
                                    <p:anim calcmode="lin" valueType="num">
                                      <p:cBhvr>
                                        <p:cTn id="144" dur="600" fill="hold"/>
                                        <p:tgtEl>
                                          <p:spTgt spid="29"/>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1988"/>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600"/>
                                        <p:tgtEl>
                                          <p:spTgt spid="30"/>
                                        </p:tgtEl>
                                      </p:cBhvr>
                                    </p:animEffect>
                                    <p:anim calcmode="lin" valueType="num">
                                      <p:cBhvr>
                                        <p:cTn id="148" dur="600" fill="hold"/>
                                        <p:tgtEl>
                                          <p:spTgt spid="30"/>
                                        </p:tgtEl>
                                        <p:attrNameLst>
                                          <p:attrName>ppt_x</p:attrName>
                                        </p:attrNameLst>
                                      </p:cBhvr>
                                      <p:tavLst>
                                        <p:tav tm="0">
                                          <p:val>
                                            <p:strVal val="#ppt_x"/>
                                          </p:val>
                                        </p:tav>
                                        <p:tav tm="100000">
                                          <p:val>
                                            <p:strVal val="#ppt_x"/>
                                          </p:val>
                                        </p:tav>
                                      </p:tavLst>
                                    </p:anim>
                                    <p:anim calcmode="lin" valueType="num">
                                      <p:cBhvr>
                                        <p:cTn id="149" dur="600" fill="hold"/>
                                        <p:tgtEl>
                                          <p:spTgt spid="30"/>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2059"/>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600"/>
                                        <p:tgtEl>
                                          <p:spTgt spid="31"/>
                                        </p:tgtEl>
                                      </p:cBhvr>
                                    </p:animEffect>
                                    <p:anim calcmode="lin" valueType="num">
                                      <p:cBhvr>
                                        <p:cTn id="153" dur="600" fill="hold"/>
                                        <p:tgtEl>
                                          <p:spTgt spid="31"/>
                                        </p:tgtEl>
                                        <p:attrNameLst>
                                          <p:attrName>ppt_x</p:attrName>
                                        </p:attrNameLst>
                                      </p:cBhvr>
                                      <p:tavLst>
                                        <p:tav tm="0">
                                          <p:val>
                                            <p:strVal val="#ppt_x"/>
                                          </p:val>
                                        </p:tav>
                                        <p:tav tm="100000">
                                          <p:val>
                                            <p:strVal val="#ppt_x"/>
                                          </p:val>
                                        </p:tav>
                                      </p:tavLst>
                                    </p:anim>
                                    <p:anim calcmode="lin" valueType="num">
                                      <p:cBhvr>
                                        <p:cTn id="154" dur="600" fill="hold"/>
                                        <p:tgtEl>
                                          <p:spTgt spid="31"/>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2130"/>
                                  </p:stCondLst>
                                  <p:childTnLst>
                                    <p:set>
                                      <p:cBhvr>
                                        <p:cTn id="156" dur="1" fill="hold">
                                          <p:stCondLst>
                                            <p:cond delay="0"/>
                                          </p:stCondLst>
                                        </p:cTn>
                                        <p:tgtEl>
                                          <p:spTgt spid="32"/>
                                        </p:tgtEl>
                                        <p:attrNameLst>
                                          <p:attrName>style.visibility</p:attrName>
                                        </p:attrNameLst>
                                      </p:cBhvr>
                                      <p:to>
                                        <p:strVal val="visible"/>
                                      </p:to>
                                    </p:set>
                                    <p:animEffect transition="in" filter="fade">
                                      <p:cBhvr>
                                        <p:cTn id="157" dur="600"/>
                                        <p:tgtEl>
                                          <p:spTgt spid="32"/>
                                        </p:tgtEl>
                                      </p:cBhvr>
                                    </p:animEffect>
                                    <p:anim calcmode="lin" valueType="num">
                                      <p:cBhvr>
                                        <p:cTn id="158" dur="600" fill="hold"/>
                                        <p:tgtEl>
                                          <p:spTgt spid="32"/>
                                        </p:tgtEl>
                                        <p:attrNameLst>
                                          <p:attrName>ppt_x</p:attrName>
                                        </p:attrNameLst>
                                      </p:cBhvr>
                                      <p:tavLst>
                                        <p:tav tm="0">
                                          <p:val>
                                            <p:strVal val="#ppt_x"/>
                                          </p:val>
                                        </p:tav>
                                        <p:tav tm="100000">
                                          <p:val>
                                            <p:strVal val="#ppt_x"/>
                                          </p:val>
                                        </p:tav>
                                      </p:tavLst>
                                    </p:anim>
                                    <p:anim calcmode="lin" valueType="num">
                                      <p:cBhvr>
                                        <p:cTn id="159" dur="600" fill="hold"/>
                                        <p:tgtEl>
                                          <p:spTgt spid="32"/>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2201"/>
                                  </p:stCondLst>
                                  <p:childTnLst>
                                    <p:set>
                                      <p:cBhvr>
                                        <p:cTn id="161" dur="1" fill="hold">
                                          <p:stCondLst>
                                            <p:cond delay="0"/>
                                          </p:stCondLst>
                                        </p:cTn>
                                        <p:tgtEl>
                                          <p:spTgt spid="33"/>
                                        </p:tgtEl>
                                        <p:attrNameLst>
                                          <p:attrName>style.visibility</p:attrName>
                                        </p:attrNameLst>
                                      </p:cBhvr>
                                      <p:to>
                                        <p:strVal val="visible"/>
                                      </p:to>
                                    </p:set>
                                    <p:animEffect transition="in" filter="fade">
                                      <p:cBhvr>
                                        <p:cTn id="162" dur="600"/>
                                        <p:tgtEl>
                                          <p:spTgt spid="33"/>
                                        </p:tgtEl>
                                      </p:cBhvr>
                                    </p:animEffect>
                                    <p:anim calcmode="lin" valueType="num">
                                      <p:cBhvr>
                                        <p:cTn id="163" dur="600" fill="hold"/>
                                        <p:tgtEl>
                                          <p:spTgt spid="33"/>
                                        </p:tgtEl>
                                        <p:attrNameLst>
                                          <p:attrName>ppt_x</p:attrName>
                                        </p:attrNameLst>
                                      </p:cBhvr>
                                      <p:tavLst>
                                        <p:tav tm="0">
                                          <p:val>
                                            <p:strVal val="#ppt_x"/>
                                          </p:val>
                                        </p:tav>
                                        <p:tav tm="100000">
                                          <p:val>
                                            <p:strVal val="#ppt_x"/>
                                          </p:val>
                                        </p:tav>
                                      </p:tavLst>
                                    </p:anim>
                                    <p:anim calcmode="lin" valueType="num">
                                      <p:cBhvr>
                                        <p:cTn id="164" dur="600" fill="hold"/>
                                        <p:tgtEl>
                                          <p:spTgt spid="33"/>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2272"/>
                                  </p:stCondLst>
                                  <p:childTnLst>
                                    <p:set>
                                      <p:cBhvr>
                                        <p:cTn id="166" dur="1" fill="hold">
                                          <p:stCondLst>
                                            <p:cond delay="0"/>
                                          </p:stCondLst>
                                        </p:cTn>
                                        <p:tgtEl>
                                          <p:spTgt spid="34"/>
                                        </p:tgtEl>
                                        <p:attrNameLst>
                                          <p:attrName>style.visibility</p:attrName>
                                        </p:attrNameLst>
                                      </p:cBhvr>
                                      <p:to>
                                        <p:strVal val="visible"/>
                                      </p:to>
                                    </p:set>
                                    <p:animEffect transition="in" filter="fade">
                                      <p:cBhvr>
                                        <p:cTn id="167" dur="600"/>
                                        <p:tgtEl>
                                          <p:spTgt spid="34"/>
                                        </p:tgtEl>
                                      </p:cBhvr>
                                    </p:animEffect>
                                    <p:anim calcmode="lin" valueType="num">
                                      <p:cBhvr>
                                        <p:cTn id="168" dur="600" fill="hold"/>
                                        <p:tgtEl>
                                          <p:spTgt spid="34"/>
                                        </p:tgtEl>
                                        <p:attrNameLst>
                                          <p:attrName>ppt_x</p:attrName>
                                        </p:attrNameLst>
                                      </p:cBhvr>
                                      <p:tavLst>
                                        <p:tav tm="0">
                                          <p:val>
                                            <p:strVal val="#ppt_x"/>
                                          </p:val>
                                        </p:tav>
                                        <p:tav tm="100000">
                                          <p:val>
                                            <p:strVal val="#ppt_x"/>
                                          </p:val>
                                        </p:tav>
                                      </p:tavLst>
                                    </p:anim>
                                    <p:anim calcmode="lin" valueType="num">
                                      <p:cBhvr>
                                        <p:cTn id="169" dur="600" fill="hold"/>
                                        <p:tgtEl>
                                          <p:spTgt spid="34"/>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2343"/>
                                  </p:stCondLst>
                                  <p:childTnLst>
                                    <p:set>
                                      <p:cBhvr>
                                        <p:cTn id="171" dur="1" fill="hold">
                                          <p:stCondLst>
                                            <p:cond delay="0"/>
                                          </p:stCondLst>
                                        </p:cTn>
                                        <p:tgtEl>
                                          <p:spTgt spid="35"/>
                                        </p:tgtEl>
                                        <p:attrNameLst>
                                          <p:attrName>style.visibility</p:attrName>
                                        </p:attrNameLst>
                                      </p:cBhvr>
                                      <p:to>
                                        <p:strVal val="visible"/>
                                      </p:to>
                                    </p:set>
                                    <p:animEffect transition="in" filter="fade">
                                      <p:cBhvr>
                                        <p:cTn id="172" dur="600"/>
                                        <p:tgtEl>
                                          <p:spTgt spid="35"/>
                                        </p:tgtEl>
                                      </p:cBhvr>
                                    </p:animEffect>
                                    <p:anim calcmode="lin" valueType="num">
                                      <p:cBhvr>
                                        <p:cTn id="173" dur="600" fill="hold"/>
                                        <p:tgtEl>
                                          <p:spTgt spid="35"/>
                                        </p:tgtEl>
                                        <p:attrNameLst>
                                          <p:attrName>ppt_x</p:attrName>
                                        </p:attrNameLst>
                                      </p:cBhvr>
                                      <p:tavLst>
                                        <p:tav tm="0">
                                          <p:val>
                                            <p:strVal val="#ppt_x"/>
                                          </p:val>
                                        </p:tav>
                                        <p:tav tm="100000">
                                          <p:val>
                                            <p:strVal val="#ppt_x"/>
                                          </p:val>
                                        </p:tav>
                                      </p:tavLst>
                                    </p:anim>
                                    <p:anim calcmode="lin" valueType="num">
                                      <p:cBhvr>
                                        <p:cTn id="174" dur="600" fill="hold"/>
                                        <p:tgtEl>
                                          <p:spTgt spid="35"/>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2414"/>
                                  </p:stCondLst>
                                  <p:childTnLst>
                                    <p:set>
                                      <p:cBhvr>
                                        <p:cTn id="176" dur="1" fill="hold">
                                          <p:stCondLst>
                                            <p:cond delay="0"/>
                                          </p:stCondLst>
                                        </p:cTn>
                                        <p:tgtEl>
                                          <p:spTgt spid="36"/>
                                        </p:tgtEl>
                                        <p:attrNameLst>
                                          <p:attrName>style.visibility</p:attrName>
                                        </p:attrNameLst>
                                      </p:cBhvr>
                                      <p:to>
                                        <p:strVal val="visible"/>
                                      </p:to>
                                    </p:set>
                                    <p:animEffect transition="in" filter="fade">
                                      <p:cBhvr>
                                        <p:cTn id="177" dur="600"/>
                                        <p:tgtEl>
                                          <p:spTgt spid="36"/>
                                        </p:tgtEl>
                                      </p:cBhvr>
                                    </p:animEffect>
                                    <p:anim calcmode="lin" valueType="num">
                                      <p:cBhvr>
                                        <p:cTn id="178" dur="600" fill="hold"/>
                                        <p:tgtEl>
                                          <p:spTgt spid="36"/>
                                        </p:tgtEl>
                                        <p:attrNameLst>
                                          <p:attrName>ppt_x</p:attrName>
                                        </p:attrNameLst>
                                      </p:cBhvr>
                                      <p:tavLst>
                                        <p:tav tm="0">
                                          <p:val>
                                            <p:strVal val="#ppt_x"/>
                                          </p:val>
                                        </p:tav>
                                        <p:tav tm="100000">
                                          <p:val>
                                            <p:strVal val="#ppt_x"/>
                                          </p:val>
                                        </p:tav>
                                      </p:tavLst>
                                    </p:anim>
                                    <p:anim calcmode="lin" valueType="num">
                                      <p:cBhvr>
                                        <p:cTn id="179" dur="600" fill="hold"/>
                                        <p:tgtEl>
                                          <p:spTgt spid="36"/>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2485"/>
                                  </p:stCondLst>
                                  <p:childTnLst>
                                    <p:set>
                                      <p:cBhvr>
                                        <p:cTn id="181" dur="1" fill="hold">
                                          <p:stCondLst>
                                            <p:cond delay="0"/>
                                          </p:stCondLst>
                                        </p:cTn>
                                        <p:tgtEl>
                                          <p:spTgt spid="37"/>
                                        </p:tgtEl>
                                        <p:attrNameLst>
                                          <p:attrName>style.visibility</p:attrName>
                                        </p:attrNameLst>
                                      </p:cBhvr>
                                      <p:to>
                                        <p:strVal val="visible"/>
                                      </p:to>
                                    </p:set>
                                    <p:animEffect transition="in" filter="fade">
                                      <p:cBhvr>
                                        <p:cTn id="182" dur="600"/>
                                        <p:tgtEl>
                                          <p:spTgt spid="37"/>
                                        </p:tgtEl>
                                      </p:cBhvr>
                                    </p:animEffect>
                                    <p:anim calcmode="lin" valueType="num">
                                      <p:cBhvr>
                                        <p:cTn id="183" dur="600" fill="hold"/>
                                        <p:tgtEl>
                                          <p:spTgt spid="37"/>
                                        </p:tgtEl>
                                        <p:attrNameLst>
                                          <p:attrName>ppt_x</p:attrName>
                                        </p:attrNameLst>
                                      </p:cBhvr>
                                      <p:tavLst>
                                        <p:tav tm="0">
                                          <p:val>
                                            <p:strVal val="#ppt_x"/>
                                          </p:val>
                                        </p:tav>
                                        <p:tav tm="100000">
                                          <p:val>
                                            <p:strVal val="#ppt_x"/>
                                          </p:val>
                                        </p:tav>
                                      </p:tavLst>
                                    </p:anim>
                                    <p:anim calcmode="lin" valueType="num">
                                      <p:cBhvr>
                                        <p:cTn id="184" dur="600" fill="hold"/>
                                        <p:tgtEl>
                                          <p:spTgt spid="37"/>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2556"/>
                                  </p:stCondLst>
                                  <p:childTnLst>
                                    <p:set>
                                      <p:cBhvr>
                                        <p:cTn id="186" dur="1" fill="hold">
                                          <p:stCondLst>
                                            <p:cond delay="0"/>
                                          </p:stCondLst>
                                        </p:cTn>
                                        <p:tgtEl>
                                          <p:spTgt spid="38"/>
                                        </p:tgtEl>
                                        <p:attrNameLst>
                                          <p:attrName>style.visibility</p:attrName>
                                        </p:attrNameLst>
                                      </p:cBhvr>
                                      <p:to>
                                        <p:strVal val="visible"/>
                                      </p:to>
                                    </p:set>
                                    <p:animEffect transition="in" filter="fade">
                                      <p:cBhvr>
                                        <p:cTn id="187" dur="600"/>
                                        <p:tgtEl>
                                          <p:spTgt spid="38"/>
                                        </p:tgtEl>
                                      </p:cBhvr>
                                    </p:animEffect>
                                    <p:anim calcmode="lin" valueType="num">
                                      <p:cBhvr>
                                        <p:cTn id="188" dur="600" fill="hold"/>
                                        <p:tgtEl>
                                          <p:spTgt spid="38"/>
                                        </p:tgtEl>
                                        <p:attrNameLst>
                                          <p:attrName>ppt_x</p:attrName>
                                        </p:attrNameLst>
                                      </p:cBhvr>
                                      <p:tavLst>
                                        <p:tav tm="0">
                                          <p:val>
                                            <p:strVal val="#ppt_x"/>
                                          </p:val>
                                        </p:tav>
                                        <p:tav tm="100000">
                                          <p:val>
                                            <p:strVal val="#ppt_x"/>
                                          </p:val>
                                        </p:tav>
                                      </p:tavLst>
                                    </p:anim>
                                    <p:anim calcmode="lin" valueType="num">
                                      <p:cBhvr>
                                        <p:cTn id="189" dur="600" fill="hold"/>
                                        <p:tgtEl>
                                          <p:spTgt spid="38"/>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2627"/>
                                  </p:stCondLst>
                                  <p:childTnLst>
                                    <p:set>
                                      <p:cBhvr>
                                        <p:cTn id="191" dur="1" fill="hold">
                                          <p:stCondLst>
                                            <p:cond delay="0"/>
                                          </p:stCondLst>
                                        </p:cTn>
                                        <p:tgtEl>
                                          <p:spTgt spid="39"/>
                                        </p:tgtEl>
                                        <p:attrNameLst>
                                          <p:attrName>style.visibility</p:attrName>
                                        </p:attrNameLst>
                                      </p:cBhvr>
                                      <p:to>
                                        <p:strVal val="visible"/>
                                      </p:to>
                                    </p:set>
                                    <p:animEffect transition="in" filter="fade">
                                      <p:cBhvr>
                                        <p:cTn id="192" dur="600"/>
                                        <p:tgtEl>
                                          <p:spTgt spid="39"/>
                                        </p:tgtEl>
                                      </p:cBhvr>
                                    </p:animEffect>
                                    <p:anim calcmode="lin" valueType="num">
                                      <p:cBhvr>
                                        <p:cTn id="193" dur="600" fill="hold"/>
                                        <p:tgtEl>
                                          <p:spTgt spid="39"/>
                                        </p:tgtEl>
                                        <p:attrNameLst>
                                          <p:attrName>ppt_x</p:attrName>
                                        </p:attrNameLst>
                                      </p:cBhvr>
                                      <p:tavLst>
                                        <p:tav tm="0">
                                          <p:val>
                                            <p:strVal val="#ppt_x"/>
                                          </p:val>
                                        </p:tav>
                                        <p:tav tm="100000">
                                          <p:val>
                                            <p:strVal val="#ppt_x"/>
                                          </p:val>
                                        </p:tav>
                                      </p:tavLst>
                                    </p:anim>
                                    <p:anim calcmode="lin" valueType="num">
                                      <p:cBhvr>
                                        <p:cTn id="194" dur="600" fill="hold"/>
                                        <p:tgtEl>
                                          <p:spTgt spid="39"/>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2698"/>
                                  </p:stCondLst>
                                  <p:childTnLst>
                                    <p:set>
                                      <p:cBhvr>
                                        <p:cTn id="196" dur="1" fill="hold">
                                          <p:stCondLst>
                                            <p:cond delay="0"/>
                                          </p:stCondLst>
                                        </p:cTn>
                                        <p:tgtEl>
                                          <p:spTgt spid="40"/>
                                        </p:tgtEl>
                                        <p:attrNameLst>
                                          <p:attrName>style.visibility</p:attrName>
                                        </p:attrNameLst>
                                      </p:cBhvr>
                                      <p:to>
                                        <p:strVal val="visible"/>
                                      </p:to>
                                    </p:set>
                                    <p:animEffect transition="in" filter="fade">
                                      <p:cBhvr>
                                        <p:cTn id="197" dur="600"/>
                                        <p:tgtEl>
                                          <p:spTgt spid="40"/>
                                        </p:tgtEl>
                                      </p:cBhvr>
                                    </p:animEffect>
                                    <p:anim calcmode="lin" valueType="num">
                                      <p:cBhvr>
                                        <p:cTn id="198" dur="600" fill="hold"/>
                                        <p:tgtEl>
                                          <p:spTgt spid="40"/>
                                        </p:tgtEl>
                                        <p:attrNameLst>
                                          <p:attrName>ppt_x</p:attrName>
                                        </p:attrNameLst>
                                      </p:cBhvr>
                                      <p:tavLst>
                                        <p:tav tm="0">
                                          <p:val>
                                            <p:strVal val="#ppt_x"/>
                                          </p:val>
                                        </p:tav>
                                        <p:tav tm="100000">
                                          <p:val>
                                            <p:strVal val="#ppt_x"/>
                                          </p:val>
                                        </p:tav>
                                      </p:tavLst>
                                    </p:anim>
                                    <p:anim calcmode="lin" valueType="num">
                                      <p:cBhvr>
                                        <p:cTn id="199" dur="600" fill="hold"/>
                                        <p:tgtEl>
                                          <p:spTgt spid="40"/>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2769"/>
                                  </p:stCondLst>
                                  <p:childTnLst>
                                    <p:set>
                                      <p:cBhvr>
                                        <p:cTn id="201" dur="1" fill="hold">
                                          <p:stCondLst>
                                            <p:cond delay="0"/>
                                          </p:stCondLst>
                                        </p:cTn>
                                        <p:tgtEl>
                                          <p:spTgt spid="41"/>
                                        </p:tgtEl>
                                        <p:attrNameLst>
                                          <p:attrName>style.visibility</p:attrName>
                                        </p:attrNameLst>
                                      </p:cBhvr>
                                      <p:to>
                                        <p:strVal val="visible"/>
                                      </p:to>
                                    </p:set>
                                    <p:animEffect transition="in" filter="fade">
                                      <p:cBhvr>
                                        <p:cTn id="202" dur="600"/>
                                        <p:tgtEl>
                                          <p:spTgt spid="41"/>
                                        </p:tgtEl>
                                      </p:cBhvr>
                                    </p:animEffect>
                                    <p:anim calcmode="lin" valueType="num">
                                      <p:cBhvr>
                                        <p:cTn id="203" dur="600" fill="hold"/>
                                        <p:tgtEl>
                                          <p:spTgt spid="41"/>
                                        </p:tgtEl>
                                        <p:attrNameLst>
                                          <p:attrName>ppt_x</p:attrName>
                                        </p:attrNameLst>
                                      </p:cBhvr>
                                      <p:tavLst>
                                        <p:tav tm="0">
                                          <p:val>
                                            <p:strVal val="#ppt_x"/>
                                          </p:val>
                                        </p:tav>
                                        <p:tav tm="100000">
                                          <p:val>
                                            <p:strVal val="#ppt_x"/>
                                          </p:val>
                                        </p:tav>
                                      </p:tavLst>
                                    </p:anim>
                                    <p:anim calcmode="lin" valueType="num">
                                      <p:cBhvr>
                                        <p:cTn id="204" dur="600" fill="hold"/>
                                        <p:tgtEl>
                                          <p:spTgt spid="41"/>
                                        </p:tgtEl>
                                        <p:attrNameLst>
                                          <p:attrName>ppt_y</p:attrName>
                                        </p:attrNameLst>
                                      </p:cBhvr>
                                      <p:tavLst>
                                        <p:tav tm="0">
                                          <p:val>
                                            <p:strVal val="#ppt_y+.1"/>
                                          </p:val>
                                        </p:tav>
                                        <p:tav tm="100000">
                                          <p:val>
                                            <p:strVal val="#ppt_y"/>
                                          </p:val>
                                        </p:tav>
                                      </p:tavLst>
                                    </p:anim>
                                  </p:childTnLst>
                                </p:cTn>
                              </p:par>
                              <p:par>
                                <p:cTn id="205" presetID="42" presetClass="entr" presetSubtype="0" fill="hold" nodeType="withEffect">
                                  <p:stCondLst>
                                    <p:cond delay="2840"/>
                                  </p:stCondLst>
                                  <p:childTnLst>
                                    <p:set>
                                      <p:cBhvr>
                                        <p:cTn id="206" dur="1" fill="hold">
                                          <p:stCondLst>
                                            <p:cond delay="0"/>
                                          </p:stCondLst>
                                        </p:cTn>
                                        <p:tgtEl>
                                          <p:spTgt spid="42"/>
                                        </p:tgtEl>
                                        <p:attrNameLst>
                                          <p:attrName>style.visibility</p:attrName>
                                        </p:attrNameLst>
                                      </p:cBhvr>
                                      <p:to>
                                        <p:strVal val="visible"/>
                                      </p:to>
                                    </p:set>
                                    <p:animEffect transition="in" filter="fade">
                                      <p:cBhvr>
                                        <p:cTn id="207" dur="600"/>
                                        <p:tgtEl>
                                          <p:spTgt spid="42"/>
                                        </p:tgtEl>
                                      </p:cBhvr>
                                    </p:animEffect>
                                    <p:anim calcmode="lin" valueType="num">
                                      <p:cBhvr>
                                        <p:cTn id="208" dur="600" fill="hold"/>
                                        <p:tgtEl>
                                          <p:spTgt spid="42"/>
                                        </p:tgtEl>
                                        <p:attrNameLst>
                                          <p:attrName>ppt_x</p:attrName>
                                        </p:attrNameLst>
                                      </p:cBhvr>
                                      <p:tavLst>
                                        <p:tav tm="0">
                                          <p:val>
                                            <p:strVal val="#ppt_x"/>
                                          </p:val>
                                        </p:tav>
                                        <p:tav tm="100000">
                                          <p:val>
                                            <p:strVal val="#ppt_x"/>
                                          </p:val>
                                        </p:tav>
                                      </p:tavLst>
                                    </p:anim>
                                    <p:anim calcmode="lin" valueType="num">
                                      <p:cBhvr>
                                        <p:cTn id="209" dur="600" fill="hold"/>
                                        <p:tgtEl>
                                          <p:spTgt spid="42"/>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2911"/>
                                  </p:stCondLst>
                                  <p:childTnLst>
                                    <p:set>
                                      <p:cBhvr>
                                        <p:cTn id="211" dur="1" fill="hold">
                                          <p:stCondLst>
                                            <p:cond delay="0"/>
                                          </p:stCondLst>
                                        </p:cTn>
                                        <p:tgtEl>
                                          <p:spTgt spid="25"/>
                                        </p:tgtEl>
                                        <p:attrNameLst>
                                          <p:attrName>style.visibility</p:attrName>
                                        </p:attrNameLst>
                                      </p:cBhvr>
                                      <p:to>
                                        <p:strVal val="visible"/>
                                      </p:to>
                                    </p:set>
                                    <p:animEffect transition="in" filter="fade">
                                      <p:cBhvr>
                                        <p:cTn id="212" dur="600"/>
                                        <p:tgtEl>
                                          <p:spTgt spid="25"/>
                                        </p:tgtEl>
                                      </p:cBhvr>
                                    </p:animEffect>
                                    <p:anim calcmode="lin" valueType="num">
                                      <p:cBhvr>
                                        <p:cTn id="213" dur="600" fill="hold"/>
                                        <p:tgtEl>
                                          <p:spTgt spid="25"/>
                                        </p:tgtEl>
                                        <p:attrNameLst>
                                          <p:attrName>ppt_x</p:attrName>
                                        </p:attrNameLst>
                                      </p:cBhvr>
                                      <p:tavLst>
                                        <p:tav tm="0">
                                          <p:val>
                                            <p:strVal val="#ppt_x"/>
                                          </p:val>
                                        </p:tav>
                                        <p:tav tm="100000">
                                          <p:val>
                                            <p:strVal val="#ppt_x"/>
                                          </p:val>
                                        </p:tav>
                                      </p:tavLst>
                                    </p:anim>
                                    <p:anim calcmode="lin" valueType="num">
                                      <p:cBhvr>
                                        <p:cTn id="21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Introduction</a:t>
            </a:r>
            <a:endParaRPr lang="en-US" sz="3200" dirty="0"/>
          </a:p>
        </p:txBody>
      </p:sp>
      <p:sp>
        <p:nvSpPr>
          <p:cNvPr id="3" name="Carte intro 1"/>
          <p:cNvSpPr/>
          <p:nvPr/>
        </p:nvSpPr>
        <p:spPr>
          <a:xfrm>
            <a:off x="548640" y="1600200"/>
            <a:ext cx="2971800" cy="2926080"/>
          </a:xfrm>
          <a:prstGeom prst="roundRect">
            <a:avLst>
              <a:gd name="adj" fmla="val 3750"/>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4" name="Intro 1 cercle"/>
          <p:cNvSpPr/>
          <p:nvPr/>
        </p:nvSpPr>
        <p:spPr>
          <a:xfrm>
            <a:off x="1572768" y="1828800"/>
            <a:ext cx="914400" cy="914400"/>
          </a:xfrm>
          <a:prstGeom prst="ellipse">
            <a:avLst/>
          </a:prstGeom>
          <a:solidFill>
            <a:schemeClr val="accent1"/>
          </a:solidFill>
          <a:ln w="12700">
            <a:solidFill>
              <a:schemeClr val="accent1"/>
            </a:solidFill>
            <a:prstDash val="solid"/>
          </a:ln>
        </p:spPr>
      </p:sp>
      <p:pic>
        <p:nvPicPr>
          <p:cNvPr id="5" name="Intro 1 icone" descr="preencoded.png">    </p:cNvPr>
          <p:cNvPicPr>
            <a:picLocks noChangeAspect="1"/>
          </p:cNvPicPr>
          <p:nvPr/>
        </p:nvPicPr>
        <p:blipFill>
          <a:blip r:embed="rId1"/>
          <a:stretch>
            <a:fillRect/>
          </a:stretch>
        </p:blipFill>
        <p:spPr>
          <a:xfrm>
            <a:off x="1792224" y="2048256"/>
            <a:ext cx="475488" cy="475488"/>
          </a:xfrm>
          <a:prstGeom prst="rect">
            <a:avLst/>
          </a:prstGeom>
        </p:spPr>
      </p:pic>
      <p:sp>
        <p:nvSpPr>
          <p:cNvPr id="6" name="Titre intro 1"/>
          <p:cNvSpPr txBox="1"/>
          <p:nvPr/>
        </p:nvSpPr>
        <p:spPr>
          <a:xfrm>
            <a:off x="731520" y="2880360"/>
            <a:ext cx="2606040" cy="411480"/>
          </a:xfrm>
          <a:prstGeom prst="rect">
            <a:avLst/>
          </a:prstGeom>
          <a:noFill/>
          <a:ln/>
        </p:spPr>
        <p:txBody>
          <a:bodyPr wrap="square" lIns="0" tIns="0" rIns="0" bIns="0" rtlCol="0" anchor="t"/>
          <a:lstStyle/>
          <a:p>
            <a:pPr algn="ctr" indent="0" marL="0">
              <a:buNone/>
            </a:pPr>
            <a:r>
              <a:rPr lang="en-US" sz="2000" b="1" dirty="0">
                <a:solidFill>
                  <a:schemeClr val="tx2"/>
                </a:solidFill>
              </a:rPr>
              <a:t>Constat</a:t>
            </a:r>
            <a:endParaRPr lang="en-US" sz="2000" dirty="0"/>
          </a:p>
        </p:txBody>
      </p:sp>
      <p:sp>
        <p:nvSpPr>
          <p:cNvPr id="7" name="Texte intro 1"/>
          <p:cNvSpPr txBox="1"/>
          <p:nvPr/>
        </p:nvSpPr>
        <p:spPr>
          <a:xfrm>
            <a:off x="777240" y="3337560"/>
            <a:ext cx="2514600" cy="1097280"/>
          </a:xfrm>
          <a:prstGeom prst="rect">
            <a:avLst/>
          </a:prstGeom>
          <a:noFill/>
          <a:ln/>
        </p:spPr>
        <p:txBody>
          <a:bodyPr wrap="square" lIns="0" tIns="0" rIns="0" bIns="0" rtlCol="0" anchor="t"/>
          <a:lstStyle/>
          <a:p>
            <a:pPr algn="ctr" indent="0" marL="0">
              <a:buNone/>
            </a:pPr>
            <a:r>
              <a:rPr lang="en-US" sz="1500" dirty="0">
                <a:solidFill>
                  <a:schemeClr val="tx1"/>
                </a:solidFill>
              </a:rPr>
              <a:t>Les rendez-vous se prennent encore par téléphone ou à l’accueil.</a:t>
            </a:r>
            <a:endParaRPr lang="en-US" sz="1500" dirty="0"/>
          </a:p>
        </p:txBody>
      </p:sp>
      <p:sp>
        <p:nvSpPr>
          <p:cNvPr id="8" name="Carte intro 2"/>
          <p:cNvSpPr/>
          <p:nvPr/>
        </p:nvSpPr>
        <p:spPr>
          <a:xfrm>
            <a:off x="3794760" y="1600200"/>
            <a:ext cx="2971800" cy="2926080"/>
          </a:xfrm>
          <a:prstGeom prst="roundRect">
            <a:avLst>
              <a:gd name="adj" fmla="val 3750"/>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9" name="Intro 2 cercle"/>
          <p:cNvSpPr/>
          <p:nvPr/>
        </p:nvSpPr>
        <p:spPr>
          <a:xfrm>
            <a:off x="4818888" y="1828800"/>
            <a:ext cx="914400" cy="914400"/>
          </a:xfrm>
          <a:prstGeom prst="ellipse">
            <a:avLst/>
          </a:prstGeom>
          <a:solidFill>
            <a:schemeClr val="accent6"/>
          </a:solidFill>
          <a:ln w="12700">
            <a:solidFill>
              <a:schemeClr val="accent6"/>
            </a:solidFill>
            <a:prstDash val="solid"/>
          </a:ln>
        </p:spPr>
      </p:sp>
      <p:pic>
        <p:nvPicPr>
          <p:cNvPr id="10" name="Intro 2 icone" descr="preencoded.png">    </p:cNvPr>
          <p:cNvPicPr>
            <a:picLocks noChangeAspect="1"/>
          </p:cNvPicPr>
          <p:nvPr/>
        </p:nvPicPr>
        <p:blipFill>
          <a:blip r:embed="rId2"/>
          <a:stretch>
            <a:fillRect/>
          </a:stretch>
        </p:blipFill>
        <p:spPr>
          <a:xfrm>
            <a:off x="5038344" y="2048256"/>
            <a:ext cx="475488" cy="475488"/>
          </a:xfrm>
          <a:prstGeom prst="rect">
            <a:avLst/>
          </a:prstGeom>
        </p:spPr>
      </p:pic>
      <p:sp>
        <p:nvSpPr>
          <p:cNvPr id="11" name="Titre intro 2"/>
          <p:cNvSpPr txBox="1"/>
          <p:nvPr/>
        </p:nvSpPr>
        <p:spPr>
          <a:xfrm>
            <a:off x="3977640" y="2880360"/>
            <a:ext cx="2606040" cy="411480"/>
          </a:xfrm>
          <a:prstGeom prst="rect">
            <a:avLst/>
          </a:prstGeom>
          <a:noFill/>
          <a:ln/>
        </p:spPr>
        <p:txBody>
          <a:bodyPr wrap="square" lIns="0" tIns="0" rIns="0" bIns="0" rtlCol="0" anchor="t"/>
          <a:lstStyle/>
          <a:p>
            <a:pPr algn="ctr" indent="0" marL="0">
              <a:buNone/>
            </a:pPr>
            <a:r>
              <a:rPr lang="en-US" sz="2000" b="1" dirty="0">
                <a:solidFill>
                  <a:schemeClr val="tx2"/>
                </a:solidFill>
              </a:rPr>
              <a:t>Problème</a:t>
            </a:r>
            <a:endParaRPr lang="en-US" sz="2000" dirty="0"/>
          </a:p>
        </p:txBody>
      </p:sp>
      <p:sp>
        <p:nvSpPr>
          <p:cNvPr id="12" name="Texte intro 2"/>
          <p:cNvSpPr txBox="1"/>
          <p:nvPr/>
        </p:nvSpPr>
        <p:spPr>
          <a:xfrm>
            <a:off x="4023360" y="3337560"/>
            <a:ext cx="2514600" cy="1097280"/>
          </a:xfrm>
          <a:prstGeom prst="rect">
            <a:avLst/>
          </a:prstGeom>
          <a:noFill/>
          <a:ln/>
        </p:spPr>
        <p:txBody>
          <a:bodyPr wrap="square" lIns="0" tIns="0" rIns="0" bIns="0" rtlCol="0" anchor="t"/>
          <a:lstStyle/>
          <a:p>
            <a:pPr algn="ctr" indent="0" marL="0">
              <a:buNone/>
            </a:pPr>
            <a:r>
              <a:rPr lang="en-US" sz="1500" dirty="0">
                <a:solidFill>
                  <a:schemeClr val="tx1"/>
                </a:solidFill>
              </a:rPr>
              <a:t>Files d’attente, oublis, doubles réservations, créneaux perdus.</a:t>
            </a:r>
            <a:endParaRPr lang="en-US" sz="1500" dirty="0"/>
          </a:p>
        </p:txBody>
      </p:sp>
      <p:sp>
        <p:nvSpPr>
          <p:cNvPr id="13" name="Carte intro 3"/>
          <p:cNvSpPr/>
          <p:nvPr/>
        </p:nvSpPr>
        <p:spPr>
          <a:xfrm>
            <a:off x="7040880" y="1600200"/>
            <a:ext cx="2971800" cy="2926080"/>
          </a:xfrm>
          <a:prstGeom prst="roundRect">
            <a:avLst>
              <a:gd name="adj" fmla="val 3750"/>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4" name="Intro 3 cercle"/>
          <p:cNvSpPr/>
          <p:nvPr/>
        </p:nvSpPr>
        <p:spPr>
          <a:xfrm>
            <a:off x="8065008" y="1828800"/>
            <a:ext cx="914400" cy="914400"/>
          </a:xfrm>
          <a:prstGeom prst="ellipse">
            <a:avLst/>
          </a:prstGeom>
          <a:solidFill>
            <a:schemeClr val="accent2"/>
          </a:solidFill>
          <a:ln w="12700">
            <a:solidFill>
              <a:schemeClr val="accent2"/>
            </a:solidFill>
            <a:prstDash val="solid"/>
          </a:ln>
        </p:spPr>
      </p:sp>
      <p:pic>
        <p:nvPicPr>
          <p:cNvPr id="15" name="Intro 3 icone" descr="preencoded.png">    </p:cNvPr>
          <p:cNvPicPr>
            <a:picLocks noChangeAspect="1"/>
          </p:cNvPicPr>
          <p:nvPr/>
        </p:nvPicPr>
        <p:blipFill>
          <a:blip r:embed="rId3"/>
          <a:stretch>
            <a:fillRect/>
          </a:stretch>
        </p:blipFill>
        <p:spPr>
          <a:xfrm>
            <a:off x="8284464" y="2048256"/>
            <a:ext cx="475488" cy="475488"/>
          </a:xfrm>
          <a:prstGeom prst="rect">
            <a:avLst/>
          </a:prstGeom>
        </p:spPr>
      </p:pic>
      <p:sp>
        <p:nvSpPr>
          <p:cNvPr id="16" name="Titre intro 3"/>
          <p:cNvSpPr txBox="1"/>
          <p:nvPr/>
        </p:nvSpPr>
        <p:spPr>
          <a:xfrm>
            <a:off x="7223760" y="2880360"/>
            <a:ext cx="2606040" cy="411480"/>
          </a:xfrm>
          <a:prstGeom prst="rect">
            <a:avLst/>
          </a:prstGeom>
          <a:noFill/>
          <a:ln/>
        </p:spPr>
        <p:txBody>
          <a:bodyPr wrap="square" lIns="0" tIns="0" rIns="0" bIns="0" rtlCol="0" anchor="t"/>
          <a:lstStyle/>
          <a:p>
            <a:pPr algn="ctr" indent="0" marL="0">
              <a:buNone/>
            </a:pPr>
            <a:r>
              <a:rPr lang="en-US" sz="2000" b="1" dirty="0">
                <a:solidFill>
                  <a:schemeClr val="tx2"/>
                </a:solidFill>
              </a:rPr>
              <a:t>Réponse</a:t>
            </a:r>
            <a:endParaRPr lang="en-US" sz="2000" dirty="0"/>
          </a:p>
        </p:txBody>
      </p:sp>
      <p:sp>
        <p:nvSpPr>
          <p:cNvPr id="17" name="Texte intro 3"/>
          <p:cNvSpPr txBox="1"/>
          <p:nvPr/>
        </p:nvSpPr>
        <p:spPr>
          <a:xfrm>
            <a:off x="7269480" y="3337560"/>
            <a:ext cx="2514600" cy="1097280"/>
          </a:xfrm>
          <a:prstGeom prst="rect">
            <a:avLst/>
          </a:prstGeom>
          <a:noFill/>
          <a:ln/>
        </p:spPr>
        <p:txBody>
          <a:bodyPr wrap="square" lIns="0" tIns="0" rIns="0" bIns="0" rtlCol="0" anchor="t"/>
          <a:lstStyle/>
          <a:p>
            <a:pPr algn="ctr" indent="0" marL="0">
              <a:buNone/>
            </a:pPr>
            <a:r>
              <a:rPr lang="en-US" sz="1500" dirty="0">
                <a:solidFill>
                  <a:schemeClr val="tx1"/>
                </a:solidFill>
              </a:rPr>
              <a:t>Une application web qui planifie, contrôle et rappelle automatiquement.</a:t>
            </a:r>
            <a:endParaRPr lang="en-US" sz="1500" dirty="0"/>
          </a:p>
        </p:txBody>
      </p:sp>
      <p:sp>
        <p:nvSpPr>
          <p:cNvPr id="18" name="Problematique"/>
          <p:cNvSpPr txBox="1"/>
          <p:nvPr/>
        </p:nvSpPr>
        <p:spPr>
          <a:xfrm>
            <a:off x="548640" y="4892040"/>
            <a:ext cx="9509760" cy="548640"/>
          </a:xfrm>
          <a:prstGeom prst="rect">
            <a:avLst/>
          </a:prstGeom>
          <a:noFill/>
          <a:ln/>
        </p:spPr>
        <p:txBody>
          <a:bodyPr wrap="square" lIns="0" tIns="0" rIns="0" bIns="0" rtlCol="0" anchor="t"/>
          <a:lstStyle/>
          <a:p>
            <a:pPr indent="0" marL="0">
              <a:buNone/>
            </a:pPr>
            <a:r>
              <a:rPr lang="en-US" sz="2000" b="1" i="1" dirty="0">
                <a:solidFill>
                  <a:schemeClr val="accent2"/>
                </a:solidFill>
              </a:rPr>
              <a:t>Comment planifier les rendez-vous de façon fiable, simple et intelligente ?</a:t>
            </a:r>
            <a:endParaRPr lang="en-US" sz="20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66"/>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32"/>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498"/>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664"/>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83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996"/>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162"/>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328"/>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494"/>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66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826"/>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992"/>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2158"/>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2324"/>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249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6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2656"/>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fill="hold"/>
                                        <p:tgtEl>
                                          <p:spTgt spid="18"/>
                                        </p:tgtEl>
                                        <p:attrNameLst>
                                          <p:attrName>ppt_x</p:attrName>
                                        </p:attrNameLst>
                                      </p:cBhvr>
                                      <p:tavLst>
                                        <p:tav tm="0">
                                          <p:val>
                                            <p:strVal val="#ppt_x"/>
                                          </p:val>
                                        </p:tav>
                                        <p:tav tm="100000">
                                          <p:val>
                                            <p:strVal val="#ppt_x"/>
                                          </p:val>
                                        </p:tav>
                                      </p:tavLst>
                                    </p:anim>
                                    <p:anim calcmode="lin" valueType="num">
                                      <p:cBhvr>
                                        <p:cTn id="89" dur="6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2822"/>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600"/>
                                        <p:tgtEl>
                                          <p:spTgt spid="25"/>
                                        </p:tgtEl>
                                      </p:cBhvr>
                                    </p:animEffect>
                                    <p:anim calcmode="lin" valueType="num">
                                      <p:cBhvr>
                                        <p:cTn id="93" dur="600" fill="hold"/>
                                        <p:tgtEl>
                                          <p:spTgt spid="25"/>
                                        </p:tgtEl>
                                        <p:attrNameLst>
                                          <p:attrName>ppt_x</p:attrName>
                                        </p:attrNameLst>
                                      </p:cBhvr>
                                      <p:tavLst>
                                        <p:tav tm="0">
                                          <p:val>
                                            <p:strVal val="#ppt_x"/>
                                          </p:val>
                                        </p:tav>
                                        <p:tav tm="100000">
                                          <p:val>
                                            <p:strVal val="#ppt_x"/>
                                          </p:val>
                                        </p:tav>
                                      </p:tavLst>
                                    </p:anim>
                                    <p:anim calcmode="lin" valueType="num">
                                      <p:cBhvr>
                                        <p:cTn id="9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Plan de la présentation</a:t>
            </a:r>
            <a:endParaRPr lang="en-US" sz="3200" dirty="0"/>
          </a:p>
        </p:txBody>
      </p:sp>
      <p:sp>
        <p:nvSpPr>
          <p:cNvPr id="3" name="Carte plan 1"/>
          <p:cNvSpPr/>
          <p:nvPr/>
        </p:nvSpPr>
        <p:spPr>
          <a:xfrm>
            <a:off x="548640" y="1645920"/>
            <a:ext cx="452628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4" name="Numero plan 1"/>
          <p:cNvSpPr txBox="1"/>
          <p:nvPr/>
        </p:nvSpPr>
        <p:spPr>
          <a:xfrm>
            <a:off x="822960" y="1965960"/>
            <a:ext cx="822960" cy="822960"/>
          </a:xfrm>
          <a:prstGeom prst="rect">
            <a:avLst/>
          </a:prstGeom>
          <a:noFill/>
          <a:ln/>
        </p:spPr>
        <p:txBody>
          <a:bodyPr wrap="square" lIns="0" tIns="0" rIns="0" bIns="0" rtlCol="0" anchor="ctr"/>
          <a:lstStyle/>
          <a:p>
            <a:pPr indent="0" marL="0">
              <a:buNone/>
            </a:pPr>
            <a:r>
              <a:rPr lang="en-US" sz="4000" b="1" dirty="0">
                <a:solidFill>
                  <a:schemeClr val="accent2"/>
                </a:solidFill>
              </a:rPr>
              <a:t>01</a:t>
            </a:r>
            <a:endParaRPr lang="en-US" sz="4000" dirty="0"/>
          </a:p>
        </p:txBody>
      </p:sp>
      <p:sp>
        <p:nvSpPr>
          <p:cNvPr id="5" name="Titre plan 1"/>
          <p:cNvSpPr txBox="1"/>
          <p:nvPr/>
        </p:nvSpPr>
        <p:spPr>
          <a:xfrm>
            <a:off x="1691640" y="1965960"/>
            <a:ext cx="2377440" cy="822960"/>
          </a:xfrm>
          <a:prstGeom prst="rect">
            <a:avLst/>
          </a:prstGeom>
          <a:noFill/>
          <a:ln/>
        </p:spPr>
        <p:txBody>
          <a:bodyPr wrap="square" lIns="0" tIns="0" rIns="0" bIns="0" rtlCol="0" anchor="ctr"/>
          <a:lstStyle/>
          <a:p>
            <a:pPr indent="0" marL="0">
              <a:buNone/>
            </a:pPr>
            <a:r>
              <a:rPr lang="en-US" sz="2000" b="1" dirty="0">
                <a:solidFill>
                  <a:schemeClr val="tx2"/>
                </a:solidFill>
              </a:rPr>
              <a:t>Présentation générale</a:t>
            </a:r>
            <a:endParaRPr lang="en-US" sz="2000" dirty="0"/>
          </a:p>
        </p:txBody>
      </p:sp>
      <p:sp>
        <p:nvSpPr>
          <p:cNvPr id="6" name="Plan 1 cercle"/>
          <p:cNvSpPr/>
          <p:nvPr/>
        </p:nvSpPr>
        <p:spPr>
          <a:xfrm>
            <a:off x="4160520" y="2011680"/>
            <a:ext cx="731520" cy="731520"/>
          </a:xfrm>
          <a:prstGeom prst="ellipse">
            <a:avLst/>
          </a:prstGeom>
          <a:solidFill>
            <a:schemeClr val="accent1"/>
          </a:solidFill>
          <a:ln w="12700">
            <a:solidFill>
              <a:schemeClr val="accent1"/>
            </a:solidFill>
            <a:prstDash val="solid"/>
          </a:ln>
        </p:spPr>
      </p:sp>
      <p:pic>
        <p:nvPicPr>
          <p:cNvPr id="7" name="Plan 1 icone" descr="preencoded.png">    </p:cNvPr>
          <p:cNvPicPr>
            <a:picLocks noChangeAspect="1"/>
          </p:cNvPicPr>
          <p:nvPr/>
        </p:nvPicPr>
        <p:blipFill>
          <a:blip r:embed="rId1"/>
          <a:stretch>
            <a:fillRect/>
          </a:stretch>
        </p:blipFill>
        <p:spPr>
          <a:xfrm>
            <a:off x="4336085" y="2187245"/>
            <a:ext cx="380390" cy="380390"/>
          </a:xfrm>
          <a:prstGeom prst="rect">
            <a:avLst/>
          </a:prstGeom>
        </p:spPr>
      </p:pic>
      <p:sp>
        <p:nvSpPr>
          <p:cNvPr id="8" name="Carte plan 2"/>
          <p:cNvSpPr/>
          <p:nvPr/>
        </p:nvSpPr>
        <p:spPr>
          <a:xfrm>
            <a:off x="5394960" y="1645920"/>
            <a:ext cx="452628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9" name="Numero plan 2"/>
          <p:cNvSpPr txBox="1"/>
          <p:nvPr/>
        </p:nvSpPr>
        <p:spPr>
          <a:xfrm>
            <a:off x="5669280" y="1965960"/>
            <a:ext cx="822960" cy="822960"/>
          </a:xfrm>
          <a:prstGeom prst="rect">
            <a:avLst/>
          </a:prstGeom>
          <a:noFill/>
          <a:ln/>
        </p:spPr>
        <p:txBody>
          <a:bodyPr wrap="square" lIns="0" tIns="0" rIns="0" bIns="0" rtlCol="0" anchor="ctr"/>
          <a:lstStyle/>
          <a:p>
            <a:pPr indent="0" marL="0">
              <a:buNone/>
            </a:pPr>
            <a:r>
              <a:rPr lang="en-US" sz="4000" b="1" dirty="0">
                <a:solidFill>
                  <a:schemeClr val="accent2"/>
                </a:solidFill>
              </a:rPr>
              <a:t>02</a:t>
            </a:r>
            <a:endParaRPr lang="en-US" sz="4000" dirty="0"/>
          </a:p>
        </p:txBody>
      </p:sp>
      <p:sp>
        <p:nvSpPr>
          <p:cNvPr id="10" name="Titre plan 2"/>
          <p:cNvSpPr txBox="1"/>
          <p:nvPr/>
        </p:nvSpPr>
        <p:spPr>
          <a:xfrm>
            <a:off x="6537960" y="1965960"/>
            <a:ext cx="2377440" cy="822960"/>
          </a:xfrm>
          <a:prstGeom prst="rect">
            <a:avLst/>
          </a:prstGeom>
          <a:noFill/>
          <a:ln/>
        </p:spPr>
        <p:txBody>
          <a:bodyPr wrap="square" lIns="0" tIns="0" rIns="0" bIns="0" rtlCol="0" anchor="ctr"/>
          <a:lstStyle/>
          <a:p>
            <a:pPr indent="0" marL="0">
              <a:buNone/>
            </a:pPr>
            <a:r>
              <a:rPr lang="en-US" sz="2000" b="1" dirty="0">
                <a:solidFill>
                  <a:schemeClr val="tx2"/>
                </a:solidFill>
              </a:rPr>
              <a:t>Analyse et conception</a:t>
            </a:r>
            <a:endParaRPr lang="en-US" sz="2000" dirty="0"/>
          </a:p>
        </p:txBody>
      </p:sp>
      <p:sp>
        <p:nvSpPr>
          <p:cNvPr id="11" name="Plan 2 cercle"/>
          <p:cNvSpPr/>
          <p:nvPr/>
        </p:nvSpPr>
        <p:spPr>
          <a:xfrm>
            <a:off x="9006840" y="2011680"/>
            <a:ext cx="731520" cy="731520"/>
          </a:xfrm>
          <a:prstGeom prst="ellipse">
            <a:avLst/>
          </a:prstGeom>
          <a:solidFill>
            <a:schemeClr val="accent1"/>
          </a:solidFill>
          <a:ln w="12700">
            <a:solidFill>
              <a:schemeClr val="accent1"/>
            </a:solidFill>
            <a:prstDash val="solid"/>
          </a:ln>
        </p:spPr>
      </p:sp>
      <p:pic>
        <p:nvPicPr>
          <p:cNvPr id="12" name="Plan 2 icone" descr="preencoded.png">    </p:cNvPr>
          <p:cNvPicPr>
            <a:picLocks noChangeAspect="1"/>
          </p:cNvPicPr>
          <p:nvPr/>
        </p:nvPicPr>
        <p:blipFill>
          <a:blip r:embed="rId2"/>
          <a:stretch>
            <a:fillRect/>
          </a:stretch>
        </p:blipFill>
        <p:spPr>
          <a:xfrm>
            <a:off x="9182405" y="2187245"/>
            <a:ext cx="380390" cy="380390"/>
          </a:xfrm>
          <a:prstGeom prst="rect">
            <a:avLst/>
          </a:prstGeom>
        </p:spPr>
      </p:pic>
      <p:sp>
        <p:nvSpPr>
          <p:cNvPr id="13" name="Carte plan 3"/>
          <p:cNvSpPr/>
          <p:nvPr/>
        </p:nvSpPr>
        <p:spPr>
          <a:xfrm>
            <a:off x="548640" y="3474720"/>
            <a:ext cx="452628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4" name="Numero plan 3"/>
          <p:cNvSpPr txBox="1"/>
          <p:nvPr/>
        </p:nvSpPr>
        <p:spPr>
          <a:xfrm>
            <a:off x="822960" y="3794760"/>
            <a:ext cx="822960" cy="822960"/>
          </a:xfrm>
          <a:prstGeom prst="rect">
            <a:avLst/>
          </a:prstGeom>
          <a:noFill/>
          <a:ln/>
        </p:spPr>
        <p:txBody>
          <a:bodyPr wrap="square" lIns="0" tIns="0" rIns="0" bIns="0" rtlCol="0" anchor="ctr"/>
          <a:lstStyle/>
          <a:p>
            <a:pPr indent="0" marL="0">
              <a:buNone/>
            </a:pPr>
            <a:r>
              <a:rPr lang="en-US" sz="4000" b="1" dirty="0">
                <a:solidFill>
                  <a:schemeClr val="accent2"/>
                </a:solidFill>
              </a:rPr>
              <a:t>03</a:t>
            </a:r>
            <a:endParaRPr lang="en-US" sz="4000" dirty="0"/>
          </a:p>
        </p:txBody>
      </p:sp>
      <p:sp>
        <p:nvSpPr>
          <p:cNvPr id="15" name="Titre plan 3"/>
          <p:cNvSpPr txBox="1"/>
          <p:nvPr/>
        </p:nvSpPr>
        <p:spPr>
          <a:xfrm>
            <a:off x="1691640" y="3794760"/>
            <a:ext cx="2377440" cy="822960"/>
          </a:xfrm>
          <a:prstGeom prst="rect">
            <a:avLst/>
          </a:prstGeom>
          <a:noFill/>
          <a:ln/>
        </p:spPr>
        <p:txBody>
          <a:bodyPr wrap="square" lIns="0" tIns="0" rIns="0" bIns="0" rtlCol="0" anchor="ctr"/>
          <a:lstStyle/>
          <a:p>
            <a:pPr indent="0" marL="0">
              <a:buNone/>
            </a:pPr>
            <a:r>
              <a:rPr lang="en-US" sz="2000" b="1" dirty="0">
                <a:solidFill>
                  <a:schemeClr val="tx2"/>
                </a:solidFill>
              </a:rPr>
              <a:t>Réalisation et démonstration</a:t>
            </a:r>
            <a:endParaRPr lang="en-US" sz="2000" dirty="0"/>
          </a:p>
        </p:txBody>
      </p:sp>
      <p:sp>
        <p:nvSpPr>
          <p:cNvPr id="16" name="Plan 3 cercle"/>
          <p:cNvSpPr/>
          <p:nvPr/>
        </p:nvSpPr>
        <p:spPr>
          <a:xfrm>
            <a:off x="4160520" y="3840480"/>
            <a:ext cx="731520" cy="731520"/>
          </a:xfrm>
          <a:prstGeom prst="ellipse">
            <a:avLst/>
          </a:prstGeom>
          <a:solidFill>
            <a:schemeClr val="accent1"/>
          </a:solidFill>
          <a:ln w="12700">
            <a:solidFill>
              <a:schemeClr val="accent1"/>
            </a:solidFill>
            <a:prstDash val="solid"/>
          </a:ln>
        </p:spPr>
      </p:sp>
      <p:pic>
        <p:nvPicPr>
          <p:cNvPr id="17" name="Plan 3 icone" descr="preencoded.png">    </p:cNvPr>
          <p:cNvPicPr>
            <a:picLocks noChangeAspect="1"/>
          </p:cNvPicPr>
          <p:nvPr/>
        </p:nvPicPr>
        <p:blipFill>
          <a:blip r:embed="rId3"/>
          <a:stretch>
            <a:fillRect/>
          </a:stretch>
        </p:blipFill>
        <p:spPr>
          <a:xfrm>
            <a:off x="4336085" y="4016045"/>
            <a:ext cx="380390" cy="380390"/>
          </a:xfrm>
          <a:prstGeom prst="rect">
            <a:avLst/>
          </a:prstGeom>
        </p:spPr>
      </p:pic>
      <p:sp>
        <p:nvSpPr>
          <p:cNvPr id="18" name="Carte plan 4"/>
          <p:cNvSpPr/>
          <p:nvPr/>
        </p:nvSpPr>
        <p:spPr>
          <a:xfrm>
            <a:off x="5394960" y="3474720"/>
            <a:ext cx="452628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9" name="Numero plan 4"/>
          <p:cNvSpPr txBox="1"/>
          <p:nvPr/>
        </p:nvSpPr>
        <p:spPr>
          <a:xfrm>
            <a:off x="5669280" y="3794760"/>
            <a:ext cx="822960" cy="822960"/>
          </a:xfrm>
          <a:prstGeom prst="rect">
            <a:avLst/>
          </a:prstGeom>
          <a:noFill/>
          <a:ln/>
        </p:spPr>
        <p:txBody>
          <a:bodyPr wrap="square" lIns="0" tIns="0" rIns="0" bIns="0" rtlCol="0" anchor="ctr"/>
          <a:lstStyle/>
          <a:p>
            <a:pPr indent="0" marL="0">
              <a:buNone/>
            </a:pPr>
            <a:r>
              <a:rPr lang="en-US" sz="4000" b="1" dirty="0">
                <a:solidFill>
                  <a:schemeClr val="accent2"/>
                </a:solidFill>
              </a:rPr>
              <a:t>04</a:t>
            </a:r>
            <a:endParaRPr lang="en-US" sz="4000" dirty="0"/>
          </a:p>
        </p:txBody>
      </p:sp>
      <p:sp>
        <p:nvSpPr>
          <p:cNvPr id="20" name="Titre plan 4"/>
          <p:cNvSpPr txBox="1"/>
          <p:nvPr/>
        </p:nvSpPr>
        <p:spPr>
          <a:xfrm>
            <a:off x="6537960" y="3794760"/>
            <a:ext cx="2377440" cy="822960"/>
          </a:xfrm>
          <a:prstGeom prst="rect">
            <a:avLst/>
          </a:prstGeom>
          <a:noFill/>
          <a:ln/>
        </p:spPr>
        <p:txBody>
          <a:bodyPr wrap="square" lIns="0" tIns="0" rIns="0" bIns="0" rtlCol="0" anchor="ctr"/>
          <a:lstStyle/>
          <a:p>
            <a:pPr indent="0" marL="0">
              <a:buNone/>
            </a:pPr>
            <a:r>
              <a:rPr lang="en-US" sz="2000" b="1" dirty="0">
                <a:solidFill>
                  <a:schemeClr val="tx2"/>
                </a:solidFill>
              </a:rPr>
              <a:t>Conclusion et perspectives</a:t>
            </a:r>
            <a:endParaRPr lang="en-US" sz="2000" dirty="0"/>
          </a:p>
        </p:txBody>
      </p:sp>
      <p:sp>
        <p:nvSpPr>
          <p:cNvPr id="21" name="Plan 4 cercle"/>
          <p:cNvSpPr/>
          <p:nvPr/>
        </p:nvSpPr>
        <p:spPr>
          <a:xfrm>
            <a:off x="9006840" y="3840480"/>
            <a:ext cx="731520" cy="731520"/>
          </a:xfrm>
          <a:prstGeom prst="ellipse">
            <a:avLst/>
          </a:prstGeom>
          <a:solidFill>
            <a:schemeClr val="accent1"/>
          </a:solidFill>
          <a:ln w="12700">
            <a:solidFill>
              <a:schemeClr val="accent1"/>
            </a:solidFill>
            <a:prstDash val="solid"/>
          </a:ln>
        </p:spPr>
      </p:sp>
      <p:pic>
        <p:nvPicPr>
          <p:cNvPr id="22" name="Plan 4 icone" descr="preencoded.png">    </p:cNvPr>
          <p:cNvPicPr>
            <a:picLocks noChangeAspect="1"/>
          </p:cNvPicPr>
          <p:nvPr/>
        </p:nvPicPr>
        <p:blipFill>
          <a:blip r:embed="rId4"/>
          <a:stretch>
            <a:fillRect/>
          </a:stretch>
        </p:blipFill>
        <p:spPr>
          <a:xfrm>
            <a:off x="9182405" y="4016045"/>
            <a:ext cx="380390" cy="380390"/>
          </a:xfrm>
          <a:prstGeom prst="rect">
            <a:avLst/>
          </a:prstGeom>
        </p:spPr>
      </p:pic>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36"/>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72"/>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408"/>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544"/>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68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816"/>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952"/>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088"/>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224"/>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36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496"/>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632"/>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1768"/>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1904"/>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204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6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2176"/>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fill="hold"/>
                                        <p:tgtEl>
                                          <p:spTgt spid="18"/>
                                        </p:tgtEl>
                                        <p:attrNameLst>
                                          <p:attrName>ppt_x</p:attrName>
                                        </p:attrNameLst>
                                      </p:cBhvr>
                                      <p:tavLst>
                                        <p:tav tm="0">
                                          <p:val>
                                            <p:strVal val="#ppt_x"/>
                                          </p:val>
                                        </p:tav>
                                        <p:tav tm="100000">
                                          <p:val>
                                            <p:strVal val="#ppt_x"/>
                                          </p:val>
                                        </p:tav>
                                      </p:tavLst>
                                    </p:anim>
                                    <p:anim calcmode="lin" valueType="num">
                                      <p:cBhvr>
                                        <p:cTn id="89" dur="6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2312"/>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fill="hold"/>
                                        <p:tgtEl>
                                          <p:spTgt spid="19"/>
                                        </p:tgtEl>
                                        <p:attrNameLst>
                                          <p:attrName>ppt_x</p:attrName>
                                        </p:attrNameLst>
                                      </p:cBhvr>
                                      <p:tavLst>
                                        <p:tav tm="0">
                                          <p:val>
                                            <p:strVal val="#ppt_x"/>
                                          </p:val>
                                        </p:tav>
                                        <p:tav tm="100000">
                                          <p:val>
                                            <p:strVal val="#ppt_x"/>
                                          </p:val>
                                        </p:tav>
                                      </p:tavLst>
                                    </p:anim>
                                    <p:anim calcmode="lin" valueType="num">
                                      <p:cBhvr>
                                        <p:cTn id="94" dur="6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2448"/>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2584"/>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fill="hold"/>
                                        <p:tgtEl>
                                          <p:spTgt spid="21"/>
                                        </p:tgtEl>
                                        <p:attrNameLst>
                                          <p:attrName>ppt_x</p:attrName>
                                        </p:attrNameLst>
                                      </p:cBhvr>
                                      <p:tavLst>
                                        <p:tav tm="0">
                                          <p:val>
                                            <p:strVal val="#ppt_x"/>
                                          </p:val>
                                        </p:tav>
                                        <p:tav tm="100000">
                                          <p:val>
                                            <p:strVal val="#ppt_x"/>
                                          </p:val>
                                        </p:tav>
                                      </p:tavLst>
                                    </p:anim>
                                    <p:anim calcmode="lin" valueType="num">
                                      <p:cBhvr>
                                        <p:cTn id="104" dur="6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272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fill="hold"/>
                                        <p:tgtEl>
                                          <p:spTgt spid="22"/>
                                        </p:tgtEl>
                                        <p:attrNameLst>
                                          <p:attrName>ppt_x</p:attrName>
                                        </p:attrNameLst>
                                      </p:cBhvr>
                                      <p:tavLst>
                                        <p:tav tm="0">
                                          <p:val>
                                            <p:strVal val="#ppt_x"/>
                                          </p:val>
                                        </p:tav>
                                        <p:tav tm="100000">
                                          <p:val>
                                            <p:strVal val="#ppt_x"/>
                                          </p:val>
                                        </p:tav>
                                      </p:tavLst>
                                    </p:anim>
                                    <p:anim calcmode="lin" valueType="num">
                                      <p:cBhvr>
                                        <p:cTn id="109" dur="6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2856"/>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600"/>
                                        <p:tgtEl>
                                          <p:spTgt spid="25"/>
                                        </p:tgtEl>
                                      </p:cBhvr>
                                    </p:animEffect>
                                    <p:anim calcmode="lin" valueType="num">
                                      <p:cBhvr>
                                        <p:cTn id="113" dur="600" fill="hold"/>
                                        <p:tgtEl>
                                          <p:spTgt spid="25"/>
                                        </p:tgtEl>
                                        <p:attrNameLst>
                                          <p:attrName>ppt_x</p:attrName>
                                        </p:attrNameLst>
                                      </p:cBhvr>
                                      <p:tavLst>
                                        <p:tav tm="0">
                                          <p:val>
                                            <p:strVal val="#ppt_x"/>
                                          </p:val>
                                        </p:tav>
                                        <p:tav tm="100000">
                                          <p:val>
                                            <p:strVal val="#ppt_x"/>
                                          </p:val>
                                        </p:tav>
                                      </p:tavLst>
                                    </p:anim>
                                    <p:anim calcmode="lin" valueType="num">
                                      <p:cBhvr>
                                        <p:cTn id="11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7863840" cy="1280160"/>
          </a:xfrm>
          <a:prstGeom prst="rect">
            <a:avLst/>
          </a:prstGeom>
          <a:noFill/>
          <a:ln/>
        </p:spPr>
        <p:txBody>
          <a:bodyPr wrap="square" lIns="0" tIns="0" rIns="0" bIns="0" rtlCol="0" anchor="ctr"/>
          <a:lstStyle/>
          <a:p>
            <a:pPr algn="l" indent="0" marL="0">
              <a:buNone/>
            </a:pPr>
            <a:r>
              <a:rPr lang="en-US" sz="4400" b="1" dirty="0">
                <a:solidFill>
                  <a:schemeClr val="tx2"/>
                </a:solidFill>
              </a:rPr>
              <a:t>Présentation générale</a:t>
            </a:r>
            <a:endParaRPr lang="en-US" sz="4400" dirty="0"/>
          </a:p>
        </p:txBody>
      </p:sp>
      <p:sp>
        <p:nvSpPr>
          <p:cNvPr id="3" name="Numero partie"/>
          <p:cNvSpPr txBox="1"/>
          <p:nvPr/>
        </p:nvSpPr>
        <p:spPr>
          <a:xfrm>
            <a:off x="822960" y="2240280"/>
            <a:ext cx="3657600" cy="411480"/>
          </a:xfrm>
          <a:prstGeom prst="rect">
            <a:avLst/>
          </a:prstGeom>
          <a:noFill/>
          <a:ln/>
        </p:spPr>
        <p:txBody>
          <a:bodyPr wrap="square" lIns="0" tIns="0" rIns="0" bIns="0" rtlCol="0" anchor="t"/>
          <a:lstStyle/>
          <a:p>
            <a:pPr indent="0" marL="0">
              <a:buNone/>
            </a:pPr>
            <a:r>
              <a:rPr lang="en-US" sz="2000" b="1" dirty="0">
                <a:solidFill>
                  <a:schemeClr val="accent2"/>
                </a:solidFill>
              </a:rPr>
              <a:t>Partie 01</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Présentation de l’ENI</a:t>
            </a:r>
            <a:endParaRPr lang="en-US" sz="3200" dirty="0"/>
          </a:p>
        </p:txBody>
      </p:sp>
      <p:pic>
        <p:nvPicPr>
          <p:cNvPr id="3" name="Logo ENI" descr="/tmp/claude-0/assets/logo_eni.jpg">    </p:cNvPr>
          <p:cNvPicPr>
            <a:picLocks noChangeAspect="1"/>
          </p:cNvPicPr>
          <p:nvPr/>
        </p:nvPicPr>
        <p:blipFill>
          <a:blip r:embed="rId1"/>
          <a:stretch>
            <a:fillRect/>
          </a:stretch>
        </p:blipFill>
        <p:spPr>
          <a:xfrm>
            <a:off x="8641080" y="1463040"/>
            <a:ext cx="1280160" cy="1298448"/>
          </a:xfrm>
          <a:prstGeom prst="rect">
            <a:avLst/>
          </a:prstGeom>
        </p:spPr>
      </p:pic>
      <p:sp>
        <p:nvSpPr>
          <p:cNvPr id="4" name="Carte ENI 1"/>
          <p:cNvSpPr/>
          <p:nvPr/>
        </p:nvSpPr>
        <p:spPr>
          <a:xfrm>
            <a:off x="548640" y="1463040"/>
            <a:ext cx="3749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5" name="ENI 1 cercle"/>
          <p:cNvSpPr/>
          <p:nvPr/>
        </p:nvSpPr>
        <p:spPr>
          <a:xfrm>
            <a:off x="731520" y="1691640"/>
            <a:ext cx="640080" cy="640080"/>
          </a:xfrm>
          <a:prstGeom prst="ellipse">
            <a:avLst/>
          </a:prstGeom>
          <a:solidFill>
            <a:schemeClr val="accent1"/>
          </a:solidFill>
          <a:ln w="12700">
            <a:solidFill>
              <a:schemeClr val="accent1"/>
            </a:solidFill>
            <a:prstDash val="solid"/>
          </a:ln>
        </p:spPr>
      </p:sp>
      <p:pic>
        <p:nvPicPr>
          <p:cNvPr id="6" name="ENI 1 icone" descr="preencoded.png">    </p:cNvPr>
          <p:cNvPicPr>
            <a:picLocks noChangeAspect="1"/>
          </p:cNvPicPr>
          <p:nvPr/>
        </p:nvPicPr>
        <p:blipFill>
          <a:blip r:embed="rId2"/>
          <a:stretch>
            <a:fillRect/>
          </a:stretch>
        </p:blipFill>
        <p:spPr>
          <a:xfrm>
            <a:off x="885139" y="1845259"/>
            <a:ext cx="332842" cy="332842"/>
          </a:xfrm>
          <a:prstGeom prst="rect">
            <a:avLst/>
          </a:prstGeom>
        </p:spPr>
      </p:pic>
      <p:sp>
        <p:nvSpPr>
          <p:cNvPr id="7" name="Titre ENI 1"/>
          <p:cNvSpPr txBox="1"/>
          <p:nvPr/>
        </p:nvSpPr>
        <p:spPr>
          <a:xfrm>
            <a:off x="1508760" y="1691640"/>
            <a:ext cx="2651760" cy="365760"/>
          </a:xfrm>
          <a:prstGeom prst="rect">
            <a:avLst/>
          </a:prstGeom>
          <a:noFill/>
          <a:ln/>
        </p:spPr>
        <p:txBody>
          <a:bodyPr wrap="square" lIns="0" tIns="0" rIns="0" bIns="0" rtlCol="0" anchor="t"/>
          <a:lstStyle/>
          <a:p>
            <a:pPr indent="0" marL="0">
              <a:buNone/>
            </a:pPr>
            <a:r>
              <a:rPr lang="en-US" sz="1800" b="1" dirty="0">
                <a:solidFill>
                  <a:schemeClr val="tx2"/>
                </a:solidFill>
              </a:rPr>
              <a:t>Mission</a:t>
            </a:r>
            <a:endParaRPr lang="en-US" sz="1800" dirty="0"/>
          </a:p>
        </p:txBody>
      </p:sp>
      <p:sp>
        <p:nvSpPr>
          <p:cNvPr id="8" name="Texte ENI 1"/>
          <p:cNvSpPr txBox="1"/>
          <p:nvPr/>
        </p:nvSpPr>
        <p:spPr>
          <a:xfrm>
            <a:off x="1508760" y="2103120"/>
            <a:ext cx="2651760" cy="960120"/>
          </a:xfrm>
          <a:prstGeom prst="rect">
            <a:avLst/>
          </a:prstGeom>
          <a:noFill/>
          <a:ln/>
        </p:spPr>
        <p:txBody>
          <a:bodyPr wrap="square" lIns="0" tIns="0" rIns="0" bIns="0" rtlCol="0" anchor="t"/>
          <a:lstStyle/>
          <a:p>
            <a:pPr indent="0" marL="0">
              <a:buNone/>
            </a:pPr>
            <a:r>
              <a:rPr lang="en-US" sz="1400" dirty="0">
                <a:solidFill>
                  <a:schemeClr val="tx1"/>
                </a:solidFill>
              </a:rPr>
              <a:t>Former des informaticiens compétents et opérationnels.</a:t>
            </a:r>
            <a:endParaRPr lang="en-US" sz="1400" dirty="0"/>
          </a:p>
        </p:txBody>
      </p:sp>
      <p:sp>
        <p:nvSpPr>
          <p:cNvPr id="9" name="Carte ENI 2"/>
          <p:cNvSpPr/>
          <p:nvPr/>
        </p:nvSpPr>
        <p:spPr>
          <a:xfrm>
            <a:off x="4572000" y="1463040"/>
            <a:ext cx="3749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0" name="ENI 2 cercle"/>
          <p:cNvSpPr/>
          <p:nvPr/>
        </p:nvSpPr>
        <p:spPr>
          <a:xfrm>
            <a:off x="4754880" y="1691640"/>
            <a:ext cx="640080" cy="640080"/>
          </a:xfrm>
          <a:prstGeom prst="ellipse">
            <a:avLst/>
          </a:prstGeom>
          <a:solidFill>
            <a:schemeClr val="accent1"/>
          </a:solidFill>
          <a:ln w="12700">
            <a:solidFill>
              <a:schemeClr val="accent1"/>
            </a:solidFill>
            <a:prstDash val="solid"/>
          </a:ln>
        </p:spPr>
      </p:sp>
      <p:pic>
        <p:nvPicPr>
          <p:cNvPr id="11" name="ENI 2 icone" descr="preencoded.png">    </p:cNvPr>
          <p:cNvPicPr>
            <a:picLocks noChangeAspect="1"/>
          </p:cNvPicPr>
          <p:nvPr/>
        </p:nvPicPr>
        <p:blipFill>
          <a:blip r:embed="rId3"/>
          <a:stretch>
            <a:fillRect/>
          </a:stretch>
        </p:blipFill>
        <p:spPr>
          <a:xfrm>
            <a:off x="4908499" y="1845259"/>
            <a:ext cx="332842" cy="332842"/>
          </a:xfrm>
          <a:prstGeom prst="rect">
            <a:avLst/>
          </a:prstGeom>
        </p:spPr>
      </p:pic>
      <p:sp>
        <p:nvSpPr>
          <p:cNvPr id="12" name="Titre ENI 2"/>
          <p:cNvSpPr txBox="1"/>
          <p:nvPr/>
        </p:nvSpPr>
        <p:spPr>
          <a:xfrm>
            <a:off x="5532120" y="1691640"/>
            <a:ext cx="2651760" cy="365760"/>
          </a:xfrm>
          <a:prstGeom prst="rect">
            <a:avLst/>
          </a:prstGeom>
          <a:noFill/>
          <a:ln/>
        </p:spPr>
        <p:txBody>
          <a:bodyPr wrap="square" lIns="0" tIns="0" rIns="0" bIns="0" rtlCol="0" anchor="t"/>
          <a:lstStyle/>
          <a:p>
            <a:pPr indent="0" marL="0">
              <a:buNone/>
            </a:pPr>
            <a:r>
              <a:rPr lang="en-US" sz="1800" b="1" dirty="0">
                <a:solidFill>
                  <a:schemeClr val="tx2"/>
                </a:solidFill>
              </a:rPr>
              <a:t>Création</a:t>
            </a:r>
            <a:endParaRPr lang="en-US" sz="1800" dirty="0"/>
          </a:p>
        </p:txBody>
      </p:sp>
      <p:sp>
        <p:nvSpPr>
          <p:cNvPr id="13" name="Texte ENI 2"/>
          <p:cNvSpPr txBox="1"/>
          <p:nvPr/>
        </p:nvSpPr>
        <p:spPr>
          <a:xfrm>
            <a:off x="5532120" y="2103120"/>
            <a:ext cx="2651760" cy="960120"/>
          </a:xfrm>
          <a:prstGeom prst="rect">
            <a:avLst/>
          </a:prstGeom>
          <a:noFill/>
          <a:ln/>
        </p:spPr>
        <p:txBody>
          <a:bodyPr wrap="square" lIns="0" tIns="0" rIns="0" bIns="0" rtlCol="0" anchor="t"/>
          <a:lstStyle/>
          <a:p>
            <a:pPr indent="0" marL="0">
              <a:buNone/>
            </a:pPr>
            <a:r>
              <a:rPr lang="en-US" sz="1400" dirty="0">
                <a:solidFill>
                  <a:schemeClr val="tx1"/>
                </a:solidFill>
              </a:rPr>
              <a:t>Décret du 24 mai 1983 — plus de 40 ans d’expérience.</a:t>
            </a:r>
            <a:endParaRPr lang="en-US" sz="1400" dirty="0"/>
          </a:p>
        </p:txBody>
      </p:sp>
      <p:sp>
        <p:nvSpPr>
          <p:cNvPr id="14" name="Carte ENI 3"/>
          <p:cNvSpPr/>
          <p:nvPr/>
        </p:nvSpPr>
        <p:spPr>
          <a:xfrm>
            <a:off x="548640" y="3429000"/>
            <a:ext cx="3749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5" name="ENI 3 cercle"/>
          <p:cNvSpPr/>
          <p:nvPr/>
        </p:nvSpPr>
        <p:spPr>
          <a:xfrm>
            <a:off x="731520" y="3657600"/>
            <a:ext cx="640080" cy="640080"/>
          </a:xfrm>
          <a:prstGeom prst="ellipse">
            <a:avLst/>
          </a:prstGeom>
          <a:solidFill>
            <a:schemeClr val="accent1"/>
          </a:solidFill>
          <a:ln w="12700">
            <a:solidFill>
              <a:schemeClr val="accent1"/>
            </a:solidFill>
            <a:prstDash val="solid"/>
          </a:ln>
        </p:spPr>
      </p:sp>
      <p:pic>
        <p:nvPicPr>
          <p:cNvPr id="16" name="ENI 3 icone" descr="preencoded.png">    </p:cNvPr>
          <p:cNvPicPr>
            <a:picLocks noChangeAspect="1"/>
          </p:cNvPicPr>
          <p:nvPr/>
        </p:nvPicPr>
        <p:blipFill>
          <a:blip r:embed="rId4"/>
          <a:stretch>
            <a:fillRect/>
          </a:stretch>
        </p:blipFill>
        <p:spPr>
          <a:xfrm>
            <a:off x="885139" y="3811219"/>
            <a:ext cx="332842" cy="332842"/>
          </a:xfrm>
          <a:prstGeom prst="rect">
            <a:avLst/>
          </a:prstGeom>
        </p:spPr>
      </p:pic>
      <p:sp>
        <p:nvSpPr>
          <p:cNvPr id="17" name="Titre ENI 3"/>
          <p:cNvSpPr txBox="1"/>
          <p:nvPr/>
        </p:nvSpPr>
        <p:spPr>
          <a:xfrm>
            <a:off x="1508760" y="3657600"/>
            <a:ext cx="2651760" cy="365760"/>
          </a:xfrm>
          <a:prstGeom prst="rect">
            <a:avLst/>
          </a:prstGeom>
          <a:noFill/>
          <a:ln/>
        </p:spPr>
        <p:txBody>
          <a:bodyPr wrap="square" lIns="0" tIns="0" rIns="0" bIns="0" rtlCol="0" anchor="t"/>
          <a:lstStyle/>
          <a:p>
            <a:pPr indent="0" marL="0">
              <a:buNone/>
            </a:pPr>
            <a:r>
              <a:rPr lang="en-US" sz="1800" b="1" dirty="0">
                <a:solidFill>
                  <a:schemeClr val="tx2"/>
                </a:solidFill>
              </a:rPr>
              <a:t>Mentions</a:t>
            </a:r>
            <a:endParaRPr lang="en-US" sz="1800" dirty="0"/>
          </a:p>
        </p:txBody>
      </p:sp>
      <p:sp>
        <p:nvSpPr>
          <p:cNvPr id="18" name="Texte ENI 3"/>
          <p:cNvSpPr txBox="1"/>
          <p:nvPr/>
        </p:nvSpPr>
        <p:spPr>
          <a:xfrm>
            <a:off x="1508760" y="4069080"/>
            <a:ext cx="2651760" cy="960120"/>
          </a:xfrm>
          <a:prstGeom prst="rect">
            <a:avLst/>
          </a:prstGeom>
          <a:noFill/>
          <a:ln/>
        </p:spPr>
        <p:txBody>
          <a:bodyPr wrap="square" lIns="0" tIns="0" rIns="0" bIns="0" rtlCol="0" anchor="t"/>
          <a:lstStyle/>
          <a:p>
            <a:pPr indent="0" marL="0">
              <a:buNone/>
            </a:pPr>
            <a:r>
              <a:rPr lang="en-US" sz="1400" dirty="0">
                <a:solidFill>
                  <a:schemeClr val="tx1"/>
                </a:solidFill>
              </a:rPr>
              <a:t>Informatique, Intelligence Artificielle, Expertise Digitale.</a:t>
            </a:r>
            <a:endParaRPr lang="en-US" sz="1400" dirty="0"/>
          </a:p>
        </p:txBody>
      </p:sp>
      <p:sp>
        <p:nvSpPr>
          <p:cNvPr id="19" name="Carte ENI 4"/>
          <p:cNvSpPr/>
          <p:nvPr/>
        </p:nvSpPr>
        <p:spPr>
          <a:xfrm>
            <a:off x="4572000" y="3429000"/>
            <a:ext cx="3749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20" name="ENI 4 cercle"/>
          <p:cNvSpPr/>
          <p:nvPr/>
        </p:nvSpPr>
        <p:spPr>
          <a:xfrm>
            <a:off x="4754880" y="3657600"/>
            <a:ext cx="640080" cy="640080"/>
          </a:xfrm>
          <a:prstGeom prst="ellipse">
            <a:avLst/>
          </a:prstGeom>
          <a:solidFill>
            <a:schemeClr val="accent1"/>
          </a:solidFill>
          <a:ln w="12700">
            <a:solidFill>
              <a:schemeClr val="accent1"/>
            </a:solidFill>
            <a:prstDash val="solid"/>
          </a:ln>
        </p:spPr>
      </p:sp>
      <p:pic>
        <p:nvPicPr>
          <p:cNvPr id="21" name="ENI 4 icone" descr="preencoded.png">    </p:cNvPr>
          <p:cNvPicPr>
            <a:picLocks noChangeAspect="1"/>
          </p:cNvPicPr>
          <p:nvPr/>
        </p:nvPicPr>
        <p:blipFill>
          <a:blip r:embed="rId5"/>
          <a:stretch>
            <a:fillRect/>
          </a:stretch>
        </p:blipFill>
        <p:spPr>
          <a:xfrm>
            <a:off x="4908499" y="3811219"/>
            <a:ext cx="332842" cy="332842"/>
          </a:xfrm>
          <a:prstGeom prst="rect">
            <a:avLst/>
          </a:prstGeom>
        </p:spPr>
      </p:pic>
      <p:sp>
        <p:nvSpPr>
          <p:cNvPr id="22" name="Titre ENI 4"/>
          <p:cNvSpPr txBox="1"/>
          <p:nvPr/>
        </p:nvSpPr>
        <p:spPr>
          <a:xfrm>
            <a:off x="5532120" y="3657600"/>
            <a:ext cx="2651760" cy="365760"/>
          </a:xfrm>
          <a:prstGeom prst="rect">
            <a:avLst/>
          </a:prstGeom>
          <a:noFill/>
          <a:ln/>
        </p:spPr>
        <p:txBody>
          <a:bodyPr wrap="square" lIns="0" tIns="0" rIns="0" bIns="0" rtlCol="0" anchor="t"/>
          <a:lstStyle/>
          <a:p>
            <a:pPr indent="0" marL="0">
              <a:buNone/>
            </a:pPr>
            <a:r>
              <a:rPr lang="en-US" sz="1800" b="1" dirty="0">
                <a:solidFill>
                  <a:schemeClr val="tx2"/>
                </a:solidFill>
              </a:rPr>
              <a:t>Contact</a:t>
            </a:r>
            <a:endParaRPr lang="en-US" sz="1800" dirty="0"/>
          </a:p>
        </p:txBody>
      </p:sp>
      <p:sp>
        <p:nvSpPr>
          <p:cNvPr id="23" name="Texte ENI 4"/>
          <p:cNvSpPr txBox="1"/>
          <p:nvPr/>
        </p:nvSpPr>
        <p:spPr>
          <a:xfrm>
            <a:off x="5532120" y="4069080"/>
            <a:ext cx="2651760" cy="960120"/>
          </a:xfrm>
          <a:prstGeom prst="rect">
            <a:avLst/>
          </a:prstGeom>
          <a:noFill/>
          <a:ln/>
        </p:spPr>
        <p:txBody>
          <a:bodyPr wrap="square" lIns="0" tIns="0" rIns="0" bIns="0" rtlCol="0" anchor="t"/>
          <a:lstStyle/>
          <a:p>
            <a:pPr indent="0" marL="0">
              <a:buNone/>
            </a:pPr>
            <a:r>
              <a:rPr lang="en-US" sz="1400" dirty="0">
                <a:solidFill>
                  <a:schemeClr val="tx1"/>
                </a:solidFill>
              </a:rPr>
              <a:t>Tanambao, Fianarantsoa — BP 1487 — eni@eni.mg — www.eni.mg</a:t>
            </a:r>
            <a:endParaRPr lang="en-US" sz="14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3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9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5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65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7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91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0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17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3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43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56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169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182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195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6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208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fill="hold"/>
                                        <p:tgtEl>
                                          <p:spTgt spid="18"/>
                                        </p:tgtEl>
                                        <p:attrNameLst>
                                          <p:attrName>ppt_x</p:attrName>
                                        </p:attrNameLst>
                                      </p:cBhvr>
                                      <p:tavLst>
                                        <p:tav tm="0">
                                          <p:val>
                                            <p:strVal val="#ppt_x"/>
                                          </p:val>
                                        </p:tav>
                                        <p:tav tm="100000">
                                          <p:val>
                                            <p:strVal val="#ppt_x"/>
                                          </p:val>
                                        </p:tav>
                                      </p:tavLst>
                                    </p:anim>
                                    <p:anim calcmode="lin" valueType="num">
                                      <p:cBhvr>
                                        <p:cTn id="89" dur="6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221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fill="hold"/>
                                        <p:tgtEl>
                                          <p:spTgt spid="19"/>
                                        </p:tgtEl>
                                        <p:attrNameLst>
                                          <p:attrName>ppt_x</p:attrName>
                                        </p:attrNameLst>
                                      </p:cBhvr>
                                      <p:tavLst>
                                        <p:tav tm="0">
                                          <p:val>
                                            <p:strVal val="#ppt_x"/>
                                          </p:val>
                                        </p:tav>
                                        <p:tav tm="100000">
                                          <p:val>
                                            <p:strVal val="#ppt_x"/>
                                          </p:val>
                                        </p:tav>
                                      </p:tavLst>
                                    </p:anim>
                                    <p:anim calcmode="lin" valueType="num">
                                      <p:cBhvr>
                                        <p:cTn id="94" dur="6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234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247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fill="hold"/>
                                        <p:tgtEl>
                                          <p:spTgt spid="21"/>
                                        </p:tgtEl>
                                        <p:attrNameLst>
                                          <p:attrName>ppt_x</p:attrName>
                                        </p:attrNameLst>
                                      </p:cBhvr>
                                      <p:tavLst>
                                        <p:tav tm="0">
                                          <p:val>
                                            <p:strVal val="#ppt_x"/>
                                          </p:val>
                                        </p:tav>
                                        <p:tav tm="100000">
                                          <p:val>
                                            <p:strVal val="#ppt_x"/>
                                          </p:val>
                                        </p:tav>
                                      </p:tavLst>
                                    </p:anim>
                                    <p:anim calcmode="lin" valueType="num">
                                      <p:cBhvr>
                                        <p:cTn id="104" dur="6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260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fill="hold"/>
                                        <p:tgtEl>
                                          <p:spTgt spid="22"/>
                                        </p:tgtEl>
                                        <p:attrNameLst>
                                          <p:attrName>ppt_x</p:attrName>
                                        </p:attrNameLst>
                                      </p:cBhvr>
                                      <p:tavLst>
                                        <p:tav tm="0">
                                          <p:val>
                                            <p:strVal val="#ppt_x"/>
                                          </p:val>
                                        </p:tav>
                                        <p:tav tm="100000">
                                          <p:val>
                                            <p:strVal val="#ppt_x"/>
                                          </p:val>
                                        </p:tav>
                                      </p:tavLst>
                                    </p:anim>
                                    <p:anim calcmode="lin" valueType="num">
                                      <p:cBhvr>
                                        <p:cTn id="109" dur="6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273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600"/>
                                        <p:tgtEl>
                                          <p:spTgt spid="23"/>
                                        </p:tgtEl>
                                      </p:cBhvr>
                                    </p:animEffect>
                                    <p:anim calcmode="lin" valueType="num">
                                      <p:cBhvr>
                                        <p:cTn id="113" dur="600" fill="hold"/>
                                        <p:tgtEl>
                                          <p:spTgt spid="23"/>
                                        </p:tgtEl>
                                        <p:attrNameLst>
                                          <p:attrName>ppt_x</p:attrName>
                                        </p:attrNameLst>
                                      </p:cBhvr>
                                      <p:tavLst>
                                        <p:tav tm="0">
                                          <p:val>
                                            <p:strVal val="#ppt_x"/>
                                          </p:val>
                                        </p:tav>
                                        <p:tav tm="100000">
                                          <p:val>
                                            <p:strVal val="#ppt_x"/>
                                          </p:val>
                                        </p:tav>
                                      </p:tavLst>
                                    </p:anim>
                                    <p:anim calcmode="lin" valueType="num">
                                      <p:cBhvr>
                                        <p:cTn id="114" dur="6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2860"/>
                                  </p:stCondLst>
                                  <p:childTnLst>
                                    <p:set>
                                      <p:cBhvr>
                                        <p:cTn id="116" dur="1" fill="hold">
                                          <p:stCondLst>
                                            <p:cond delay="0"/>
                                          </p:stCondLst>
                                        </p:cTn>
                                        <p:tgtEl>
                                          <p:spTgt spid="25"/>
                                        </p:tgtEl>
                                        <p:attrNameLst>
                                          <p:attrName>style.visibility</p:attrName>
                                        </p:attrNameLst>
                                      </p:cBhvr>
                                      <p:to>
                                        <p:strVal val="visible"/>
                                      </p:to>
                                    </p:set>
                                    <p:animEffect transition="in" filter="fade">
                                      <p:cBhvr>
                                        <p:cTn id="117" dur="600"/>
                                        <p:tgtEl>
                                          <p:spTgt spid="25"/>
                                        </p:tgtEl>
                                      </p:cBhvr>
                                    </p:animEffect>
                                    <p:anim calcmode="lin" valueType="num">
                                      <p:cBhvr>
                                        <p:cTn id="118" dur="600" fill="hold"/>
                                        <p:tgtEl>
                                          <p:spTgt spid="25"/>
                                        </p:tgtEl>
                                        <p:attrNameLst>
                                          <p:attrName>ppt_x</p:attrName>
                                        </p:attrNameLst>
                                      </p:cBhvr>
                                      <p:tavLst>
                                        <p:tav tm="0">
                                          <p:val>
                                            <p:strVal val="#ppt_x"/>
                                          </p:val>
                                        </p:tav>
                                        <p:tav tm="100000">
                                          <p:val>
                                            <p:strVal val="#ppt_x"/>
                                          </p:val>
                                        </p:tav>
                                      </p:tavLst>
                                    </p:anim>
                                    <p:anim calcmode="lin" valueType="num">
                                      <p:cBhvr>
                                        <p:cTn id="11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Organigramme de l’ENI</a:t>
            </a:r>
            <a:endParaRPr lang="en-US" sz="3200" dirty="0"/>
          </a:p>
        </p:txBody>
      </p:sp>
      <p:pic>
        <p:nvPicPr>
          <p:cNvPr id="3" name="Organigramme ENI" descr="Organigramme ENI">    </p:cNvPr>
          <p:cNvPicPr>
            <a:picLocks noChangeAspect="1"/>
          </p:cNvPicPr>
          <p:nvPr/>
        </p:nvPicPr>
        <p:blipFill>
          <a:blip r:embed="rId1"/>
          <a:stretch>
            <a:fillRect/>
          </a:stretch>
        </p:blipFill>
        <p:spPr>
          <a:xfrm>
            <a:off x="1348740" y="1280160"/>
            <a:ext cx="7543800" cy="5029200"/>
          </a:xfrm>
          <a:prstGeom prst="rect">
            <a:avLst/>
          </a:prstGeom>
        </p:spPr>
      </p:pic>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600"/>
                                        <p:tgtEl>
                                          <p:spTgt spid="25"/>
                                        </p:tgtEl>
                                      </p:cBhvr>
                                    </p:animEffect>
                                    <p:anim calcmode="lin" valueType="num">
                                      <p:cBhvr>
                                        <p:cTn id="18" dur="600" fill="hold"/>
                                        <p:tgtEl>
                                          <p:spTgt spid="25"/>
                                        </p:tgtEl>
                                        <p:attrNameLst>
                                          <p:attrName>ppt_x</p:attrName>
                                        </p:attrNameLst>
                                      </p:cBhvr>
                                      <p:tavLst>
                                        <p:tav tm="0">
                                          <p:val>
                                            <p:strVal val="#ppt_x"/>
                                          </p:val>
                                        </p:tav>
                                        <p:tav tm="100000">
                                          <p:val>
                                            <p:strVal val="#ppt_x"/>
                                          </p:val>
                                        </p:tav>
                                      </p:tavLst>
                                    </p:anim>
                                    <p:anim calcmode="lin" valueType="num">
                                      <p:cBhvr>
                                        <p:cTn id="1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Présentation de la PSFA</a:t>
            </a:r>
            <a:endParaRPr lang="en-US" sz="3200" dirty="0"/>
          </a:p>
        </p:txBody>
      </p:sp>
      <p:pic>
        <p:nvPicPr>
          <p:cNvPr id="3" name="Logo PSFA" descr="/tmp/claude-0/assets/logo.jpg">    </p:cNvPr>
          <p:cNvPicPr>
            <a:picLocks noChangeAspect="1"/>
          </p:cNvPicPr>
          <p:nvPr/>
        </p:nvPicPr>
        <p:blipFill>
          <a:blip r:embed="rId1"/>
          <a:stretch>
            <a:fillRect/>
          </a:stretch>
        </p:blipFill>
        <p:spPr>
          <a:xfrm>
            <a:off x="8641080" y="1463040"/>
            <a:ext cx="1280160" cy="1316736"/>
          </a:xfrm>
          <a:prstGeom prst="rect">
            <a:avLst/>
          </a:prstGeom>
        </p:spPr>
      </p:pic>
      <p:sp>
        <p:nvSpPr>
          <p:cNvPr id="4" name="Carte PSFA 1"/>
          <p:cNvSpPr/>
          <p:nvPr/>
        </p:nvSpPr>
        <p:spPr>
          <a:xfrm>
            <a:off x="548640" y="1463040"/>
            <a:ext cx="3749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5" name="PSFA 1 cercle"/>
          <p:cNvSpPr/>
          <p:nvPr/>
        </p:nvSpPr>
        <p:spPr>
          <a:xfrm>
            <a:off x="731520" y="1691640"/>
            <a:ext cx="640080" cy="640080"/>
          </a:xfrm>
          <a:prstGeom prst="ellipse">
            <a:avLst/>
          </a:prstGeom>
          <a:solidFill>
            <a:schemeClr val="accent2"/>
          </a:solidFill>
          <a:ln w="12700">
            <a:solidFill>
              <a:schemeClr val="accent2"/>
            </a:solidFill>
            <a:prstDash val="solid"/>
          </a:ln>
        </p:spPr>
      </p:sp>
      <p:pic>
        <p:nvPicPr>
          <p:cNvPr id="6" name="PSFA 1 icone" descr="preencoded.png">    </p:cNvPr>
          <p:cNvPicPr>
            <a:picLocks noChangeAspect="1"/>
          </p:cNvPicPr>
          <p:nvPr/>
        </p:nvPicPr>
        <p:blipFill>
          <a:blip r:embed="rId2"/>
          <a:stretch>
            <a:fillRect/>
          </a:stretch>
        </p:blipFill>
        <p:spPr>
          <a:xfrm>
            <a:off x="885139" y="1845259"/>
            <a:ext cx="332842" cy="332842"/>
          </a:xfrm>
          <a:prstGeom prst="rect">
            <a:avLst/>
          </a:prstGeom>
        </p:spPr>
      </p:pic>
      <p:sp>
        <p:nvSpPr>
          <p:cNvPr id="7" name="Titre PSFA 1"/>
          <p:cNvSpPr txBox="1"/>
          <p:nvPr/>
        </p:nvSpPr>
        <p:spPr>
          <a:xfrm>
            <a:off x="1508760" y="1691640"/>
            <a:ext cx="2651760" cy="365760"/>
          </a:xfrm>
          <a:prstGeom prst="rect">
            <a:avLst/>
          </a:prstGeom>
          <a:noFill/>
          <a:ln/>
        </p:spPr>
        <p:txBody>
          <a:bodyPr wrap="square" lIns="0" tIns="0" rIns="0" bIns="0" rtlCol="0" anchor="t"/>
          <a:lstStyle/>
          <a:p>
            <a:pPr indent="0" marL="0">
              <a:buNone/>
            </a:pPr>
            <a:r>
              <a:rPr lang="en-US" sz="1800" b="1" dirty="0">
                <a:solidFill>
                  <a:schemeClr val="tx2"/>
                </a:solidFill>
              </a:rPr>
              <a:t>Origine</a:t>
            </a:r>
            <a:endParaRPr lang="en-US" sz="1800" dirty="0"/>
          </a:p>
        </p:txBody>
      </p:sp>
      <p:sp>
        <p:nvSpPr>
          <p:cNvPr id="8" name="Texte PSFA 1"/>
          <p:cNvSpPr txBox="1"/>
          <p:nvPr/>
        </p:nvSpPr>
        <p:spPr>
          <a:xfrm>
            <a:off x="1508760" y="2103120"/>
            <a:ext cx="2651760" cy="960120"/>
          </a:xfrm>
          <a:prstGeom prst="rect">
            <a:avLst/>
          </a:prstGeom>
          <a:noFill/>
          <a:ln/>
        </p:spPr>
        <p:txBody>
          <a:bodyPr wrap="square" lIns="0" tIns="0" rIns="0" bIns="0" rtlCol="0" anchor="t"/>
          <a:lstStyle/>
          <a:p>
            <a:pPr indent="0" marL="0">
              <a:buNone/>
            </a:pPr>
            <a:r>
              <a:rPr lang="en-US" sz="1400" dirty="0">
                <a:solidFill>
                  <a:schemeClr val="tx1"/>
                </a:solidFill>
              </a:rPr>
              <a:t>Fondée par les Sœurs Franciscaines Missionnaires de Marie.</a:t>
            </a:r>
            <a:endParaRPr lang="en-US" sz="1400" dirty="0"/>
          </a:p>
        </p:txBody>
      </p:sp>
      <p:sp>
        <p:nvSpPr>
          <p:cNvPr id="9" name="Carte PSFA 2"/>
          <p:cNvSpPr/>
          <p:nvPr/>
        </p:nvSpPr>
        <p:spPr>
          <a:xfrm>
            <a:off x="4572000" y="1463040"/>
            <a:ext cx="3749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0" name="PSFA 2 cercle"/>
          <p:cNvSpPr/>
          <p:nvPr/>
        </p:nvSpPr>
        <p:spPr>
          <a:xfrm>
            <a:off x="4754880" y="1691640"/>
            <a:ext cx="640080" cy="640080"/>
          </a:xfrm>
          <a:prstGeom prst="ellipse">
            <a:avLst/>
          </a:prstGeom>
          <a:solidFill>
            <a:schemeClr val="accent2"/>
          </a:solidFill>
          <a:ln w="12700">
            <a:solidFill>
              <a:schemeClr val="accent2"/>
            </a:solidFill>
            <a:prstDash val="solid"/>
          </a:ln>
        </p:spPr>
      </p:sp>
      <p:pic>
        <p:nvPicPr>
          <p:cNvPr id="11" name="PSFA 2 icone" descr="preencoded.png">    </p:cNvPr>
          <p:cNvPicPr>
            <a:picLocks noChangeAspect="1"/>
          </p:cNvPicPr>
          <p:nvPr/>
        </p:nvPicPr>
        <p:blipFill>
          <a:blip r:embed="rId3"/>
          <a:stretch>
            <a:fillRect/>
          </a:stretch>
        </p:blipFill>
        <p:spPr>
          <a:xfrm>
            <a:off x="4908499" y="1845259"/>
            <a:ext cx="332842" cy="332842"/>
          </a:xfrm>
          <a:prstGeom prst="rect">
            <a:avLst/>
          </a:prstGeom>
        </p:spPr>
      </p:pic>
      <p:sp>
        <p:nvSpPr>
          <p:cNvPr id="12" name="Titre PSFA 2"/>
          <p:cNvSpPr txBox="1"/>
          <p:nvPr/>
        </p:nvSpPr>
        <p:spPr>
          <a:xfrm>
            <a:off x="5532120" y="1691640"/>
            <a:ext cx="2651760" cy="365760"/>
          </a:xfrm>
          <a:prstGeom prst="rect">
            <a:avLst/>
          </a:prstGeom>
          <a:noFill/>
          <a:ln/>
        </p:spPr>
        <p:txBody>
          <a:bodyPr wrap="square" lIns="0" tIns="0" rIns="0" bIns="0" rtlCol="0" anchor="t"/>
          <a:lstStyle/>
          <a:p>
            <a:pPr indent="0" marL="0">
              <a:buNone/>
            </a:pPr>
            <a:r>
              <a:rPr lang="en-US" sz="1800" b="1" dirty="0">
                <a:solidFill>
                  <a:schemeClr val="tx2"/>
                </a:solidFill>
              </a:rPr>
              <a:t>Spécialités</a:t>
            </a:r>
            <a:endParaRPr lang="en-US" sz="1800" dirty="0"/>
          </a:p>
        </p:txBody>
      </p:sp>
      <p:sp>
        <p:nvSpPr>
          <p:cNvPr id="13" name="Texte PSFA 2"/>
          <p:cNvSpPr txBox="1"/>
          <p:nvPr/>
        </p:nvSpPr>
        <p:spPr>
          <a:xfrm>
            <a:off x="5532120" y="2103120"/>
            <a:ext cx="2651760" cy="960120"/>
          </a:xfrm>
          <a:prstGeom prst="rect">
            <a:avLst/>
          </a:prstGeom>
          <a:noFill/>
          <a:ln/>
        </p:spPr>
        <p:txBody>
          <a:bodyPr wrap="square" lIns="0" tIns="0" rIns="0" bIns="0" rtlCol="0" anchor="t"/>
          <a:lstStyle/>
          <a:p>
            <a:pPr indent="0" marL="0">
              <a:buNone/>
            </a:pPr>
            <a:r>
              <a:rPr lang="en-US" sz="1400" dirty="0">
                <a:solidFill>
                  <a:schemeClr val="tx1"/>
                </a:solidFill>
              </a:rPr>
              <a:t>Médecine générale, pédiatrie, gynécologie, chirurgie, orthopédie.</a:t>
            </a:r>
            <a:endParaRPr lang="en-US" sz="1400" dirty="0"/>
          </a:p>
        </p:txBody>
      </p:sp>
      <p:sp>
        <p:nvSpPr>
          <p:cNvPr id="14" name="Carte PSFA 3"/>
          <p:cNvSpPr/>
          <p:nvPr/>
        </p:nvSpPr>
        <p:spPr>
          <a:xfrm>
            <a:off x="548640" y="3429000"/>
            <a:ext cx="3749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5" name="PSFA 3 cercle"/>
          <p:cNvSpPr/>
          <p:nvPr/>
        </p:nvSpPr>
        <p:spPr>
          <a:xfrm>
            <a:off x="731520" y="3657600"/>
            <a:ext cx="640080" cy="640080"/>
          </a:xfrm>
          <a:prstGeom prst="ellipse">
            <a:avLst/>
          </a:prstGeom>
          <a:solidFill>
            <a:schemeClr val="accent2"/>
          </a:solidFill>
          <a:ln w="12700">
            <a:solidFill>
              <a:schemeClr val="accent2"/>
            </a:solidFill>
            <a:prstDash val="solid"/>
          </a:ln>
        </p:spPr>
      </p:sp>
      <p:pic>
        <p:nvPicPr>
          <p:cNvPr id="16" name="PSFA 3 icone" descr="preencoded.png">    </p:cNvPr>
          <p:cNvPicPr>
            <a:picLocks noChangeAspect="1"/>
          </p:cNvPicPr>
          <p:nvPr/>
        </p:nvPicPr>
        <p:blipFill>
          <a:blip r:embed="rId4"/>
          <a:stretch>
            <a:fillRect/>
          </a:stretch>
        </p:blipFill>
        <p:spPr>
          <a:xfrm>
            <a:off x="885139" y="3811219"/>
            <a:ext cx="332842" cy="332842"/>
          </a:xfrm>
          <a:prstGeom prst="rect">
            <a:avLst/>
          </a:prstGeom>
        </p:spPr>
      </p:pic>
      <p:sp>
        <p:nvSpPr>
          <p:cNvPr id="17" name="Titre PSFA 3"/>
          <p:cNvSpPr txBox="1"/>
          <p:nvPr/>
        </p:nvSpPr>
        <p:spPr>
          <a:xfrm>
            <a:off x="1508760" y="3657600"/>
            <a:ext cx="2651760" cy="365760"/>
          </a:xfrm>
          <a:prstGeom prst="rect">
            <a:avLst/>
          </a:prstGeom>
          <a:noFill/>
          <a:ln/>
        </p:spPr>
        <p:txBody>
          <a:bodyPr wrap="square" lIns="0" tIns="0" rIns="0" bIns="0" rtlCol="0" anchor="t"/>
          <a:lstStyle/>
          <a:p>
            <a:pPr indent="0" marL="0">
              <a:buNone/>
            </a:pPr>
            <a:r>
              <a:rPr lang="en-US" sz="1800" b="1" dirty="0">
                <a:solidFill>
                  <a:schemeClr val="tx2"/>
                </a:solidFill>
              </a:rPr>
              <a:t>Mission</a:t>
            </a:r>
            <a:endParaRPr lang="en-US" sz="1800" dirty="0"/>
          </a:p>
        </p:txBody>
      </p:sp>
      <p:sp>
        <p:nvSpPr>
          <p:cNvPr id="18" name="Texte PSFA 3"/>
          <p:cNvSpPr txBox="1"/>
          <p:nvPr/>
        </p:nvSpPr>
        <p:spPr>
          <a:xfrm>
            <a:off x="1508760" y="4069080"/>
            <a:ext cx="2651760" cy="960120"/>
          </a:xfrm>
          <a:prstGeom prst="rect">
            <a:avLst/>
          </a:prstGeom>
          <a:noFill/>
          <a:ln/>
        </p:spPr>
        <p:txBody>
          <a:bodyPr wrap="square" lIns="0" tIns="0" rIns="0" bIns="0" rtlCol="0" anchor="t"/>
          <a:lstStyle/>
          <a:p>
            <a:pPr indent="0" marL="0">
              <a:buNone/>
            </a:pPr>
            <a:r>
              <a:rPr lang="en-US" sz="1400" dirty="0">
                <a:solidFill>
                  <a:schemeClr val="tx1"/>
                </a:solidFill>
              </a:rPr>
              <a:t>Des soins de qualité, accessibles à tous.</a:t>
            </a:r>
            <a:endParaRPr lang="en-US" sz="1400" dirty="0"/>
          </a:p>
        </p:txBody>
      </p:sp>
      <p:sp>
        <p:nvSpPr>
          <p:cNvPr id="19" name="Carte PSFA 4"/>
          <p:cNvSpPr/>
          <p:nvPr/>
        </p:nvSpPr>
        <p:spPr>
          <a:xfrm>
            <a:off x="4572000" y="3429000"/>
            <a:ext cx="3749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20" name="PSFA 4 cercle"/>
          <p:cNvSpPr/>
          <p:nvPr/>
        </p:nvSpPr>
        <p:spPr>
          <a:xfrm>
            <a:off x="4754880" y="3657600"/>
            <a:ext cx="640080" cy="640080"/>
          </a:xfrm>
          <a:prstGeom prst="ellipse">
            <a:avLst/>
          </a:prstGeom>
          <a:solidFill>
            <a:schemeClr val="accent2"/>
          </a:solidFill>
          <a:ln w="12700">
            <a:solidFill>
              <a:schemeClr val="accent2"/>
            </a:solidFill>
            <a:prstDash val="solid"/>
          </a:ln>
        </p:spPr>
      </p:sp>
      <p:pic>
        <p:nvPicPr>
          <p:cNvPr id="21" name="PSFA 4 icone" descr="preencoded.png">    </p:cNvPr>
          <p:cNvPicPr>
            <a:picLocks noChangeAspect="1"/>
          </p:cNvPicPr>
          <p:nvPr/>
        </p:nvPicPr>
        <p:blipFill>
          <a:blip r:embed="rId5"/>
          <a:stretch>
            <a:fillRect/>
          </a:stretch>
        </p:blipFill>
        <p:spPr>
          <a:xfrm>
            <a:off x="4908499" y="3811219"/>
            <a:ext cx="332842" cy="332842"/>
          </a:xfrm>
          <a:prstGeom prst="rect">
            <a:avLst/>
          </a:prstGeom>
        </p:spPr>
      </p:pic>
      <p:sp>
        <p:nvSpPr>
          <p:cNvPr id="22" name="Titre PSFA 4"/>
          <p:cNvSpPr txBox="1"/>
          <p:nvPr/>
        </p:nvSpPr>
        <p:spPr>
          <a:xfrm>
            <a:off x="5532120" y="3657600"/>
            <a:ext cx="2651760" cy="365760"/>
          </a:xfrm>
          <a:prstGeom prst="rect">
            <a:avLst/>
          </a:prstGeom>
          <a:noFill/>
          <a:ln/>
        </p:spPr>
        <p:txBody>
          <a:bodyPr wrap="square" lIns="0" tIns="0" rIns="0" bIns="0" rtlCol="0" anchor="t"/>
          <a:lstStyle/>
          <a:p>
            <a:pPr indent="0" marL="0">
              <a:buNone/>
            </a:pPr>
            <a:r>
              <a:rPr lang="en-US" sz="1800" b="1" dirty="0">
                <a:solidFill>
                  <a:schemeClr val="tx2"/>
                </a:solidFill>
              </a:rPr>
              <a:t>Localisation</a:t>
            </a:r>
            <a:endParaRPr lang="en-US" sz="1800" dirty="0"/>
          </a:p>
        </p:txBody>
      </p:sp>
      <p:sp>
        <p:nvSpPr>
          <p:cNvPr id="23" name="Texte PSFA 4"/>
          <p:cNvSpPr txBox="1"/>
          <p:nvPr/>
        </p:nvSpPr>
        <p:spPr>
          <a:xfrm>
            <a:off x="5532120" y="4069080"/>
            <a:ext cx="2651760" cy="960120"/>
          </a:xfrm>
          <a:prstGeom prst="rect">
            <a:avLst/>
          </a:prstGeom>
          <a:noFill/>
          <a:ln/>
        </p:spPr>
        <p:txBody>
          <a:bodyPr wrap="square" lIns="0" tIns="0" rIns="0" bIns="0" rtlCol="0" anchor="t"/>
          <a:lstStyle/>
          <a:p>
            <a:pPr indent="0" marL="0">
              <a:buNone/>
            </a:pPr>
            <a:r>
              <a:rPr lang="en-US" sz="1400" dirty="0">
                <a:solidFill>
                  <a:schemeClr val="tx1"/>
                </a:solidFill>
              </a:rPr>
              <a:t>Ankadifotsy, Antananarivo.</a:t>
            </a:r>
            <a:endParaRPr lang="en-US" sz="14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3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9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5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65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7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91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0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17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3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43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56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169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182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195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6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208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fill="hold"/>
                                        <p:tgtEl>
                                          <p:spTgt spid="18"/>
                                        </p:tgtEl>
                                        <p:attrNameLst>
                                          <p:attrName>ppt_x</p:attrName>
                                        </p:attrNameLst>
                                      </p:cBhvr>
                                      <p:tavLst>
                                        <p:tav tm="0">
                                          <p:val>
                                            <p:strVal val="#ppt_x"/>
                                          </p:val>
                                        </p:tav>
                                        <p:tav tm="100000">
                                          <p:val>
                                            <p:strVal val="#ppt_x"/>
                                          </p:val>
                                        </p:tav>
                                      </p:tavLst>
                                    </p:anim>
                                    <p:anim calcmode="lin" valueType="num">
                                      <p:cBhvr>
                                        <p:cTn id="89" dur="6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221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fill="hold"/>
                                        <p:tgtEl>
                                          <p:spTgt spid="19"/>
                                        </p:tgtEl>
                                        <p:attrNameLst>
                                          <p:attrName>ppt_x</p:attrName>
                                        </p:attrNameLst>
                                      </p:cBhvr>
                                      <p:tavLst>
                                        <p:tav tm="0">
                                          <p:val>
                                            <p:strVal val="#ppt_x"/>
                                          </p:val>
                                        </p:tav>
                                        <p:tav tm="100000">
                                          <p:val>
                                            <p:strVal val="#ppt_x"/>
                                          </p:val>
                                        </p:tav>
                                      </p:tavLst>
                                    </p:anim>
                                    <p:anim calcmode="lin" valueType="num">
                                      <p:cBhvr>
                                        <p:cTn id="94" dur="6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234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247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fill="hold"/>
                                        <p:tgtEl>
                                          <p:spTgt spid="21"/>
                                        </p:tgtEl>
                                        <p:attrNameLst>
                                          <p:attrName>ppt_x</p:attrName>
                                        </p:attrNameLst>
                                      </p:cBhvr>
                                      <p:tavLst>
                                        <p:tav tm="0">
                                          <p:val>
                                            <p:strVal val="#ppt_x"/>
                                          </p:val>
                                        </p:tav>
                                        <p:tav tm="100000">
                                          <p:val>
                                            <p:strVal val="#ppt_x"/>
                                          </p:val>
                                        </p:tav>
                                      </p:tavLst>
                                    </p:anim>
                                    <p:anim calcmode="lin" valueType="num">
                                      <p:cBhvr>
                                        <p:cTn id="104" dur="6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260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fill="hold"/>
                                        <p:tgtEl>
                                          <p:spTgt spid="22"/>
                                        </p:tgtEl>
                                        <p:attrNameLst>
                                          <p:attrName>ppt_x</p:attrName>
                                        </p:attrNameLst>
                                      </p:cBhvr>
                                      <p:tavLst>
                                        <p:tav tm="0">
                                          <p:val>
                                            <p:strVal val="#ppt_x"/>
                                          </p:val>
                                        </p:tav>
                                        <p:tav tm="100000">
                                          <p:val>
                                            <p:strVal val="#ppt_x"/>
                                          </p:val>
                                        </p:tav>
                                      </p:tavLst>
                                    </p:anim>
                                    <p:anim calcmode="lin" valueType="num">
                                      <p:cBhvr>
                                        <p:cTn id="109" dur="6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273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600"/>
                                        <p:tgtEl>
                                          <p:spTgt spid="23"/>
                                        </p:tgtEl>
                                      </p:cBhvr>
                                    </p:animEffect>
                                    <p:anim calcmode="lin" valueType="num">
                                      <p:cBhvr>
                                        <p:cTn id="113" dur="600" fill="hold"/>
                                        <p:tgtEl>
                                          <p:spTgt spid="23"/>
                                        </p:tgtEl>
                                        <p:attrNameLst>
                                          <p:attrName>ppt_x</p:attrName>
                                        </p:attrNameLst>
                                      </p:cBhvr>
                                      <p:tavLst>
                                        <p:tav tm="0">
                                          <p:val>
                                            <p:strVal val="#ppt_x"/>
                                          </p:val>
                                        </p:tav>
                                        <p:tav tm="100000">
                                          <p:val>
                                            <p:strVal val="#ppt_x"/>
                                          </p:val>
                                        </p:tav>
                                      </p:tavLst>
                                    </p:anim>
                                    <p:anim calcmode="lin" valueType="num">
                                      <p:cBhvr>
                                        <p:cTn id="114" dur="6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2860"/>
                                  </p:stCondLst>
                                  <p:childTnLst>
                                    <p:set>
                                      <p:cBhvr>
                                        <p:cTn id="116" dur="1" fill="hold">
                                          <p:stCondLst>
                                            <p:cond delay="0"/>
                                          </p:stCondLst>
                                        </p:cTn>
                                        <p:tgtEl>
                                          <p:spTgt spid="25"/>
                                        </p:tgtEl>
                                        <p:attrNameLst>
                                          <p:attrName>style.visibility</p:attrName>
                                        </p:attrNameLst>
                                      </p:cBhvr>
                                      <p:to>
                                        <p:strVal val="visible"/>
                                      </p:to>
                                    </p:set>
                                    <p:animEffect transition="in" filter="fade">
                                      <p:cBhvr>
                                        <p:cTn id="117" dur="600"/>
                                        <p:tgtEl>
                                          <p:spTgt spid="25"/>
                                        </p:tgtEl>
                                      </p:cBhvr>
                                    </p:animEffect>
                                    <p:anim calcmode="lin" valueType="num">
                                      <p:cBhvr>
                                        <p:cTn id="118" dur="600" fill="hold"/>
                                        <p:tgtEl>
                                          <p:spTgt spid="25"/>
                                        </p:tgtEl>
                                        <p:attrNameLst>
                                          <p:attrName>ppt_x</p:attrName>
                                        </p:attrNameLst>
                                      </p:cBhvr>
                                      <p:tavLst>
                                        <p:tav tm="0">
                                          <p:val>
                                            <p:strVal val="#ppt_x"/>
                                          </p:val>
                                        </p:tav>
                                        <p:tav tm="100000">
                                          <p:val>
                                            <p:strVal val="#ppt_x"/>
                                          </p:val>
                                        </p:tav>
                                      </p:tavLst>
                                    </p:anim>
                                    <p:anim calcmode="lin" valueType="num">
                                      <p:cBhvr>
                                        <p:cTn id="11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Organigramme de la PSFA</a:t>
            </a:r>
            <a:endParaRPr lang="en-US" sz="3200" dirty="0"/>
          </a:p>
        </p:txBody>
      </p:sp>
      <p:pic>
        <p:nvPicPr>
          <p:cNvPr id="3" name="Organigramme PSFA" descr="Organigramme PSFA">    </p:cNvPr>
          <p:cNvPicPr>
            <a:picLocks noChangeAspect="1"/>
          </p:cNvPicPr>
          <p:nvPr/>
        </p:nvPicPr>
        <p:blipFill>
          <a:blip r:embed="rId1"/>
          <a:stretch>
            <a:fillRect/>
          </a:stretch>
        </p:blipFill>
        <p:spPr>
          <a:xfrm>
            <a:off x="923192" y="1371600"/>
            <a:ext cx="8760655" cy="4846320"/>
          </a:xfrm>
          <a:prstGeom prst="rect">
            <a:avLst/>
          </a:prstGeom>
        </p:spPr>
      </p:pic>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600"/>
                                        <p:tgtEl>
                                          <p:spTgt spid="25"/>
                                        </p:tgtEl>
                                      </p:cBhvr>
                                    </p:animEffect>
                                    <p:anim calcmode="lin" valueType="num">
                                      <p:cBhvr>
                                        <p:cTn id="18" dur="600" fill="hold"/>
                                        <p:tgtEl>
                                          <p:spTgt spid="25"/>
                                        </p:tgtEl>
                                        <p:attrNameLst>
                                          <p:attrName>ppt_x</p:attrName>
                                        </p:attrNameLst>
                                      </p:cBhvr>
                                      <p:tavLst>
                                        <p:tav tm="0">
                                          <p:val>
                                            <p:strVal val="#ppt_x"/>
                                          </p:val>
                                        </p:tav>
                                        <p:tav tm="100000">
                                          <p:val>
                                            <p:strVal val="#ppt_x"/>
                                          </p:val>
                                        </p:tav>
                                      </p:tavLst>
                                    </p:anim>
                                    <p:anim calcmode="lin" valueType="num">
                                      <p:cBhvr>
                                        <p:cTn id="1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Description du projet</a:t>
            </a:r>
            <a:endParaRPr lang="en-US" sz="3200" dirty="0"/>
          </a:p>
        </p:txBody>
      </p:sp>
      <p:sp>
        <p:nvSpPr>
          <p:cNvPr id="3" name="Carte description 1"/>
          <p:cNvSpPr/>
          <p:nvPr/>
        </p:nvSpPr>
        <p:spPr>
          <a:xfrm>
            <a:off x="548640" y="1463040"/>
            <a:ext cx="94183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4" name="Description 1 cercle"/>
          <p:cNvSpPr/>
          <p:nvPr/>
        </p:nvSpPr>
        <p:spPr>
          <a:xfrm>
            <a:off x="777240" y="1691640"/>
            <a:ext cx="777240" cy="777240"/>
          </a:xfrm>
          <a:prstGeom prst="ellipse">
            <a:avLst/>
          </a:prstGeom>
          <a:solidFill>
            <a:schemeClr val="accent1"/>
          </a:solidFill>
          <a:ln w="12700">
            <a:solidFill>
              <a:schemeClr val="accent1"/>
            </a:solidFill>
            <a:prstDash val="solid"/>
          </a:ln>
        </p:spPr>
      </p:sp>
      <p:pic>
        <p:nvPicPr>
          <p:cNvPr id="5" name="Description 1 icone" descr="preencoded.png">    </p:cNvPr>
          <p:cNvPicPr>
            <a:picLocks noChangeAspect="1"/>
          </p:cNvPicPr>
          <p:nvPr/>
        </p:nvPicPr>
        <p:blipFill>
          <a:blip r:embed="rId1"/>
          <a:stretch>
            <a:fillRect/>
          </a:stretch>
        </p:blipFill>
        <p:spPr>
          <a:xfrm>
            <a:off x="963778" y="1878178"/>
            <a:ext cx="404165" cy="404165"/>
          </a:xfrm>
          <a:prstGeom prst="rect">
            <a:avLst/>
          </a:prstGeom>
        </p:spPr>
      </p:pic>
      <p:sp>
        <p:nvSpPr>
          <p:cNvPr id="6" name="Titre description 1"/>
          <p:cNvSpPr txBox="1"/>
          <p:nvPr/>
        </p:nvSpPr>
        <p:spPr>
          <a:xfrm>
            <a:off x="1828800" y="1645920"/>
            <a:ext cx="7863840" cy="365760"/>
          </a:xfrm>
          <a:prstGeom prst="rect">
            <a:avLst/>
          </a:prstGeom>
          <a:noFill/>
          <a:ln/>
        </p:spPr>
        <p:txBody>
          <a:bodyPr wrap="square" lIns="0" tIns="0" rIns="0" bIns="0" rtlCol="0" anchor="t"/>
          <a:lstStyle/>
          <a:p>
            <a:pPr indent="0" marL="0">
              <a:buNone/>
            </a:pPr>
            <a:r>
              <a:rPr lang="en-US" sz="1900" b="1" dirty="0">
                <a:solidFill>
                  <a:schemeClr val="tx2"/>
                </a:solidFill>
              </a:rPr>
              <a:t>Contexte</a:t>
            </a:r>
            <a:endParaRPr lang="en-US" sz="1900" dirty="0"/>
          </a:p>
        </p:txBody>
      </p:sp>
      <p:sp>
        <p:nvSpPr>
          <p:cNvPr id="7" name="Texte description 1"/>
          <p:cNvSpPr txBox="1"/>
          <p:nvPr/>
        </p:nvSpPr>
        <p:spPr>
          <a:xfrm>
            <a:off x="1828800" y="2057400"/>
            <a:ext cx="7863840" cy="502920"/>
          </a:xfrm>
          <a:prstGeom prst="rect">
            <a:avLst/>
          </a:prstGeom>
          <a:noFill/>
          <a:ln/>
        </p:spPr>
        <p:txBody>
          <a:bodyPr wrap="square" lIns="0" tIns="0" rIns="0" bIns="0" rtlCol="0" anchor="t"/>
          <a:lstStyle/>
          <a:p>
            <a:pPr indent="0" marL="0">
              <a:buNone/>
            </a:pPr>
            <a:r>
              <a:rPr lang="en-US" sz="1600" dirty="0">
                <a:solidFill>
                  <a:schemeClr val="tx1"/>
                </a:solidFill>
              </a:rPr>
              <a:t>Les rendez-vous sont gérés à la main : téléphone, accueil, registres.</a:t>
            </a:r>
            <a:endParaRPr lang="en-US" sz="1600" dirty="0"/>
          </a:p>
        </p:txBody>
      </p:sp>
      <p:sp>
        <p:nvSpPr>
          <p:cNvPr id="8" name="Carte description 2"/>
          <p:cNvSpPr/>
          <p:nvPr/>
        </p:nvSpPr>
        <p:spPr>
          <a:xfrm>
            <a:off x="548640" y="2926080"/>
            <a:ext cx="94183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9" name="Description 2 cercle"/>
          <p:cNvSpPr/>
          <p:nvPr/>
        </p:nvSpPr>
        <p:spPr>
          <a:xfrm>
            <a:off x="777240" y="3154680"/>
            <a:ext cx="777240" cy="777240"/>
          </a:xfrm>
          <a:prstGeom prst="ellipse">
            <a:avLst/>
          </a:prstGeom>
          <a:solidFill>
            <a:schemeClr val="accent2"/>
          </a:solidFill>
          <a:ln w="12700">
            <a:solidFill>
              <a:schemeClr val="accent2"/>
            </a:solidFill>
            <a:prstDash val="solid"/>
          </a:ln>
        </p:spPr>
      </p:sp>
      <p:pic>
        <p:nvPicPr>
          <p:cNvPr id="10" name="Description 2 icone" descr="preencoded.png">    </p:cNvPr>
          <p:cNvPicPr>
            <a:picLocks noChangeAspect="1"/>
          </p:cNvPicPr>
          <p:nvPr/>
        </p:nvPicPr>
        <p:blipFill>
          <a:blip r:embed="rId2"/>
          <a:stretch>
            <a:fillRect/>
          </a:stretch>
        </p:blipFill>
        <p:spPr>
          <a:xfrm>
            <a:off x="963778" y="3341218"/>
            <a:ext cx="404165" cy="404165"/>
          </a:xfrm>
          <a:prstGeom prst="rect">
            <a:avLst/>
          </a:prstGeom>
        </p:spPr>
      </p:pic>
      <p:sp>
        <p:nvSpPr>
          <p:cNvPr id="11" name="Titre description 2"/>
          <p:cNvSpPr txBox="1"/>
          <p:nvPr/>
        </p:nvSpPr>
        <p:spPr>
          <a:xfrm>
            <a:off x="1828800" y="3108960"/>
            <a:ext cx="7863840" cy="365760"/>
          </a:xfrm>
          <a:prstGeom prst="rect">
            <a:avLst/>
          </a:prstGeom>
          <a:noFill/>
          <a:ln/>
        </p:spPr>
        <p:txBody>
          <a:bodyPr wrap="square" lIns="0" tIns="0" rIns="0" bIns="0" rtlCol="0" anchor="t"/>
          <a:lstStyle/>
          <a:p>
            <a:pPr indent="0" marL="0">
              <a:buNone/>
            </a:pPr>
            <a:r>
              <a:rPr lang="en-US" sz="1900" b="1" dirty="0">
                <a:solidFill>
                  <a:schemeClr val="tx2"/>
                </a:solidFill>
              </a:rPr>
              <a:t>Objectif</a:t>
            </a:r>
            <a:endParaRPr lang="en-US" sz="1900" dirty="0"/>
          </a:p>
        </p:txBody>
      </p:sp>
      <p:sp>
        <p:nvSpPr>
          <p:cNvPr id="12" name="Texte description 2"/>
          <p:cNvSpPr txBox="1"/>
          <p:nvPr/>
        </p:nvSpPr>
        <p:spPr>
          <a:xfrm>
            <a:off x="1828800" y="3520440"/>
            <a:ext cx="7863840" cy="502920"/>
          </a:xfrm>
          <a:prstGeom prst="rect">
            <a:avLst/>
          </a:prstGeom>
          <a:noFill/>
          <a:ln/>
        </p:spPr>
        <p:txBody>
          <a:bodyPr wrap="square" lIns="0" tIns="0" rIns="0" bIns="0" rtlCol="0" anchor="t"/>
          <a:lstStyle/>
          <a:p>
            <a:pPr indent="0" marL="0">
              <a:buNone/>
            </a:pPr>
            <a:r>
              <a:rPr lang="en-US" sz="1600" dirty="0">
                <a:solidFill>
                  <a:schemeClr val="tx1"/>
                </a:solidFill>
              </a:rPr>
              <a:t>Créer une application web intelligente pour planifier les rendez-vous.</a:t>
            </a:r>
            <a:endParaRPr lang="en-US" sz="1600" dirty="0"/>
          </a:p>
        </p:txBody>
      </p:sp>
      <p:sp>
        <p:nvSpPr>
          <p:cNvPr id="13" name="Carte description 3"/>
          <p:cNvSpPr/>
          <p:nvPr/>
        </p:nvSpPr>
        <p:spPr>
          <a:xfrm>
            <a:off x="548640" y="4389120"/>
            <a:ext cx="94183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4" name="Description 3 cercle"/>
          <p:cNvSpPr/>
          <p:nvPr/>
        </p:nvSpPr>
        <p:spPr>
          <a:xfrm>
            <a:off x="777240" y="4617720"/>
            <a:ext cx="777240" cy="777240"/>
          </a:xfrm>
          <a:prstGeom prst="ellipse">
            <a:avLst/>
          </a:prstGeom>
          <a:solidFill>
            <a:schemeClr val="accent5"/>
          </a:solidFill>
          <a:ln w="12700">
            <a:solidFill>
              <a:schemeClr val="accent5"/>
            </a:solidFill>
            <a:prstDash val="solid"/>
          </a:ln>
        </p:spPr>
      </p:sp>
      <p:pic>
        <p:nvPicPr>
          <p:cNvPr id="15" name="Description 3 icone" descr="preencoded.png">    </p:cNvPr>
          <p:cNvPicPr>
            <a:picLocks noChangeAspect="1"/>
          </p:cNvPicPr>
          <p:nvPr/>
        </p:nvPicPr>
        <p:blipFill>
          <a:blip r:embed="rId3"/>
          <a:stretch>
            <a:fillRect/>
          </a:stretch>
        </p:blipFill>
        <p:spPr>
          <a:xfrm>
            <a:off x="963778" y="4804258"/>
            <a:ext cx="404165" cy="404165"/>
          </a:xfrm>
          <a:prstGeom prst="rect">
            <a:avLst/>
          </a:prstGeom>
        </p:spPr>
      </p:pic>
      <p:sp>
        <p:nvSpPr>
          <p:cNvPr id="16" name="Titre description 3"/>
          <p:cNvSpPr txBox="1"/>
          <p:nvPr/>
        </p:nvSpPr>
        <p:spPr>
          <a:xfrm>
            <a:off x="1828800" y="4572000"/>
            <a:ext cx="7863840" cy="365760"/>
          </a:xfrm>
          <a:prstGeom prst="rect">
            <a:avLst/>
          </a:prstGeom>
          <a:noFill/>
          <a:ln/>
        </p:spPr>
        <p:txBody>
          <a:bodyPr wrap="square" lIns="0" tIns="0" rIns="0" bIns="0" rtlCol="0" anchor="t"/>
          <a:lstStyle/>
          <a:p>
            <a:pPr indent="0" marL="0">
              <a:buNone/>
            </a:pPr>
            <a:r>
              <a:rPr lang="en-US" sz="1900" b="1" dirty="0">
                <a:solidFill>
                  <a:schemeClr val="tx2"/>
                </a:solidFill>
              </a:rPr>
              <a:t>Résultats attendus</a:t>
            </a:r>
            <a:endParaRPr lang="en-US" sz="1900" dirty="0"/>
          </a:p>
        </p:txBody>
      </p:sp>
      <p:sp>
        <p:nvSpPr>
          <p:cNvPr id="17" name="Texte description 3"/>
          <p:cNvSpPr txBox="1"/>
          <p:nvPr/>
        </p:nvSpPr>
        <p:spPr>
          <a:xfrm>
            <a:off x="1828800" y="4983480"/>
            <a:ext cx="7863840" cy="502920"/>
          </a:xfrm>
          <a:prstGeom prst="rect">
            <a:avLst/>
          </a:prstGeom>
          <a:noFill/>
          <a:ln/>
        </p:spPr>
        <p:txBody>
          <a:bodyPr wrap="square" lIns="0" tIns="0" rIns="0" bIns="0" rtlCol="0" anchor="t"/>
          <a:lstStyle/>
          <a:p>
            <a:pPr indent="0" marL="0">
              <a:buNone/>
            </a:pPr>
            <a:r>
              <a:rPr lang="en-US" sz="1600" dirty="0">
                <a:solidFill>
                  <a:schemeClr val="tx1"/>
                </a:solidFill>
              </a:rPr>
              <a:t>Fiable, simple, sécurisée, responsive, avec un assistant IA.</a:t>
            </a:r>
            <a:endParaRPr lang="en-US" sz="16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76"/>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52"/>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28"/>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04"/>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88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56"/>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232"/>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08"/>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584"/>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76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936"/>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2112"/>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2288"/>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2464"/>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264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6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2816"/>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600"/>
                                        <p:tgtEl>
                                          <p:spTgt spid="25"/>
                                        </p:tgtEl>
                                      </p:cBhvr>
                                    </p:animEffect>
                                    <p:anim calcmode="lin" valueType="num">
                                      <p:cBhvr>
                                        <p:cTn id="88" dur="600" fill="hold"/>
                                        <p:tgtEl>
                                          <p:spTgt spid="25"/>
                                        </p:tgtEl>
                                        <p:attrNameLst>
                                          <p:attrName>ppt_x</p:attrName>
                                        </p:attrNameLst>
                                      </p:cBhvr>
                                      <p:tavLst>
                                        <p:tav tm="0">
                                          <p:val>
                                            <p:strVal val="#ppt_x"/>
                                          </p:val>
                                        </p:tav>
                                        <p:tav tm="100000">
                                          <p:val>
                                            <p:strVal val="#ppt_x"/>
                                          </p:val>
                                        </p:tav>
                                      </p:tavLst>
                                    </p:anim>
                                    <p:anim calcmode="lin" valueType="num">
                                      <p:cBhvr>
                                        <p:cTn id="8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Besoins des utilisateurs</a:t>
            </a:r>
            <a:endParaRPr lang="en-US" sz="3200" dirty="0"/>
          </a:p>
        </p:txBody>
      </p:sp>
      <p:sp>
        <p:nvSpPr>
          <p:cNvPr id="3" name="Carte besoins Patient"/>
          <p:cNvSpPr/>
          <p:nvPr/>
        </p:nvSpPr>
        <p:spPr>
          <a:xfrm>
            <a:off x="548640" y="1417320"/>
            <a:ext cx="4572000" cy="4480560"/>
          </a:xfrm>
          <a:prstGeom prst="roundRect">
            <a:avLst>
              <a:gd name="adj" fmla="val 2449"/>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4" name="Besoins Patient cercle"/>
          <p:cNvSpPr/>
          <p:nvPr/>
        </p:nvSpPr>
        <p:spPr>
          <a:xfrm>
            <a:off x="822960" y="1645920"/>
            <a:ext cx="822960" cy="822960"/>
          </a:xfrm>
          <a:prstGeom prst="ellipse">
            <a:avLst/>
          </a:prstGeom>
          <a:solidFill>
            <a:schemeClr val="accent2"/>
          </a:solidFill>
          <a:ln w="12700">
            <a:solidFill>
              <a:schemeClr val="accent2"/>
            </a:solidFill>
            <a:prstDash val="solid"/>
          </a:ln>
        </p:spPr>
      </p:sp>
      <p:pic>
        <p:nvPicPr>
          <p:cNvPr id="5" name="Besoins Patient icone" descr="preencoded.png">    </p:cNvPr>
          <p:cNvPicPr>
            <a:picLocks noChangeAspect="1"/>
          </p:cNvPicPr>
          <p:nvPr/>
        </p:nvPicPr>
        <p:blipFill>
          <a:blip r:embed="rId1"/>
          <a:stretch>
            <a:fillRect/>
          </a:stretch>
        </p:blipFill>
        <p:spPr>
          <a:xfrm>
            <a:off x="1020470" y="1843430"/>
            <a:ext cx="427939" cy="427939"/>
          </a:xfrm>
          <a:prstGeom prst="rect">
            <a:avLst/>
          </a:prstGeom>
        </p:spPr>
      </p:pic>
      <p:sp>
        <p:nvSpPr>
          <p:cNvPr id="6" name="Titre Patient"/>
          <p:cNvSpPr txBox="1"/>
          <p:nvPr/>
        </p:nvSpPr>
        <p:spPr>
          <a:xfrm>
            <a:off x="1828800" y="1783080"/>
            <a:ext cx="3108960" cy="548640"/>
          </a:xfrm>
          <a:prstGeom prst="rect">
            <a:avLst/>
          </a:prstGeom>
          <a:noFill/>
          <a:ln/>
        </p:spPr>
        <p:txBody>
          <a:bodyPr wrap="square" lIns="0" tIns="0" rIns="0" bIns="0" rtlCol="0" anchor="ctr"/>
          <a:lstStyle/>
          <a:p>
            <a:pPr indent="0" marL="0">
              <a:buNone/>
            </a:pPr>
            <a:r>
              <a:rPr lang="en-US" sz="2200" b="1" dirty="0">
                <a:solidFill>
                  <a:schemeClr val="tx2"/>
                </a:solidFill>
              </a:rPr>
              <a:t>Patient</a:t>
            </a:r>
            <a:endParaRPr lang="en-US" sz="2200" dirty="0"/>
          </a:p>
        </p:txBody>
      </p:sp>
      <p:sp>
        <p:nvSpPr>
          <p:cNvPr id="7" name="Liste Patient"/>
          <p:cNvSpPr txBox="1"/>
          <p:nvPr/>
        </p:nvSpPr>
        <p:spPr>
          <a:xfrm>
            <a:off x="914400" y="2743200"/>
            <a:ext cx="4023360" cy="30175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Créer un compte et se connecter</a:t>
            </a:r>
            <a:endParaRPr lang="en-US" sz="1600" dirty="0"/>
          </a:p>
          <a:p>
            <a:pPr marL="228600" indent="-228600">
              <a:spcAft>
                <a:spcPts val="1000"/>
              </a:spcAft>
              <a:buSzPct val="100000"/>
              <a:buChar char="•"/>
            </a:pPr>
            <a:r>
              <a:rPr lang="en-US" sz="1600" dirty="0">
                <a:solidFill>
                  <a:schemeClr val="tx1"/>
                </a:solidFill>
              </a:rPr>
              <a:t>Chercher un créneau libre</a:t>
            </a:r>
            <a:endParaRPr lang="en-US" sz="1600" dirty="0"/>
          </a:p>
          <a:p>
            <a:pPr marL="228600" indent="-228600">
              <a:spcAft>
                <a:spcPts val="1000"/>
              </a:spcAft>
              <a:buSzPct val="100000"/>
              <a:buChar char="•"/>
            </a:pPr>
            <a:r>
              <a:rPr lang="en-US" sz="1600" dirty="0">
                <a:solidFill>
                  <a:schemeClr val="tx1"/>
                </a:solidFill>
              </a:rPr>
              <a:t>Réserver avec l’assistant IA</a:t>
            </a:r>
            <a:endParaRPr lang="en-US" sz="1600" dirty="0"/>
          </a:p>
          <a:p>
            <a:pPr marL="228600" indent="-228600">
              <a:spcAft>
                <a:spcPts val="1000"/>
              </a:spcAft>
              <a:buSzPct val="100000"/>
              <a:buChar char="•"/>
            </a:pPr>
            <a:r>
              <a:rPr lang="en-US" sz="1600" dirty="0">
                <a:solidFill>
                  <a:schemeClr val="tx1"/>
                </a:solidFill>
              </a:rPr>
              <a:t>Annuler ou s’inscrire en liste d’attente</a:t>
            </a:r>
            <a:endParaRPr lang="en-US" sz="1600" dirty="0"/>
          </a:p>
          <a:p>
            <a:pPr marL="228600" indent="-228600">
              <a:spcAft>
                <a:spcPts val="1000"/>
              </a:spcAft>
              <a:buSzPct val="100000"/>
              <a:buChar char="•"/>
            </a:pPr>
            <a:r>
              <a:rPr lang="en-US" sz="1600" dirty="0">
                <a:solidFill>
                  <a:schemeClr val="tx1"/>
                </a:solidFill>
              </a:rPr>
              <a:t>Recevoir notifications et rappels</a:t>
            </a:r>
            <a:endParaRPr lang="en-US" sz="1600" dirty="0"/>
          </a:p>
        </p:txBody>
      </p:sp>
      <p:sp>
        <p:nvSpPr>
          <p:cNvPr id="8" name="Carte besoins Administrateur"/>
          <p:cNvSpPr/>
          <p:nvPr/>
        </p:nvSpPr>
        <p:spPr>
          <a:xfrm>
            <a:off x="5394960" y="1417320"/>
            <a:ext cx="4572000" cy="4480560"/>
          </a:xfrm>
          <a:prstGeom prst="roundRect">
            <a:avLst>
              <a:gd name="adj" fmla="val 2449"/>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9" name="Besoins Administrateur cercle"/>
          <p:cNvSpPr/>
          <p:nvPr/>
        </p:nvSpPr>
        <p:spPr>
          <a:xfrm>
            <a:off x="5669280" y="1645920"/>
            <a:ext cx="822960" cy="822960"/>
          </a:xfrm>
          <a:prstGeom prst="ellipse">
            <a:avLst/>
          </a:prstGeom>
          <a:solidFill>
            <a:schemeClr val="accent1"/>
          </a:solidFill>
          <a:ln w="12700">
            <a:solidFill>
              <a:schemeClr val="accent1"/>
            </a:solidFill>
            <a:prstDash val="solid"/>
          </a:ln>
        </p:spPr>
      </p:sp>
      <p:pic>
        <p:nvPicPr>
          <p:cNvPr id="10" name="Besoins Administrateur icone" descr="preencoded.png">    </p:cNvPr>
          <p:cNvPicPr>
            <a:picLocks noChangeAspect="1"/>
          </p:cNvPicPr>
          <p:nvPr/>
        </p:nvPicPr>
        <p:blipFill>
          <a:blip r:embed="rId2"/>
          <a:stretch>
            <a:fillRect/>
          </a:stretch>
        </p:blipFill>
        <p:spPr>
          <a:xfrm>
            <a:off x="5866790" y="1843430"/>
            <a:ext cx="427939" cy="427939"/>
          </a:xfrm>
          <a:prstGeom prst="rect">
            <a:avLst/>
          </a:prstGeom>
        </p:spPr>
      </p:pic>
      <p:sp>
        <p:nvSpPr>
          <p:cNvPr id="11" name="Titre Administrateur"/>
          <p:cNvSpPr txBox="1"/>
          <p:nvPr/>
        </p:nvSpPr>
        <p:spPr>
          <a:xfrm>
            <a:off x="6675120" y="1783080"/>
            <a:ext cx="3108960" cy="548640"/>
          </a:xfrm>
          <a:prstGeom prst="rect">
            <a:avLst/>
          </a:prstGeom>
          <a:noFill/>
          <a:ln/>
        </p:spPr>
        <p:txBody>
          <a:bodyPr wrap="square" lIns="0" tIns="0" rIns="0" bIns="0" rtlCol="0" anchor="ctr"/>
          <a:lstStyle/>
          <a:p>
            <a:pPr indent="0" marL="0">
              <a:buNone/>
            </a:pPr>
            <a:r>
              <a:rPr lang="en-US" sz="2200" b="1" dirty="0">
                <a:solidFill>
                  <a:schemeClr val="tx2"/>
                </a:solidFill>
              </a:rPr>
              <a:t>Administrateur</a:t>
            </a:r>
            <a:endParaRPr lang="en-US" sz="2200" dirty="0"/>
          </a:p>
        </p:txBody>
      </p:sp>
      <p:sp>
        <p:nvSpPr>
          <p:cNvPr id="12" name="Liste Administrateur"/>
          <p:cNvSpPr txBox="1"/>
          <p:nvPr/>
        </p:nvSpPr>
        <p:spPr>
          <a:xfrm>
            <a:off x="5760720" y="2743200"/>
            <a:ext cx="4023360" cy="30175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Gérer patients et médecins</a:t>
            </a:r>
            <a:endParaRPr lang="en-US" sz="1600" dirty="0"/>
          </a:p>
          <a:p>
            <a:pPr marL="228600" indent="-228600">
              <a:spcAft>
                <a:spcPts val="1000"/>
              </a:spcAft>
              <a:buSzPct val="100000"/>
              <a:buChar char="•"/>
            </a:pPr>
            <a:r>
              <a:rPr lang="en-US" sz="1600" dirty="0">
                <a:solidFill>
                  <a:schemeClr val="tx1"/>
                </a:solidFill>
              </a:rPr>
              <a:t>Configurer horaires et absences</a:t>
            </a:r>
            <a:endParaRPr lang="en-US" sz="1600" dirty="0"/>
          </a:p>
          <a:p>
            <a:pPr marL="228600" indent="-228600">
              <a:spcAft>
                <a:spcPts val="1000"/>
              </a:spcAft>
              <a:buSzPct val="100000"/>
              <a:buChar char="•"/>
            </a:pPr>
            <a:r>
              <a:rPr lang="en-US" sz="1600" dirty="0">
                <a:solidFill>
                  <a:schemeClr val="tx1"/>
                </a:solidFill>
              </a:rPr>
              <a:t>Confirmer, déplacer, annuler</a:t>
            </a:r>
            <a:endParaRPr lang="en-US" sz="1600" dirty="0"/>
          </a:p>
          <a:p>
            <a:pPr marL="228600" indent="-228600">
              <a:spcAft>
                <a:spcPts val="1000"/>
              </a:spcAft>
              <a:buSzPct val="100000"/>
              <a:buChar char="•"/>
            </a:pPr>
            <a:r>
              <a:rPr lang="en-US" sz="1600" dirty="0">
                <a:solidFill>
                  <a:schemeClr val="tx1"/>
                </a:solidFill>
              </a:rPr>
              <a:t>Enregistrer les consultations</a:t>
            </a:r>
            <a:endParaRPr lang="en-US" sz="1600" dirty="0"/>
          </a:p>
          <a:p>
            <a:pPr marL="228600" indent="-228600">
              <a:spcAft>
                <a:spcPts val="1000"/>
              </a:spcAft>
              <a:buSzPct val="100000"/>
              <a:buChar char="•"/>
            </a:pPr>
            <a:r>
              <a:rPr lang="en-US" sz="1600" dirty="0">
                <a:solidFill>
                  <a:schemeClr val="tx1"/>
                </a:solidFill>
              </a:rPr>
              <a:t>Suivre le tableau de bord</a:t>
            </a:r>
            <a:endParaRPr lang="en-US" sz="16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9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26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62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8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98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600"/>
                                        <p:tgtEl>
                                          <p:spTgt spid="25"/>
                                        </p:tgtEl>
                                      </p:cBhvr>
                                    </p:animEffect>
                                    <p:anim calcmode="lin" valueType="num">
                                      <p:cBhvr>
                                        <p:cTn id="63" dur="600" fill="hold"/>
                                        <p:tgtEl>
                                          <p:spTgt spid="25"/>
                                        </p:tgtEl>
                                        <p:attrNameLst>
                                          <p:attrName>ppt_x</p:attrName>
                                        </p:attrNameLst>
                                      </p:cBhvr>
                                      <p:tavLst>
                                        <p:tav tm="0">
                                          <p:val>
                                            <p:strVal val="#ppt_x"/>
                                          </p:val>
                                        </p:tav>
                                        <p:tav tm="100000">
                                          <p:val>
                                            <p:strVal val="#ppt_x"/>
                                          </p:val>
                                        </p:tav>
                                      </p:tavLst>
                                    </p:anim>
                                    <p:anim calcmode="lin" valueType="num">
                                      <p:cBhvr>
                                        <p:cTn id="6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Chronogramme du projet</a:t>
            </a:r>
            <a:endParaRPr lang="en-US" sz="3200" dirty="0"/>
          </a:p>
        </p:txBody>
      </p:sp>
      <p:pic>
        <p:nvPicPr>
          <p:cNvPr id="3" name="Diagramme de Gantt" descr="Diagramme de Gantt">    </p:cNvPr>
          <p:cNvPicPr>
            <a:picLocks noChangeAspect="1"/>
          </p:cNvPicPr>
          <p:nvPr/>
        </p:nvPicPr>
        <p:blipFill>
          <a:blip r:embed="rId1"/>
          <a:stretch>
            <a:fillRect/>
          </a:stretch>
        </p:blipFill>
        <p:spPr>
          <a:xfrm>
            <a:off x="548640" y="1733738"/>
            <a:ext cx="9509760" cy="3481965"/>
          </a:xfrm>
          <a:prstGeom prst="rect">
            <a:avLst/>
          </a:prstGeom>
        </p:spPr>
      </p:pic>
      <p:sp>
        <p:nvSpPr>
          <p:cNvPr id="4" name="Periode"/>
          <p:cNvSpPr txBox="1"/>
          <p:nvPr/>
        </p:nvSpPr>
        <p:spPr>
          <a:xfrm>
            <a:off x="548640" y="5806440"/>
            <a:ext cx="9144000" cy="365760"/>
          </a:xfrm>
          <a:prstGeom prst="rect">
            <a:avLst/>
          </a:prstGeom>
          <a:noFill/>
          <a:ln/>
        </p:spPr>
        <p:txBody>
          <a:bodyPr wrap="square" lIns="0" tIns="0" rIns="0" bIns="0" rtlCol="0" anchor="t"/>
          <a:lstStyle/>
          <a:p>
            <a:pPr indent="0" marL="0">
              <a:buNone/>
            </a:pPr>
            <a:r>
              <a:rPr lang="en-US" sz="1500" i="1" dirty="0">
                <a:solidFill>
                  <a:schemeClr val="tx2"/>
                </a:solidFill>
              </a:rPr>
              <a:t>Du 1er juin au 30 octobre 2026 — 5 mois</a:t>
            </a:r>
            <a:endParaRPr lang="en-US" sz="15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600"/>
                                        <p:tgtEl>
                                          <p:spTgt spid="25"/>
                                        </p:tgtEl>
                                      </p:cBhvr>
                                    </p:animEffect>
                                    <p:anim calcmode="lin" valueType="num">
                                      <p:cBhvr>
                                        <p:cTn id="23" dur="600" fill="hold"/>
                                        <p:tgtEl>
                                          <p:spTgt spid="25"/>
                                        </p:tgtEl>
                                        <p:attrNameLst>
                                          <p:attrName>ppt_x</p:attrName>
                                        </p:attrNameLst>
                                      </p:cBhvr>
                                      <p:tavLst>
                                        <p:tav tm="0">
                                          <p:val>
                                            <p:strVal val="#ppt_x"/>
                                          </p:val>
                                        </p:tav>
                                        <p:tav tm="100000">
                                          <p:val>
                                            <p:strVal val="#ppt_x"/>
                                          </p:val>
                                        </p:tav>
                                      </p:tavLst>
                                    </p:anim>
                                    <p:anim calcmode="lin" valueType="num">
                                      <p:cBhvr>
                                        <p:cTn id="2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7863840" cy="1280160"/>
          </a:xfrm>
          <a:prstGeom prst="rect">
            <a:avLst/>
          </a:prstGeom>
          <a:noFill/>
          <a:ln/>
        </p:spPr>
        <p:txBody>
          <a:bodyPr wrap="square" lIns="0" tIns="0" rIns="0" bIns="0" rtlCol="0" anchor="ctr"/>
          <a:lstStyle/>
          <a:p>
            <a:pPr algn="l" indent="0" marL="0">
              <a:buNone/>
            </a:pPr>
            <a:r>
              <a:rPr lang="en-US" sz="4400" b="1" dirty="0">
                <a:solidFill>
                  <a:schemeClr val="tx2"/>
                </a:solidFill>
              </a:rPr>
              <a:t>Analyse et conception</a:t>
            </a:r>
            <a:endParaRPr lang="en-US" sz="4400" dirty="0"/>
          </a:p>
        </p:txBody>
      </p:sp>
      <p:sp>
        <p:nvSpPr>
          <p:cNvPr id="3" name="Numero partie"/>
          <p:cNvSpPr txBox="1"/>
          <p:nvPr/>
        </p:nvSpPr>
        <p:spPr>
          <a:xfrm>
            <a:off x="822960" y="2240280"/>
            <a:ext cx="3657600" cy="411480"/>
          </a:xfrm>
          <a:prstGeom prst="rect">
            <a:avLst/>
          </a:prstGeom>
          <a:noFill/>
          <a:ln/>
        </p:spPr>
        <p:txBody>
          <a:bodyPr wrap="square" lIns="0" tIns="0" rIns="0" bIns="0" rtlCol="0" anchor="t"/>
          <a:lstStyle/>
          <a:p>
            <a:pPr indent="0" marL="0">
              <a:buNone/>
            </a:pPr>
            <a:r>
              <a:rPr lang="en-US" sz="2000" b="1" dirty="0">
                <a:solidFill>
                  <a:schemeClr val="accent2"/>
                </a:solidFill>
              </a:rPr>
              <a:t>Partie 02</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Analyse et critique de l’existant</a:t>
            </a:r>
            <a:endParaRPr lang="en-US" sz="3200" dirty="0"/>
          </a:p>
        </p:txBody>
      </p:sp>
      <p:sp>
        <p:nvSpPr>
          <p:cNvPr id="3" name="Carte existant"/>
          <p:cNvSpPr/>
          <p:nvPr/>
        </p:nvSpPr>
        <p:spPr>
          <a:xfrm>
            <a:off x="548640" y="1417320"/>
            <a:ext cx="9418320"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4" name="Existant cercle"/>
          <p:cNvSpPr/>
          <p:nvPr/>
        </p:nvSpPr>
        <p:spPr>
          <a:xfrm>
            <a:off x="731520" y="1536192"/>
            <a:ext cx="676656" cy="676656"/>
          </a:xfrm>
          <a:prstGeom prst="ellipse">
            <a:avLst/>
          </a:prstGeom>
          <a:solidFill>
            <a:schemeClr val="accent1"/>
          </a:solidFill>
          <a:ln w="12700">
            <a:solidFill>
              <a:schemeClr val="accent1"/>
            </a:solidFill>
            <a:prstDash val="solid"/>
          </a:ln>
        </p:spPr>
      </p:sp>
      <p:pic>
        <p:nvPicPr>
          <p:cNvPr id="5" name="Existant icone" descr="preencoded.png">    </p:cNvPr>
          <p:cNvPicPr>
            <a:picLocks noChangeAspect="1"/>
          </p:cNvPicPr>
          <p:nvPr/>
        </p:nvPicPr>
        <p:blipFill>
          <a:blip r:embed="rId1"/>
          <a:stretch>
            <a:fillRect/>
          </a:stretch>
        </p:blipFill>
        <p:spPr>
          <a:xfrm>
            <a:off x="893917" y="1698589"/>
            <a:ext cx="351861" cy="351861"/>
          </a:xfrm>
          <a:prstGeom prst="rect">
            <a:avLst/>
          </a:prstGeom>
        </p:spPr>
      </p:pic>
      <p:sp>
        <p:nvSpPr>
          <p:cNvPr id="6" name="Texte existant"/>
          <p:cNvSpPr txBox="1"/>
          <p:nvPr/>
        </p:nvSpPr>
        <p:spPr>
          <a:xfrm>
            <a:off x="1600200" y="1508760"/>
            <a:ext cx="8229600" cy="731520"/>
          </a:xfrm>
          <a:prstGeom prst="rect">
            <a:avLst/>
          </a:prstGeom>
          <a:noFill/>
          <a:ln/>
        </p:spPr>
        <p:txBody>
          <a:bodyPr wrap="square" lIns="0" tIns="0" rIns="0" bIns="0" rtlCol="0" anchor="ctr"/>
          <a:lstStyle/>
          <a:p>
            <a:pPr indent="0" marL="0">
              <a:buNone/>
            </a:pPr>
            <a:r>
              <a:rPr lang="en-US" sz="1600" dirty="0">
                <a:solidFill>
                  <a:schemeClr val="tx1"/>
                </a:solidFill>
              </a:rPr>
              <a:t>Aujourd’hui : le patient appelle ou se déplace, l’accueil note le rendez-vous dans un registre ou un tableur.</a:t>
            </a:r>
            <a:endParaRPr lang="en-US" sz="1600" dirty="0"/>
          </a:p>
        </p:txBody>
      </p:sp>
      <p:sp>
        <p:nvSpPr>
          <p:cNvPr id="7" name="Carte Points forts"/>
          <p:cNvSpPr/>
          <p:nvPr/>
        </p:nvSpPr>
        <p:spPr>
          <a:xfrm>
            <a:off x="548640" y="2606040"/>
            <a:ext cx="4572000"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8" name="Points forts cercle"/>
          <p:cNvSpPr/>
          <p:nvPr/>
        </p:nvSpPr>
        <p:spPr>
          <a:xfrm>
            <a:off x="822960" y="2788920"/>
            <a:ext cx="548640" cy="548640"/>
          </a:xfrm>
          <a:prstGeom prst="ellipse">
            <a:avLst/>
          </a:prstGeom>
          <a:solidFill>
            <a:schemeClr val="bg1"/>
          </a:solidFill>
          <a:ln w="25400">
            <a:solidFill>
              <a:schemeClr val="accent2"/>
            </a:solidFill>
            <a:prstDash val="solid"/>
          </a:ln>
        </p:spPr>
      </p:sp>
      <p:pic>
        <p:nvPicPr>
          <p:cNvPr id="9" name="Points forts icone" descr="preencoded.png">    </p:cNvPr>
          <p:cNvPicPr>
            <a:picLocks noChangeAspect="1"/>
          </p:cNvPicPr>
          <p:nvPr/>
        </p:nvPicPr>
        <p:blipFill>
          <a:blip r:embed="rId2"/>
          <a:stretch>
            <a:fillRect/>
          </a:stretch>
        </p:blipFill>
        <p:spPr>
          <a:xfrm>
            <a:off x="932688" y="2898648"/>
            <a:ext cx="329184" cy="329184"/>
          </a:xfrm>
          <a:prstGeom prst="rect">
            <a:avLst/>
          </a:prstGeom>
        </p:spPr>
      </p:pic>
      <p:sp>
        <p:nvSpPr>
          <p:cNvPr id="10" name="Titre Points forts"/>
          <p:cNvSpPr txBox="1"/>
          <p:nvPr/>
        </p:nvSpPr>
        <p:spPr>
          <a:xfrm>
            <a:off x="1554480" y="2788920"/>
            <a:ext cx="3291840" cy="548640"/>
          </a:xfrm>
          <a:prstGeom prst="rect">
            <a:avLst/>
          </a:prstGeom>
          <a:noFill/>
          <a:ln/>
        </p:spPr>
        <p:txBody>
          <a:bodyPr wrap="square" lIns="0" tIns="0" rIns="0" bIns="0" rtlCol="0" anchor="ctr"/>
          <a:lstStyle/>
          <a:p>
            <a:pPr indent="0" marL="0">
              <a:buNone/>
            </a:pPr>
            <a:r>
              <a:rPr lang="en-US" sz="2000" b="1" dirty="0">
                <a:solidFill>
                  <a:schemeClr val="accent2"/>
                </a:solidFill>
              </a:rPr>
              <a:t>Points forts</a:t>
            </a:r>
            <a:endParaRPr lang="en-US" sz="2000" dirty="0"/>
          </a:p>
        </p:txBody>
      </p:sp>
      <p:sp>
        <p:nvSpPr>
          <p:cNvPr id="11" name="Liste Points forts"/>
          <p:cNvSpPr txBox="1"/>
          <p:nvPr/>
        </p:nvSpPr>
        <p:spPr>
          <a:xfrm>
            <a:off x="914400" y="3566160"/>
            <a:ext cx="4023360" cy="23774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Contact humain direct</a:t>
            </a:r>
            <a:endParaRPr lang="en-US" sz="1600" dirty="0"/>
          </a:p>
          <a:p>
            <a:pPr marL="228600" indent="-228600">
              <a:spcAft>
                <a:spcPts val="600"/>
              </a:spcAft>
              <a:buSzPct val="100000"/>
              <a:buChar char="•"/>
            </a:pPr>
            <a:r>
              <a:rPr lang="en-US" sz="1600" dirty="0">
                <a:solidFill>
                  <a:schemeClr val="tx1"/>
                </a:solidFill>
              </a:rPr>
              <a:t>Personnel expérimenté</a:t>
            </a:r>
            <a:endParaRPr lang="en-US" sz="1600" dirty="0"/>
          </a:p>
          <a:p>
            <a:pPr marL="228600" indent="-228600">
              <a:spcAft>
                <a:spcPts val="600"/>
              </a:spcAft>
              <a:buSzPct val="100000"/>
              <a:buChar char="•"/>
            </a:pPr>
            <a:r>
              <a:rPr lang="en-US" sz="1600" dirty="0">
                <a:solidFill>
                  <a:schemeClr val="tx1"/>
                </a:solidFill>
              </a:rPr>
              <a:t>Faible coût</a:t>
            </a:r>
            <a:endParaRPr lang="en-US" sz="1600" dirty="0"/>
          </a:p>
        </p:txBody>
      </p:sp>
      <p:sp>
        <p:nvSpPr>
          <p:cNvPr id="12" name="Carte Points faibles"/>
          <p:cNvSpPr/>
          <p:nvPr/>
        </p:nvSpPr>
        <p:spPr>
          <a:xfrm>
            <a:off x="5394960" y="2606040"/>
            <a:ext cx="4572000"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3" name="Points faibles cercle"/>
          <p:cNvSpPr/>
          <p:nvPr/>
        </p:nvSpPr>
        <p:spPr>
          <a:xfrm>
            <a:off x="5669280" y="2788920"/>
            <a:ext cx="548640" cy="548640"/>
          </a:xfrm>
          <a:prstGeom prst="ellipse">
            <a:avLst/>
          </a:prstGeom>
          <a:solidFill>
            <a:schemeClr val="bg1"/>
          </a:solidFill>
          <a:ln w="25400">
            <a:solidFill>
              <a:schemeClr val="accent6"/>
            </a:solidFill>
            <a:prstDash val="solid"/>
          </a:ln>
        </p:spPr>
      </p:sp>
      <p:pic>
        <p:nvPicPr>
          <p:cNvPr id="14" name="Points faibles icone" descr="preencoded.png">    </p:cNvPr>
          <p:cNvPicPr>
            <a:picLocks noChangeAspect="1"/>
          </p:cNvPicPr>
          <p:nvPr/>
        </p:nvPicPr>
        <p:blipFill>
          <a:blip r:embed="rId3"/>
          <a:stretch>
            <a:fillRect/>
          </a:stretch>
        </p:blipFill>
        <p:spPr>
          <a:xfrm>
            <a:off x="5779008" y="2898648"/>
            <a:ext cx="329184" cy="329184"/>
          </a:xfrm>
          <a:prstGeom prst="rect">
            <a:avLst/>
          </a:prstGeom>
        </p:spPr>
      </p:pic>
      <p:sp>
        <p:nvSpPr>
          <p:cNvPr id="15" name="Titre Points faibles"/>
          <p:cNvSpPr txBox="1"/>
          <p:nvPr/>
        </p:nvSpPr>
        <p:spPr>
          <a:xfrm>
            <a:off x="6400800" y="2788920"/>
            <a:ext cx="3291840" cy="548640"/>
          </a:xfrm>
          <a:prstGeom prst="rect">
            <a:avLst/>
          </a:prstGeom>
          <a:noFill/>
          <a:ln/>
        </p:spPr>
        <p:txBody>
          <a:bodyPr wrap="square" lIns="0" tIns="0" rIns="0" bIns="0" rtlCol="0" anchor="ctr"/>
          <a:lstStyle/>
          <a:p>
            <a:pPr indent="0" marL="0">
              <a:buNone/>
            </a:pPr>
            <a:r>
              <a:rPr lang="en-US" sz="2000" b="1" dirty="0">
                <a:solidFill>
                  <a:schemeClr val="accent6"/>
                </a:solidFill>
              </a:rPr>
              <a:t>Points faibles</a:t>
            </a:r>
            <a:endParaRPr lang="en-US" sz="2000" dirty="0"/>
          </a:p>
        </p:txBody>
      </p:sp>
      <p:sp>
        <p:nvSpPr>
          <p:cNvPr id="16" name="Liste Points faibles"/>
          <p:cNvSpPr txBox="1"/>
          <p:nvPr/>
        </p:nvSpPr>
        <p:spPr>
          <a:xfrm>
            <a:off x="5760720" y="3566160"/>
            <a:ext cx="4023360" cy="23774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Files d’attente et lignes saturées</a:t>
            </a:r>
            <a:endParaRPr lang="en-US" sz="1600" dirty="0"/>
          </a:p>
          <a:p>
            <a:pPr marL="228600" indent="-228600">
              <a:spcAft>
                <a:spcPts val="600"/>
              </a:spcAft>
              <a:buSzPct val="100000"/>
              <a:buChar char="•"/>
            </a:pPr>
            <a:r>
              <a:rPr lang="en-US" sz="1600" dirty="0">
                <a:solidFill>
                  <a:schemeClr val="tx1"/>
                </a:solidFill>
              </a:rPr>
              <a:t>Doubles réservations</a:t>
            </a:r>
            <a:endParaRPr lang="en-US" sz="1600" dirty="0"/>
          </a:p>
          <a:p>
            <a:pPr marL="228600" indent="-228600">
              <a:spcAft>
                <a:spcPts val="600"/>
              </a:spcAft>
              <a:buSzPct val="100000"/>
              <a:buChar char="•"/>
            </a:pPr>
            <a:r>
              <a:rPr lang="en-US" sz="1600" dirty="0">
                <a:solidFill>
                  <a:schemeClr val="tx1"/>
                </a:solidFill>
              </a:rPr>
              <a:t>Aucun rappel aux patients</a:t>
            </a:r>
            <a:endParaRPr lang="en-US" sz="1600" dirty="0"/>
          </a:p>
          <a:p>
            <a:pPr marL="228600" indent="-228600">
              <a:spcAft>
                <a:spcPts val="600"/>
              </a:spcAft>
              <a:buSzPct val="100000"/>
              <a:buChar char="•"/>
            </a:pPr>
            <a:r>
              <a:rPr lang="en-US" sz="1600" dirty="0">
                <a:solidFill>
                  <a:schemeClr val="tx1"/>
                </a:solidFill>
              </a:rPr>
              <a:t>Créneaux annulés perdus</a:t>
            </a:r>
            <a:endParaRPr lang="en-US" sz="1600" dirty="0"/>
          </a:p>
          <a:p>
            <a:pPr marL="228600" indent="-228600">
              <a:spcAft>
                <a:spcPts val="600"/>
              </a:spcAft>
              <a:buSzPct val="100000"/>
              <a:buChar char="•"/>
            </a:pPr>
            <a:r>
              <a:rPr lang="en-US" sz="1600" dirty="0">
                <a:solidFill>
                  <a:schemeClr val="tx1"/>
                </a:solidFill>
              </a:rPr>
              <a:t>Aucune statistique</a:t>
            </a:r>
            <a:endParaRPr lang="en-US" sz="16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9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26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62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8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98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216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234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252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270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00"/>
                                        <p:tgtEl>
                                          <p:spTgt spid="25"/>
                                        </p:tgtEl>
                                      </p:cBhvr>
                                    </p:animEffect>
                                    <p:anim calcmode="lin" valueType="num">
                                      <p:cBhvr>
                                        <p:cTn id="83" dur="600" fill="hold"/>
                                        <p:tgtEl>
                                          <p:spTgt spid="25"/>
                                        </p:tgtEl>
                                        <p:attrNameLst>
                                          <p:attrName>ppt_x</p:attrName>
                                        </p:attrNameLst>
                                      </p:cBhvr>
                                      <p:tavLst>
                                        <p:tav tm="0">
                                          <p:val>
                                            <p:strVal val="#ppt_x"/>
                                          </p:val>
                                        </p:tav>
                                        <p:tav tm="100000">
                                          <p:val>
                                            <p:strVal val="#ppt_x"/>
                                          </p:val>
                                        </p:tav>
                                      </p:tavLst>
                                    </p:anim>
                                    <p:anim calcmode="lin" valueType="num">
                                      <p:cBhvr>
                                        <p:cTn id="8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Solutions proposées</a:t>
            </a:r>
            <a:endParaRPr lang="en-US" sz="3200" dirty="0"/>
          </a:p>
        </p:txBody>
      </p:sp>
      <p:sp>
        <p:nvSpPr>
          <p:cNvPr id="3" name="Carte Solution 1"/>
          <p:cNvSpPr/>
          <p:nvPr/>
        </p:nvSpPr>
        <p:spPr>
          <a:xfrm>
            <a:off x="548640" y="1463040"/>
            <a:ext cx="94183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4" name="Titre Solution 1"/>
          <p:cNvSpPr txBox="1"/>
          <p:nvPr/>
        </p:nvSpPr>
        <p:spPr>
          <a:xfrm>
            <a:off x="822960" y="1645920"/>
            <a:ext cx="1828800" cy="868680"/>
          </a:xfrm>
          <a:prstGeom prst="rect">
            <a:avLst/>
          </a:prstGeom>
          <a:noFill/>
          <a:ln/>
        </p:spPr>
        <p:txBody>
          <a:bodyPr wrap="square" lIns="0" tIns="0" rIns="0" bIns="0" rtlCol="0" anchor="ctr"/>
          <a:lstStyle/>
          <a:p>
            <a:pPr indent="0" marL="0">
              <a:buNone/>
            </a:pPr>
            <a:r>
              <a:rPr lang="en-US" sz="2000" b="1" dirty="0">
                <a:solidFill>
                  <a:schemeClr val="accent2"/>
                </a:solidFill>
              </a:rPr>
              <a:t>Solution 1</a:t>
            </a:r>
            <a:endParaRPr lang="en-US" sz="2000" dirty="0"/>
          </a:p>
        </p:txBody>
      </p:sp>
      <p:sp>
        <p:nvSpPr>
          <p:cNvPr id="5" name="Texte Solution 1"/>
          <p:cNvSpPr txBox="1"/>
          <p:nvPr/>
        </p:nvSpPr>
        <p:spPr>
          <a:xfrm>
            <a:off x="2743200" y="1645920"/>
            <a:ext cx="6035040" cy="868680"/>
          </a:xfrm>
          <a:prstGeom prst="rect">
            <a:avLst/>
          </a:prstGeom>
          <a:noFill/>
          <a:ln/>
        </p:spPr>
        <p:txBody>
          <a:bodyPr wrap="square" lIns="0" tIns="0" rIns="0" bIns="0" rtlCol="0" anchor="ctr"/>
          <a:lstStyle/>
          <a:p>
            <a:pPr indent="0" marL="0">
              <a:buNone/>
            </a:pPr>
            <a:r>
              <a:rPr lang="en-US" sz="1800" b="1" dirty="0">
                <a:solidFill>
                  <a:schemeClr val="tx2"/>
                </a:solidFill>
              </a:rPr>
              <a:t>Plateforme commerciale en ligne</a:t>
            </a:r>
            <a:endParaRPr lang="en-US" sz="1800" dirty="0"/>
          </a:p>
          <a:p>
            <a:pPr indent="0" marL="0">
              <a:buNone/>
            </a:pPr>
            <a:r>
              <a:rPr lang="en-US" sz="1500" dirty="0">
                <a:solidFill>
                  <a:schemeClr val="tx1"/>
                </a:solidFill>
              </a:rPr>
              <a:t>Abonnement cher, peu adaptée, données à l’étranger</a:t>
            </a:r>
            <a:endParaRPr lang="en-US" sz="1800" dirty="0"/>
          </a:p>
        </p:txBody>
      </p:sp>
      <p:sp>
        <p:nvSpPr>
          <p:cNvPr id="6" name="Carte Solution 2"/>
          <p:cNvSpPr/>
          <p:nvPr/>
        </p:nvSpPr>
        <p:spPr>
          <a:xfrm>
            <a:off x="548640" y="2926080"/>
            <a:ext cx="94183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7" name="Titre Solution 2"/>
          <p:cNvSpPr txBox="1"/>
          <p:nvPr/>
        </p:nvSpPr>
        <p:spPr>
          <a:xfrm>
            <a:off x="822960" y="3108960"/>
            <a:ext cx="1828800" cy="868680"/>
          </a:xfrm>
          <a:prstGeom prst="rect">
            <a:avLst/>
          </a:prstGeom>
          <a:noFill/>
          <a:ln/>
        </p:spPr>
        <p:txBody>
          <a:bodyPr wrap="square" lIns="0" tIns="0" rIns="0" bIns="0" rtlCol="0" anchor="ctr"/>
          <a:lstStyle/>
          <a:p>
            <a:pPr indent="0" marL="0">
              <a:buNone/>
            </a:pPr>
            <a:r>
              <a:rPr lang="en-US" sz="2000" b="1" dirty="0">
                <a:solidFill>
                  <a:schemeClr val="accent2"/>
                </a:solidFill>
              </a:rPr>
              <a:t>Solution 2</a:t>
            </a:r>
            <a:endParaRPr lang="en-US" sz="2000" dirty="0"/>
          </a:p>
        </p:txBody>
      </p:sp>
      <p:sp>
        <p:nvSpPr>
          <p:cNvPr id="8" name="Texte Solution 2"/>
          <p:cNvSpPr txBox="1"/>
          <p:nvPr/>
        </p:nvSpPr>
        <p:spPr>
          <a:xfrm>
            <a:off x="2743200" y="3108960"/>
            <a:ext cx="6035040" cy="868680"/>
          </a:xfrm>
          <a:prstGeom prst="rect">
            <a:avLst/>
          </a:prstGeom>
          <a:noFill/>
          <a:ln/>
        </p:spPr>
        <p:txBody>
          <a:bodyPr wrap="square" lIns="0" tIns="0" rIns="0" bIns="0" rtlCol="0" anchor="ctr"/>
          <a:lstStyle/>
          <a:p>
            <a:pPr indent="0" marL="0">
              <a:buNone/>
            </a:pPr>
            <a:r>
              <a:rPr lang="en-US" sz="1800" b="1" dirty="0">
                <a:solidFill>
                  <a:schemeClr val="tx2"/>
                </a:solidFill>
              </a:rPr>
              <a:t>Logiciel open source adapté</a:t>
            </a:r>
            <a:endParaRPr lang="en-US" sz="1800" dirty="0"/>
          </a:p>
          <a:p>
            <a:pPr indent="0" marL="0">
              <a:buNone/>
            </a:pPr>
            <a:r>
              <a:rPr lang="en-US" sz="1500" dirty="0">
                <a:solidFill>
                  <a:schemeClr val="tx1"/>
                </a:solidFill>
              </a:rPr>
              <a:t>Lourd, complexe, difficile à adapter</a:t>
            </a:r>
            <a:endParaRPr lang="en-US" sz="1800" dirty="0"/>
          </a:p>
        </p:txBody>
      </p:sp>
      <p:sp>
        <p:nvSpPr>
          <p:cNvPr id="9" name="Carte Solution 3"/>
          <p:cNvSpPr/>
          <p:nvPr/>
        </p:nvSpPr>
        <p:spPr>
          <a:xfrm>
            <a:off x="548640" y="4389120"/>
            <a:ext cx="9418320" cy="1234440"/>
          </a:xfrm>
          <a:prstGeom prst="roundRect">
            <a:avLst>
              <a:gd name="adj" fmla="val 8889"/>
            </a:avLst>
          </a:prstGeom>
          <a:solidFill>
            <a:schemeClr val="accent1"/>
          </a:solidFill>
          <a:ln w="12700">
            <a:solidFill>
              <a:schemeClr val="accent1"/>
            </a:solidFill>
            <a:prstDash val="solid"/>
          </a:ln>
          <a:effectLst>
            <a:outerShdw sx="100000" sy="100000" kx="0" ky="0" algn="bl" rotWithShape="0" blurRad="76200" dist="25400" dir="5400000">
              <a:srgbClr val="9CC9BB">
                <a:alpha val="35000"/>
              </a:srgbClr>
            </a:outerShdw>
          </a:effectLst>
        </p:spPr>
      </p:sp>
      <p:sp>
        <p:nvSpPr>
          <p:cNvPr id="10" name="Titre Solution 3"/>
          <p:cNvSpPr txBox="1"/>
          <p:nvPr/>
        </p:nvSpPr>
        <p:spPr>
          <a:xfrm>
            <a:off x="822960" y="4572000"/>
            <a:ext cx="1828800" cy="868680"/>
          </a:xfrm>
          <a:prstGeom prst="rect">
            <a:avLst/>
          </a:prstGeom>
          <a:noFill/>
          <a:ln/>
        </p:spPr>
        <p:txBody>
          <a:bodyPr wrap="square" lIns="0" tIns="0" rIns="0" bIns="0" rtlCol="0" anchor="ctr"/>
          <a:lstStyle/>
          <a:p>
            <a:pPr indent="0" marL="0">
              <a:buNone/>
            </a:pPr>
            <a:r>
              <a:rPr lang="en-US" sz="2000" b="1" dirty="0">
                <a:solidFill>
                  <a:schemeClr val="bg1"/>
                </a:solidFill>
              </a:rPr>
              <a:t>Solution 3</a:t>
            </a:r>
            <a:endParaRPr lang="en-US" sz="2000" dirty="0"/>
          </a:p>
        </p:txBody>
      </p:sp>
      <p:sp>
        <p:nvSpPr>
          <p:cNvPr id="11" name="Texte Solution 3"/>
          <p:cNvSpPr txBox="1"/>
          <p:nvPr/>
        </p:nvSpPr>
        <p:spPr>
          <a:xfrm>
            <a:off x="2743200" y="4572000"/>
            <a:ext cx="6035040" cy="868680"/>
          </a:xfrm>
          <a:prstGeom prst="rect">
            <a:avLst/>
          </a:prstGeom>
          <a:noFill/>
          <a:ln/>
        </p:spPr>
        <p:txBody>
          <a:bodyPr wrap="square" lIns="0" tIns="0" rIns="0" bIns="0" rtlCol="0" anchor="ctr"/>
          <a:lstStyle/>
          <a:p>
            <a:pPr indent="0" marL="0">
              <a:buNone/>
            </a:pPr>
            <a:r>
              <a:rPr lang="en-US" sz="1800" b="1" dirty="0">
                <a:solidFill>
                  <a:schemeClr val="bg1"/>
                </a:solidFill>
              </a:rPr>
              <a:t>Application web sur mesure avec assistant IA</a:t>
            </a:r>
            <a:endParaRPr lang="en-US" sz="1800" dirty="0"/>
          </a:p>
          <a:p>
            <a:pPr indent="0" marL="0">
              <a:buNone/>
            </a:pPr>
            <a:r>
              <a:rPr lang="en-US" sz="1500" dirty="0">
                <a:solidFill>
                  <a:schemeClr val="bg1"/>
                </a:solidFill>
              </a:rPr>
              <a:t>Répond exactement aux besoins de la PSFA</a:t>
            </a:r>
            <a:endParaRPr lang="en-US" sz="1800" dirty="0"/>
          </a:p>
        </p:txBody>
      </p:sp>
      <p:sp>
        <p:nvSpPr>
          <p:cNvPr id="12" name="Retenue cercle"/>
          <p:cNvSpPr/>
          <p:nvPr/>
        </p:nvSpPr>
        <p:spPr>
          <a:xfrm>
            <a:off x="8961120" y="4681728"/>
            <a:ext cx="658368" cy="658368"/>
          </a:xfrm>
          <a:prstGeom prst="ellipse">
            <a:avLst/>
          </a:prstGeom>
          <a:solidFill>
            <a:schemeClr val="bg1"/>
          </a:solidFill>
          <a:ln w="12700">
            <a:solidFill>
              <a:schemeClr val="bg1"/>
            </a:solidFill>
            <a:prstDash val="solid"/>
          </a:ln>
        </p:spPr>
      </p:sp>
      <p:pic>
        <p:nvPicPr>
          <p:cNvPr id="13" name="Retenue icone" descr="preencoded.png">    </p:cNvPr>
          <p:cNvPicPr>
            <a:picLocks noChangeAspect="1"/>
          </p:cNvPicPr>
          <p:nvPr/>
        </p:nvPicPr>
        <p:blipFill>
          <a:blip r:embed="rId1"/>
          <a:stretch>
            <a:fillRect/>
          </a:stretch>
        </p:blipFill>
        <p:spPr>
          <a:xfrm>
            <a:off x="9061704" y="4782312"/>
            <a:ext cx="457200" cy="457200"/>
          </a:xfrm>
          <a:prstGeom prst="rect">
            <a:avLst/>
          </a:prstGeom>
        </p:spPr>
      </p:pic>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9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26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62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8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98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216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600"/>
                                        <p:tgtEl>
                                          <p:spTgt spid="25"/>
                                        </p:tgtEl>
                                      </p:cBhvr>
                                    </p:animEffect>
                                    <p:anim calcmode="lin" valueType="num">
                                      <p:cBhvr>
                                        <p:cTn id="68" dur="600" fill="hold"/>
                                        <p:tgtEl>
                                          <p:spTgt spid="25"/>
                                        </p:tgtEl>
                                        <p:attrNameLst>
                                          <p:attrName>ppt_x</p:attrName>
                                        </p:attrNameLst>
                                      </p:cBhvr>
                                      <p:tavLst>
                                        <p:tav tm="0">
                                          <p:val>
                                            <p:strVal val="#ppt_x"/>
                                          </p:val>
                                        </p:tav>
                                        <p:tav tm="100000">
                                          <p:val>
                                            <p:strVal val="#ppt_x"/>
                                          </p:val>
                                        </p:tav>
                                      </p:tavLst>
                                    </p:anim>
                                    <p:anim calcmode="lin" valueType="num">
                                      <p:cBhvr>
                                        <p:cTn id="6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Méthode et outils de conception</a:t>
            </a:r>
            <a:endParaRPr lang="en-US" sz="3200" dirty="0"/>
          </a:p>
        </p:txBody>
      </p:sp>
      <p:sp>
        <p:nvSpPr>
          <p:cNvPr id="3" name="Carte methode 1"/>
          <p:cNvSpPr/>
          <p:nvPr/>
        </p:nvSpPr>
        <p:spPr>
          <a:xfrm>
            <a:off x="548640" y="1600200"/>
            <a:ext cx="2971800" cy="3017520"/>
          </a:xfrm>
          <a:prstGeom prst="roundRect">
            <a:avLst>
              <a:gd name="adj" fmla="val 3692"/>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4" name="Methode 1 cercle"/>
          <p:cNvSpPr/>
          <p:nvPr/>
        </p:nvSpPr>
        <p:spPr>
          <a:xfrm>
            <a:off x="1527048" y="1874520"/>
            <a:ext cx="1005840" cy="1005840"/>
          </a:xfrm>
          <a:prstGeom prst="ellipse">
            <a:avLst/>
          </a:prstGeom>
          <a:solidFill>
            <a:schemeClr val="accent1"/>
          </a:solidFill>
          <a:ln w="12700">
            <a:solidFill>
              <a:schemeClr val="accent1"/>
            </a:solidFill>
            <a:prstDash val="solid"/>
          </a:ln>
        </p:spPr>
      </p:sp>
      <p:pic>
        <p:nvPicPr>
          <p:cNvPr id="5" name="Methode 1 icone" descr="preencoded.png">    </p:cNvPr>
          <p:cNvPicPr>
            <a:picLocks noChangeAspect="1"/>
          </p:cNvPicPr>
          <p:nvPr/>
        </p:nvPicPr>
        <p:blipFill>
          <a:blip r:embed="rId1"/>
          <a:stretch>
            <a:fillRect/>
          </a:stretch>
        </p:blipFill>
        <p:spPr>
          <a:xfrm>
            <a:off x="1768450" y="2115922"/>
            <a:ext cx="523037" cy="523037"/>
          </a:xfrm>
          <a:prstGeom prst="rect">
            <a:avLst/>
          </a:prstGeom>
        </p:spPr>
      </p:pic>
      <p:sp>
        <p:nvSpPr>
          <p:cNvPr id="6" name="Titre methode 1"/>
          <p:cNvSpPr txBox="1"/>
          <p:nvPr/>
        </p:nvSpPr>
        <p:spPr>
          <a:xfrm>
            <a:off x="731520" y="3063240"/>
            <a:ext cx="2606040" cy="457200"/>
          </a:xfrm>
          <a:prstGeom prst="rect">
            <a:avLst/>
          </a:prstGeom>
          <a:noFill/>
          <a:ln/>
        </p:spPr>
        <p:txBody>
          <a:bodyPr wrap="square" lIns="0" tIns="0" rIns="0" bIns="0" rtlCol="0" anchor="t"/>
          <a:lstStyle/>
          <a:p>
            <a:pPr algn="ctr" indent="0" marL="0">
              <a:buNone/>
            </a:pPr>
            <a:r>
              <a:rPr lang="en-US" sz="2200" b="1" dirty="0">
                <a:solidFill>
                  <a:schemeClr val="tx2"/>
                </a:solidFill>
              </a:rPr>
              <a:t>Scrum</a:t>
            </a:r>
            <a:endParaRPr lang="en-US" sz="2200" dirty="0"/>
          </a:p>
        </p:txBody>
      </p:sp>
      <p:sp>
        <p:nvSpPr>
          <p:cNvPr id="7" name="Texte methode 1"/>
          <p:cNvSpPr txBox="1"/>
          <p:nvPr/>
        </p:nvSpPr>
        <p:spPr>
          <a:xfrm>
            <a:off x="777240" y="3566160"/>
            <a:ext cx="2514600" cy="822960"/>
          </a:xfrm>
          <a:prstGeom prst="rect">
            <a:avLst/>
          </a:prstGeom>
          <a:noFill/>
          <a:ln/>
        </p:spPr>
        <p:txBody>
          <a:bodyPr wrap="square" lIns="0" tIns="0" rIns="0" bIns="0" rtlCol="0" anchor="t"/>
          <a:lstStyle/>
          <a:p>
            <a:pPr algn="ctr" indent="0" marL="0">
              <a:buNone/>
            </a:pPr>
            <a:r>
              <a:rPr lang="en-US" sz="1500" dirty="0">
                <a:solidFill>
                  <a:schemeClr val="tx1"/>
                </a:solidFill>
              </a:rPr>
              <a:t>Méthode agile de gestion de projet</a:t>
            </a:r>
            <a:endParaRPr lang="en-US" sz="1500" dirty="0"/>
          </a:p>
        </p:txBody>
      </p:sp>
      <p:sp>
        <p:nvSpPr>
          <p:cNvPr id="8" name="Carte methode 2"/>
          <p:cNvSpPr/>
          <p:nvPr/>
        </p:nvSpPr>
        <p:spPr>
          <a:xfrm>
            <a:off x="3794760" y="1600200"/>
            <a:ext cx="2971800" cy="3017520"/>
          </a:xfrm>
          <a:prstGeom prst="roundRect">
            <a:avLst>
              <a:gd name="adj" fmla="val 3692"/>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9" name="Methode 2 cercle"/>
          <p:cNvSpPr/>
          <p:nvPr/>
        </p:nvSpPr>
        <p:spPr>
          <a:xfrm>
            <a:off x="4773168" y="1874520"/>
            <a:ext cx="1005840" cy="1005840"/>
          </a:xfrm>
          <a:prstGeom prst="ellipse">
            <a:avLst/>
          </a:prstGeom>
          <a:solidFill>
            <a:schemeClr val="accent2"/>
          </a:solidFill>
          <a:ln w="12700">
            <a:solidFill>
              <a:schemeClr val="accent2"/>
            </a:solidFill>
            <a:prstDash val="solid"/>
          </a:ln>
        </p:spPr>
      </p:sp>
      <p:pic>
        <p:nvPicPr>
          <p:cNvPr id="10" name="Methode 2 icone" descr="preencoded.png">    </p:cNvPr>
          <p:cNvPicPr>
            <a:picLocks noChangeAspect="1"/>
          </p:cNvPicPr>
          <p:nvPr/>
        </p:nvPicPr>
        <p:blipFill>
          <a:blip r:embed="rId2"/>
          <a:stretch>
            <a:fillRect/>
          </a:stretch>
        </p:blipFill>
        <p:spPr>
          <a:xfrm>
            <a:off x="5014570" y="2115922"/>
            <a:ext cx="523037" cy="523037"/>
          </a:xfrm>
          <a:prstGeom prst="rect">
            <a:avLst/>
          </a:prstGeom>
        </p:spPr>
      </p:pic>
      <p:sp>
        <p:nvSpPr>
          <p:cNvPr id="11" name="Titre methode 2"/>
          <p:cNvSpPr txBox="1"/>
          <p:nvPr/>
        </p:nvSpPr>
        <p:spPr>
          <a:xfrm>
            <a:off x="3977640" y="3063240"/>
            <a:ext cx="2606040" cy="457200"/>
          </a:xfrm>
          <a:prstGeom prst="rect">
            <a:avLst/>
          </a:prstGeom>
          <a:noFill/>
          <a:ln/>
        </p:spPr>
        <p:txBody>
          <a:bodyPr wrap="square" lIns="0" tIns="0" rIns="0" bIns="0" rtlCol="0" anchor="t"/>
          <a:lstStyle/>
          <a:p>
            <a:pPr algn="ctr" indent="0" marL="0">
              <a:buNone/>
            </a:pPr>
            <a:r>
              <a:rPr lang="en-US" sz="2200" b="1" dirty="0">
                <a:solidFill>
                  <a:schemeClr val="tx2"/>
                </a:solidFill>
              </a:rPr>
              <a:t>UML</a:t>
            </a:r>
            <a:endParaRPr lang="en-US" sz="2200" dirty="0"/>
          </a:p>
        </p:txBody>
      </p:sp>
      <p:sp>
        <p:nvSpPr>
          <p:cNvPr id="12" name="Texte methode 2"/>
          <p:cNvSpPr txBox="1"/>
          <p:nvPr/>
        </p:nvSpPr>
        <p:spPr>
          <a:xfrm>
            <a:off x="4023360" y="3566160"/>
            <a:ext cx="2514600" cy="822960"/>
          </a:xfrm>
          <a:prstGeom prst="rect">
            <a:avLst/>
          </a:prstGeom>
          <a:noFill/>
          <a:ln/>
        </p:spPr>
        <p:txBody>
          <a:bodyPr wrap="square" lIns="0" tIns="0" rIns="0" bIns="0" rtlCol="0" anchor="t"/>
          <a:lstStyle/>
          <a:p>
            <a:pPr algn="ctr" indent="0" marL="0">
              <a:buNone/>
            </a:pPr>
            <a:r>
              <a:rPr lang="en-US" sz="1500" dirty="0">
                <a:solidFill>
                  <a:schemeClr val="tx1"/>
                </a:solidFill>
              </a:rPr>
              <a:t>Langage de modélisation</a:t>
            </a:r>
            <a:endParaRPr lang="en-US" sz="1500" dirty="0"/>
          </a:p>
        </p:txBody>
      </p:sp>
      <p:sp>
        <p:nvSpPr>
          <p:cNvPr id="13" name="Carte methode 3"/>
          <p:cNvSpPr/>
          <p:nvPr/>
        </p:nvSpPr>
        <p:spPr>
          <a:xfrm>
            <a:off x="7040880" y="1600200"/>
            <a:ext cx="2971800" cy="3017520"/>
          </a:xfrm>
          <a:prstGeom prst="roundRect">
            <a:avLst>
              <a:gd name="adj" fmla="val 3692"/>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4" name="Methode 3 cercle"/>
          <p:cNvSpPr/>
          <p:nvPr/>
        </p:nvSpPr>
        <p:spPr>
          <a:xfrm>
            <a:off x="8019288" y="1874520"/>
            <a:ext cx="1005840" cy="1005840"/>
          </a:xfrm>
          <a:prstGeom prst="ellipse">
            <a:avLst/>
          </a:prstGeom>
          <a:solidFill>
            <a:schemeClr val="accent5"/>
          </a:solidFill>
          <a:ln w="12700">
            <a:solidFill>
              <a:schemeClr val="accent5"/>
            </a:solidFill>
            <a:prstDash val="solid"/>
          </a:ln>
        </p:spPr>
      </p:sp>
      <p:pic>
        <p:nvPicPr>
          <p:cNvPr id="15" name="Methode 3 icone" descr="preencoded.png">    </p:cNvPr>
          <p:cNvPicPr>
            <a:picLocks noChangeAspect="1"/>
          </p:cNvPicPr>
          <p:nvPr/>
        </p:nvPicPr>
        <p:blipFill>
          <a:blip r:embed="rId3"/>
          <a:stretch>
            <a:fillRect/>
          </a:stretch>
        </p:blipFill>
        <p:spPr>
          <a:xfrm>
            <a:off x="8260690" y="2115922"/>
            <a:ext cx="523037" cy="523037"/>
          </a:xfrm>
          <a:prstGeom prst="rect">
            <a:avLst/>
          </a:prstGeom>
        </p:spPr>
      </p:pic>
      <p:sp>
        <p:nvSpPr>
          <p:cNvPr id="16" name="Titre methode 3"/>
          <p:cNvSpPr txBox="1"/>
          <p:nvPr/>
        </p:nvSpPr>
        <p:spPr>
          <a:xfrm>
            <a:off x="7223760" y="3063240"/>
            <a:ext cx="2606040" cy="457200"/>
          </a:xfrm>
          <a:prstGeom prst="rect">
            <a:avLst/>
          </a:prstGeom>
          <a:noFill/>
          <a:ln/>
        </p:spPr>
        <p:txBody>
          <a:bodyPr wrap="square" lIns="0" tIns="0" rIns="0" bIns="0" rtlCol="0" anchor="t"/>
          <a:lstStyle/>
          <a:p>
            <a:pPr algn="ctr" indent="0" marL="0">
              <a:buNone/>
            </a:pPr>
            <a:r>
              <a:rPr lang="en-US" sz="2200" b="1" dirty="0">
                <a:solidFill>
                  <a:schemeClr val="tx2"/>
                </a:solidFill>
              </a:rPr>
              <a:t>Visual Paradigm</a:t>
            </a:r>
            <a:endParaRPr lang="en-US" sz="2200" dirty="0"/>
          </a:p>
        </p:txBody>
      </p:sp>
      <p:sp>
        <p:nvSpPr>
          <p:cNvPr id="17" name="Texte methode 3"/>
          <p:cNvSpPr txBox="1"/>
          <p:nvPr/>
        </p:nvSpPr>
        <p:spPr>
          <a:xfrm>
            <a:off x="7269480" y="3566160"/>
            <a:ext cx="2514600" cy="822960"/>
          </a:xfrm>
          <a:prstGeom prst="rect">
            <a:avLst/>
          </a:prstGeom>
          <a:noFill/>
          <a:ln/>
        </p:spPr>
        <p:txBody>
          <a:bodyPr wrap="square" lIns="0" tIns="0" rIns="0" bIns="0" rtlCol="0" anchor="t"/>
          <a:lstStyle/>
          <a:p>
            <a:pPr algn="ctr" indent="0" marL="0">
              <a:buNone/>
            </a:pPr>
            <a:r>
              <a:rPr lang="en-US" sz="1500" dirty="0">
                <a:solidFill>
                  <a:schemeClr val="tx1"/>
                </a:solidFill>
              </a:rPr>
              <a:t>Outil de conception</a:t>
            </a:r>
            <a:endParaRPr lang="en-US" sz="1500" dirty="0"/>
          </a:p>
        </p:txBody>
      </p:sp>
      <p:sp>
        <p:nvSpPr>
          <p:cNvPr id="18" name="Justification"/>
          <p:cNvSpPr txBox="1"/>
          <p:nvPr/>
        </p:nvSpPr>
        <p:spPr>
          <a:xfrm>
            <a:off x="548640" y="4983480"/>
            <a:ext cx="9418320" cy="457200"/>
          </a:xfrm>
          <a:prstGeom prst="rect">
            <a:avLst/>
          </a:prstGeom>
          <a:noFill/>
          <a:ln/>
        </p:spPr>
        <p:txBody>
          <a:bodyPr wrap="square" lIns="0" tIns="0" rIns="0" bIns="0" rtlCol="0" anchor="t"/>
          <a:lstStyle/>
          <a:p>
            <a:pPr indent="0" marL="0">
              <a:buNone/>
            </a:pPr>
            <a:r>
              <a:rPr lang="en-US" sz="1700" i="1" dirty="0">
                <a:solidFill>
                  <a:schemeClr val="accent2"/>
                </a:solidFill>
              </a:rPr>
              <a:t>Scrum : souple, itératif, avec des livraisons régulières au Product Owner.</a:t>
            </a:r>
            <a:endParaRPr lang="en-US" sz="17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66"/>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32"/>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498"/>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664"/>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83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996"/>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162"/>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328"/>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494"/>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66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826"/>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992"/>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2158"/>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2324"/>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249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6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2656"/>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fill="hold"/>
                                        <p:tgtEl>
                                          <p:spTgt spid="18"/>
                                        </p:tgtEl>
                                        <p:attrNameLst>
                                          <p:attrName>ppt_x</p:attrName>
                                        </p:attrNameLst>
                                      </p:cBhvr>
                                      <p:tavLst>
                                        <p:tav tm="0">
                                          <p:val>
                                            <p:strVal val="#ppt_x"/>
                                          </p:val>
                                        </p:tav>
                                        <p:tav tm="100000">
                                          <p:val>
                                            <p:strVal val="#ppt_x"/>
                                          </p:val>
                                        </p:tav>
                                      </p:tavLst>
                                    </p:anim>
                                    <p:anim calcmode="lin" valueType="num">
                                      <p:cBhvr>
                                        <p:cTn id="89" dur="6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2822"/>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600"/>
                                        <p:tgtEl>
                                          <p:spTgt spid="25"/>
                                        </p:tgtEl>
                                      </p:cBhvr>
                                    </p:animEffect>
                                    <p:anim calcmode="lin" valueType="num">
                                      <p:cBhvr>
                                        <p:cTn id="93" dur="600" fill="hold"/>
                                        <p:tgtEl>
                                          <p:spTgt spid="25"/>
                                        </p:tgtEl>
                                        <p:attrNameLst>
                                          <p:attrName>ppt_x</p:attrName>
                                        </p:attrNameLst>
                                      </p:cBhvr>
                                      <p:tavLst>
                                        <p:tav tm="0">
                                          <p:val>
                                            <p:strVal val="#ppt_x"/>
                                          </p:val>
                                        </p:tav>
                                        <p:tav tm="100000">
                                          <p:val>
                                            <p:strVal val="#ppt_x"/>
                                          </p:val>
                                        </p:tav>
                                      </p:tavLst>
                                    </p:anim>
                                    <p:anim calcmode="lin" valueType="num">
                                      <p:cBhvr>
                                        <p:cTn id="9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La méthode Scrum</a:t>
            </a:r>
            <a:endParaRPr lang="en-US" sz="3200" dirty="0"/>
          </a:p>
        </p:txBody>
      </p:sp>
      <p:pic>
        <p:nvPicPr>
          <p:cNvPr id="3" name="Infographie Scrum" descr="Infographie Scrum">    </p:cNvPr>
          <p:cNvPicPr>
            <a:picLocks noChangeAspect="1"/>
          </p:cNvPicPr>
          <p:nvPr/>
        </p:nvPicPr>
        <p:blipFill>
          <a:blip r:embed="rId1"/>
          <a:stretch>
            <a:fillRect/>
          </a:stretch>
        </p:blipFill>
        <p:spPr>
          <a:xfrm>
            <a:off x="640080" y="1417320"/>
            <a:ext cx="9326880" cy="4663440"/>
          </a:xfrm>
          <a:prstGeom prst="rect">
            <a:avLst/>
          </a:prstGeom>
        </p:spPr>
      </p:pic>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600"/>
                                        <p:tgtEl>
                                          <p:spTgt spid="25"/>
                                        </p:tgtEl>
                                      </p:cBhvr>
                                    </p:animEffect>
                                    <p:anim calcmode="lin" valueType="num">
                                      <p:cBhvr>
                                        <p:cTn id="18" dur="600" fill="hold"/>
                                        <p:tgtEl>
                                          <p:spTgt spid="25"/>
                                        </p:tgtEl>
                                        <p:attrNameLst>
                                          <p:attrName>ppt_x</p:attrName>
                                        </p:attrNameLst>
                                      </p:cBhvr>
                                      <p:tavLst>
                                        <p:tav tm="0">
                                          <p:val>
                                            <p:strVal val="#ppt_x"/>
                                          </p:val>
                                        </p:tav>
                                        <p:tav tm="100000">
                                          <p:val>
                                            <p:strVal val="#ppt_x"/>
                                          </p:val>
                                        </p:tav>
                                      </p:tavLst>
                                    </p:anim>
                                    <p:anim calcmode="lin" valueType="num">
                                      <p:cBhvr>
                                        <p:cTn id="1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L’équipe Scrum</a:t>
            </a:r>
            <a:endParaRPr lang="en-US" sz="3200" dirty="0"/>
          </a:p>
        </p:txBody>
      </p:sp>
      <p:sp>
        <p:nvSpPr>
          <p:cNvPr id="3" name="Carte equipe 1"/>
          <p:cNvSpPr/>
          <p:nvPr/>
        </p:nvSpPr>
        <p:spPr>
          <a:xfrm>
            <a:off x="548640" y="1600200"/>
            <a:ext cx="2971800" cy="3657600"/>
          </a:xfrm>
          <a:prstGeom prst="roundRect">
            <a:avLst>
              <a:gd name="adj" fmla="val 3692"/>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4" name="Equipe 1 cercle"/>
          <p:cNvSpPr/>
          <p:nvPr/>
        </p:nvSpPr>
        <p:spPr>
          <a:xfrm>
            <a:off x="1481328" y="1828800"/>
            <a:ext cx="1097280" cy="1097280"/>
          </a:xfrm>
          <a:prstGeom prst="ellipse">
            <a:avLst/>
          </a:prstGeom>
          <a:solidFill>
            <a:schemeClr val="accent1"/>
          </a:solidFill>
          <a:ln w="12700">
            <a:solidFill>
              <a:schemeClr val="accent1"/>
            </a:solidFill>
            <a:prstDash val="solid"/>
          </a:ln>
        </p:spPr>
      </p:sp>
      <p:pic>
        <p:nvPicPr>
          <p:cNvPr id="5" name="Equipe 1 icone" descr="preencoded.png">    </p:cNvPr>
          <p:cNvPicPr>
            <a:picLocks noChangeAspect="1"/>
          </p:cNvPicPr>
          <p:nvPr/>
        </p:nvPicPr>
        <p:blipFill>
          <a:blip r:embed="rId1"/>
          <a:stretch>
            <a:fillRect/>
          </a:stretch>
        </p:blipFill>
        <p:spPr>
          <a:xfrm>
            <a:off x="1744675" y="2092147"/>
            <a:ext cx="570586" cy="570586"/>
          </a:xfrm>
          <a:prstGeom prst="rect">
            <a:avLst/>
          </a:prstGeom>
        </p:spPr>
      </p:pic>
      <p:sp>
        <p:nvSpPr>
          <p:cNvPr id="6" name="Role 1"/>
          <p:cNvSpPr txBox="1"/>
          <p:nvPr/>
        </p:nvSpPr>
        <p:spPr>
          <a:xfrm>
            <a:off x="685800" y="3108960"/>
            <a:ext cx="2697480" cy="457200"/>
          </a:xfrm>
          <a:prstGeom prst="rect">
            <a:avLst/>
          </a:prstGeom>
          <a:noFill/>
          <a:ln/>
        </p:spPr>
        <p:txBody>
          <a:bodyPr wrap="square" lIns="0" tIns="0" rIns="0" bIns="0" rtlCol="0" anchor="t"/>
          <a:lstStyle/>
          <a:p>
            <a:pPr algn="ctr" indent="0" marL="0">
              <a:buNone/>
            </a:pPr>
            <a:r>
              <a:rPr lang="en-US" sz="1900" b="1" dirty="0">
                <a:solidFill>
                  <a:schemeClr val="tx2"/>
                </a:solidFill>
              </a:rPr>
              <a:t>Product Owner</a:t>
            </a:r>
            <a:endParaRPr lang="en-US" sz="1900" dirty="0"/>
          </a:p>
        </p:txBody>
      </p:sp>
      <p:sp>
        <p:nvSpPr>
          <p:cNvPr id="7" name="Nom 1"/>
          <p:cNvSpPr txBox="1"/>
          <p:nvPr/>
        </p:nvSpPr>
        <p:spPr>
          <a:xfrm>
            <a:off x="685800" y="3611880"/>
            <a:ext cx="2697480" cy="640080"/>
          </a:xfrm>
          <a:prstGeom prst="rect">
            <a:avLst/>
          </a:prstGeom>
          <a:noFill/>
          <a:ln/>
        </p:spPr>
        <p:txBody>
          <a:bodyPr wrap="square" lIns="0" tIns="0" rIns="0" bIns="0" rtlCol="0" anchor="t"/>
          <a:lstStyle/>
          <a:p>
            <a:pPr algn="ctr" indent="0" marL="0">
              <a:buNone/>
            </a:pPr>
            <a:r>
              <a:rPr lang="en-US" sz="1500" b="1" dirty="0">
                <a:solidFill>
                  <a:schemeClr val="accent2"/>
                </a:solidFill>
              </a:rPr>
              <a:t>M. ANDRIANTSOA Herinirina Toky</a:t>
            </a:r>
            <a:endParaRPr lang="en-US" sz="1500" dirty="0"/>
          </a:p>
        </p:txBody>
      </p:sp>
      <p:sp>
        <p:nvSpPr>
          <p:cNvPr id="8" name="Mission 1"/>
          <p:cNvSpPr txBox="1"/>
          <p:nvPr/>
        </p:nvSpPr>
        <p:spPr>
          <a:xfrm>
            <a:off x="731520" y="4297680"/>
            <a:ext cx="2606040" cy="731520"/>
          </a:xfrm>
          <a:prstGeom prst="rect">
            <a:avLst/>
          </a:prstGeom>
          <a:noFill/>
          <a:ln/>
        </p:spPr>
        <p:txBody>
          <a:bodyPr wrap="square" lIns="0" tIns="0" rIns="0" bIns="0" rtlCol="0" anchor="t"/>
          <a:lstStyle/>
          <a:p>
            <a:pPr algn="ctr" indent="0" marL="0">
              <a:buNone/>
            </a:pPr>
            <a:r>
              <a:rPr lang="en-US" sz="1400" dirty="0">
                <a:solidFill>
                  <a:schemeClr val="tx1"/>
                </a:solidFill>
              </a:rPr>
              <a:t>Exprime et priorise les besoins</a:t>
            </a:r>
            <a:endParaRPr lang="en-US" sz="1400" dirty="0"/>
          </a:p>
        </p:txBody>
      </p:sp>
      <p:sp>
        <p:nvSpPr>
          <p:cNvPr id="9" name="Carte equipe 2"/>
          <p:cNvSpPr/>
          <p:nvPr/>
        </p:nvSpPr>
        <p:spPr>
          <a:xfrm>
            <a:off x="3794760" y="1600200"/>
            <a:ext cx="2971800" cy="3657600"/>
          </a:xfrm>
          <a:prstGeom prst="roundRect">
            <a:avLst>
              <a:gd name="adj" fmla="val 3692"/>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0" name="Equipe 2 cercle"/>
          <p:cNvSpPr/>
          <p:nvPr/>
        </p:nvSpPr>
        <p:spPr>
          <a:xfrm>
            <a:off x="4727448" y="1828800"/>
            <a:ext cx="1097280" cy="1097280"/>
          </a:xfrm>
          <a:prstGeom prst="ellipse">
            <a:avLst/>
          </a:prstGeom>
          <a:solidFill>
            <a:schemeClr val="accent2"/>
          </a:solidFill>
          <a:ln w="12700">
            <a:solidFill>
              <a:schemeClr val="accent2"/>
            </a:solidFill>
            <a:prstDash val="solid"/>
          </a:ln>
        </p:spPr>
      </p:sp>
      <p:pic>
        <p:nvPicPr>
          <p:cNvPr id="11" name="Equipe 2 icone" descr="preencoded.png">    </p:cNvPr>
          <p:cNvPicPr>
            <a:picLocks noChangeAspect="1"/>
          </p:cNvPicPr>
          <p:nvPr/>
        </p:nvPicPr>
        <p:blipFill>
          <a:blip r:embed="rId2"/>
          <a:stretch>
            <a:fillRect/>
          </a:stretch>
        </p:blipFill>
        <p:spPr>
          <a:xfrm>
            <a:off x="4990795" y="2092147"/>
            <a:ext cx="570586" cy="570586"/>
          </a:xfrm>
          <a:prstGeom prst="rect">
            <a:avLst/>
          </a:prstGeom>
        </p:spPr>
      </p:pic>
      <p:sp>
        <p:nvSpPr>
          <p:cNvPr id="12" name="Role 2"/>
          <p:cNvSpPr txBox="1"/>
          <p:nvPr/>
        </p:nvSpPr>
        <p:spPr>
          <a:xfrm>
            <a:off x="3931920" y="3108960"/>
            <a:ext cx="2697480" cy="457200"/>
          </a:xfrm>
          <a:prstGeom prst="rect">
            <a:avLst/>
          </a:prstGeom>
          <a:noFill/>
          <a:ln/>
        </p:spPr>
        <p:txBody>
          <a:bodyPr wrap="square" lIns="0" tIns="0" rIns="0" bIns="0" rtlCol="0" anchor="t"/>
          <a:lstStyle/>
          <a:p>
            <a:pPr algn="ctr" indent="0" marL="0">
              <a:buNone/>
            </a:pPr>
            <a:r>
              <a:rPr lang="en-US" sz="1900" b="1" dirty="0">
                <a:solidFill>
                  <a:schemeClr val="tx2"/>
                </a:solidFill>
              </a:rPr>
              <a:t>Scrum Master</a:t>
            </a:r>
            <a:endParaRPr lang="en-US" sz="1900" dirty="0"/>
          </a:p>
        </p:txBody>
      </p:sp>
      <p:sp>
        <p:nvSpPr>
          <p:cNvPr id="13" name="Nom 2"/>
          <p:cNvSpPr txBox="1"/>
          <p:nvPr/>
        </p:nvSpPr>
        <p:spPr>
          <a:xfrm>
            <a:off x="3931920" y="3611880"/>
            <a:ext cx="2697480" cy="640080"/>
          </a:xfrm>
          <a:prstGeom prst="rect">
            <a:avLst/>
          </a:prstGeom>
          <a:noFill/>
          <a:ln/>
        </p:spPr>
        <p:txBody>
          <a:bodyPr wrap="square" lIns="0" tIns="0" rIns="0" bIns="0" rtlCol="0" anchor="t"/>
          <a:lstStyle/>
          <a:p>
            <a:pPr algn="ctr" indent="0" marL="0">
              <a:buNone/>
            </a:pPr>
            <a:r>
              <a:rPr lang="en-US" sz="1500" b="1" dirty="0">
                <a:solidFill>
                  <a:schemeClr val="accent2"/>
                </a:solidFill>
              </a:rPr>
              <a:t>M. RAZAFIMAHATRATRA Hajarisena</a:t>
            </a:r>
            <a:endParaRPr lang="en-US" sz="1500" dirty="0"/>
          </a:p>
        </p:txBody>
      </p:sp>
      <p:sp>
        <p:nvSpPr>
          <p:cNvPr id="14" name="Mission 2"/>
          <p:cNvSpPr txBox="1"/>
          <p:nvPr/>
        </p:nvSpPr>
        <p:spPr>
          <a:xfrm>
            <a:off x="3977640" y="4297680"/>
            <a:ext cx="2606040" cy="731520"/>
          </a:xfrm>
          <a:prstGeom prst="rect">
            <a:avLst/>
          </a:prstGeom>
          <a:noFill/>
          <a:ln/>
        </p:spPr>
        <p:txBody>
          <a:bodyPr wrap="square" lIns="0" tIns="0" rIns="0" bIns="0" rtlCol="0" anchor="t"/>
          <a:lstStyle/>
          <a:p>
            <a:pPr algn="ctr" indent="0" marL="0">
              <a:buNone/>
            </a:pPr>
            <a:r>
              <a:rPr lang="en-US" sz="1400" dirty="0">
                <a:solidFill>
                  <a:schemeClr val="tx1"/>
                </a:solidFill>
              </a:rPr>
              <a:t>Guide et lève les obstacles</a:t>
            </a:r>
            <a:endParaRPr lang="en-US" sz="1400" dirty="0"/>
          </a:p>
        </p:txBody>
      </p:sp>
      <p:sp>
        <p:nvSpPr>
          <p:cNvPr id="15" name="Carte equipe 3"/>
          <p:cNvSpPr/>
          <p:nvPr/>
        </p:nvSpPr>
        <p:spPr>
          <a:xfrm>
            <a:off x="7040880" y="1600200"/>
            <a:ext cx="2971800" cy="3657600"/>
          </a:xfrm>
          <a:prstGeom prst="roundRect">
            <a:avLst>
              <a:gd name="adj" fmla="val 3692"/>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6" name="Equipe 3 cercle"/>
          <p:cNvSpPr/>
          <p:nvPr/>
        </p:nvSpPr>
        <p:spPr>
          <a:xfrm>
            <a:off x="7973568" y="1828800"/>
            <a:ext cx="1097280" cy="1097280"/>
          </a:xfrm>
          <a:prstGeom prst="ellipse">
            <a:avLst/>
          </a:prstGeom>
          <a:solidFill>
            <a:schemeClr val="accent5"/>
          </a:solidFill>
          <a:ln w="12700">
            <a:solidFill>
              <a:schemeClr val="accent5"/>
            </a:solidFill>
            <a:prstDash val="solid"/>
          </a:ln>
        </p:spPr>
      </p:sp>
      <p:pic>
        <p:nvPicPr>
          <p:cNvPr id="17" name="Equipe 3 icone" descr="preencoded.png">    </p:cNvPr>
          <p:cNvPicPr>
            <a:picLocks noChangeAspect="1"/>
          </p:cNvPicPr>
          <p:nvPr/>
        </p:nvPicPr>
        <p:blipFill>
          <a:blip r:embed="rId3"/>
          <a:stretch>
            <a:fillRect/>
          </a:stretch>
        </p:blipFill>
        <p:spPr>
          <a:xfrm>
            <a:off x="8236915" y="2092147"/>
            <a:ext cx="570586" cy="570586"/>
          </a:xfrm>
          <a:prstGeom prst="rect">
            <a:avLst/>
          </a:prstGeom>
        </p:spPr>
      </p:pic>
      <p:sp>
        <p:nvSpPr>
          <p:cNvPr id="18" name="Role 3"/>
          <p:cNvSpPr txBox="1"/>
          <p:nvPr/>
        </p:nvSpPr>
        <p:spPr>
          <a:xfrm>
            <a:off x="7178040" y="3108960"/>
            <a:ext cx="2697480" cy="457200"/>
          </a:xfrm>
          <a:prstGeom prst="rect">
            <a:avLst/>
          </a:prstGeom>
          <a:noFill/>
          <a:ln/>
        </p:spPr>
        <p:txBody>
          <a:bodyPr wrap="square" lIns="0" tIns="0" rIns="0" bIns="0" rtlCol="0" anchor="t"/>
          <a:lstStyle/>
          <a:p>
            <a:pPr algn="ctr" indent="0" marL="0">
              <a:buNone/>
            </a:pPr>
            <a:r>
              <a:rPr lang="en-US" sz="1900" b="1" dirty="0">
                <a:solidFill>
                  <a:schemeClr val="tx2"/>
                </a:solidFill>
              </a:rPr>
              <a:t>Équipe de développement</a:t>
            </a:r>
            <a:endParaRPr lang="en-US" sz="1900" dirty="0"/>
          </a:p>
        </p:txBody>
      </p:sp>
      <p:sp>
        <p:nvSpPr>
          <p:cNvPr id="19" name="Nom 3"/>
          <p:cNvSpPr txBox="1"/>
          <p:nvPr/>
        </p:nvSpPr>
        <p:spPr>
          <a:xfrm>
            <a:off x="7178040" y="3611880"/>
            <a:ext cx="2697480" cy="640080"/>
          </a:xfrm>
          <a:prstGeom prst="rect">
            <a:avLst/>
          </a:prstGeom>
          <a:noFill/>
          <a:ln/>
        </p:spPr>
        <p:txBody>
          <a:bodyPr wrap="square" lIns="0" tIns="0" rIns="0" bIns="0" rtlCol="0" anchor="t"/>
          <a:lstStyle/>
          <a:p>
            <a:pPr algn="ctr" indent="0" marL="0">
              <a:buNone/>
            </a:pPr>
            <a:r>
              <a:rPr lang="en-US" sz="1500" b="1" dirty="0">
                <a:solidFill>
                  <a:schemeClr val="accent2"/>
                </a:solidFill>
              </a:rPr>
              <a:t>NOMENJANAHARY Heritina Johnny</a:t>
            </a:r>
            <a:endParaRPr lang="en-US" sz="1500" dirty="0"/>
          </a:p>
        </p:txBody>
      </p:sp>
      <p:sp>
        <p:nvSpPr>
          <p:cNvPr id="20" name="Mission 3"/>
          <p:cNvSpPr txBox="1"/>
          <p:nvPr/>
        </p:nvSpPr>
        <p:spPr>
          <a:xfrm>
            <a:off x="7223760" y="4297680"/>
            <a:ext cx="2606040" cy="731520"/>
          </a:xfrm>
          <a:prstGeom prst="rect">
            <a:avLst/>
          </a:prstGeom>
          <a:noFill/>
          <a:ln/>
        </p:spPr>
        <p:txBody>
          <a:bodyPr wrap="square" lIns="0" tIns="0" rIns="0" bIns="0" rtlCol="0" anchor="t"/>
          <a:lstStyle/>
          <a:p>
            <a:pPr algn="ctr" indent="0" marL="0">
              <a:buNone/>
            </a:pPr>
            <a:r>
              <a:rPr lang="en-US" sz="1400" dirty="0">
                <a:solidFill>
                  <a:schemeClr val="tx1"/>
                </a:solidFill>
              </a:rPr>
              <a:t>Analyse, conçoit, développe, teste</a:t>
            </a:r>
            <a:endParaRPr lang="en-US" sz="14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0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45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60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75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90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05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20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35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5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65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80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195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210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225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6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240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fill="hold"/>
                                        <p:tgtEl>
                                          <p:spTgt spid="18"/>
                                        </p:tgtEl>
                                        <p:attrNameLst>
                                          <p:attrName>ppt_x</p:attrName>
                                        </p:attrNameLst>
                                      </p:cBhvr>
                                      <p:tavLst>
                                        <p:tav tm="0">
                                          <p:val>
                                            <p:strVal val="#ppt_x"/>
                                          </p:val>
                                        </p:tav>
                                        <p:tav tm="100000">
                                          <p:val>
                                            <p:strVal val="#ppt_x"/>
                                          </p:val>
                                        </p:tav>
                                      </p:tavLst>
                                    </p:anim>
                                    <p:anim calcmode="lin" valueType="num">
                                      <p:cBhvr>
                                        <p:cTn id="89" dur="6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255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fill="hold"/>
                                        <p:tgtEl>
                                          <p:spTgt spid="19"/>
                                        </p:tgtEl>
                                        <p:attrNameLst>
                                          <p:attrName>ppt_x</p:attrName>
                                        </p:attrNameLst>
                                      </p:cBhvr>
                                      <p:tavLst>
                                        <p:tav tm="0">
                                          <p:val>
                                            <p:strVal val="#ppt_x"/>
                                          </p:val>
                                        </p:tav>
                                        <p:tav tm="100000">
                                          <p:val>
                                            <p:strVal val="#ppt_x"/>
                                          </p:val>
                                        </p:tav>
                                      </p:tavLst>
                                    </p:anim>
                                    <p:anim calcmode="lin" valueType="num">
                                      <p:cBhvr>
                                        <p:cTn id="94" dur="6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270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285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600"/>
                                        <p:tgtEl>
                                          <p:spTgt spid="25"/>
                                        </p:tgtEl>
                                      </p:cBhvr>
                                    </p:animEffect>
                                    <p:anim calcmode="lin" valueType="num">
                                      <p:cBhvr>
                                        <p:cTn id="103" dur="600" fill="hold"/>
                                        <p:tgtEl>
                                          <p:spTgt spid="25"/>
                                        </p:tgtEl>
                                        <p:attrNameLst>
                                          <p:attrName>ppt_x</p:attrName>
                                        </p:attrNameLst>
                                      </p:cBhvr>
                                      <p:tavLst>
                                        <p:tav tm="0">
                                          <p:val>
                                            <p:strVal val="#ppt_x"/>
                                          </p:val>
                                        </p:tav>
                                        <p:tav tm="100000">
                                          <p:val>
                                            <p:strVal val="#ppt_x"/>
                                          </p:val>
                                        </p:tav>
                                      </p:tavLst>
                                    </p:anim>
                                    <p:anim calcmode="lin" valueType="num">
                                      <p:cBhvr>
                                        <p:cTn id="10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Diagramme de cas d’utilisation</a:t>
            </a:r>
            <a:endParaRPr lang="en-US" sz="3200" dirty="0"/>
          </a:p>
        </p:txBody>
      </p:sp>
      <p:pic>
        <p:nvPicPr>
          <p:cNvPr id="3" name="Cas utilisation global" descr="Cas utilisation global">    </p:cNvPr>
          <p:cNvPicPr>
            <a:picLocks noChangeAspect="1"/>
          </p:cNvPicPr>
          <p:nvPr/>
        </p:nvPicPr>
        <p:blipFill>
          <a:blip r:embed="rId1"/>
          <a:stretch>
            <a:fillRect/>
          </a:stretch>
        </p:blipFill>
        <p:spPr>
          <a:xfrm>
            <a:off x="6051071" y="1234440"/>
            <a:ext cx="3716978" cy="5074920"/>
          </a:xfrm>
          <a:prstGeom prst="rect">
            <a:avLst/>
          </a:prstGeom>
        </p:spPr>
      </p:pic>
      <p:sp>
        <p:nvSpPr>
          <p:cNvPr id="4" name="Cas utilisation global cadre"/>
          <p:cNvSpPr/>
          <p:nvPr/>
        </p:nvSpPr>
        <p:spPr>
          <a:xfrm>
            <a:off x="6051071" y="1234440"/>
            <a:ext cx="3716978" cy="5074920"/>
          </a:xfrm>
          <a:prstGeom prst="rect">
            <a:avLst/>
          </a:prstGeom>
          <a:ln w="12700">
            <a:solidFill>
              <a:srgbClr val="C9DED6"/>
            </a:solidFill>
            <a:prstDash val="solid"/>
          </a:ln>
        </p:spPr>
      </p:sp>
      <p:sp>
        <p:nvSpPr>
          <p:cNvPr id="5" name="Acteur 1 cercle"/>
          <p:cNvSpPr/>
          <p:nvPr/>
        </p:nvSpPr>
        <p:spPr>
          <a:xfrm>
            <a:off x="548640" y="1463040"/>
            <a:ext cx="731520" cy="731520"/>
          </a:xfrm>
          <a:prstGeom prst="ellipse">
            <a:avLst/>
          </a:prstGeom>
          <a:solidFill>
            <a:schemeClr val="accent2"/>
          </a:solidFill>
          <a:ln w="12700">
            <a:solidFill>
              <a:schemeClr val="accent2"/>
            </a:solidFill>
            <a:prstDash val="solid"/>
          </a:ln>
        </p:spPr>
      </p:sp>
      <p:pic>
        <p:nvPicPr>
          <p:cNvPr id="6" name="Acteur 1 icone" descr="preencoded.png">    </p:cNvPr>
          <p:cNvPicPr>
            <a:picLocks noChangeAspect="1"/>
          </p:cNvPicPr>
          <p:nvPr/>
        </p:nvPicPr>
        <p:blipFill>
          <a:blip r:embed="rId2"/>
          <a:stretch>
            <a:fillRect/>
          </a:stretch>
        </p:blipFill>
        <p:spPr>
          <a:xfrm>
            <a:off x="724205" y="1638605"/>
            <a:ext cx="380390" cy="380390"/>
          </a:xfrm>
          <a:prstGeom prst="rect">
            <a:avLst/>
          </a:prstGeom>
        </p:spPr>
      </p:pic>
      <p:sp>
        <p:nvSpPr>
          <p:cNvPr id="7" name="Texte acteur 1"/>
          <p:cNvSpPr txBox="1"/>
          <p:nvPr/>
        </p:nvSpPr>
        <p:spPr>
          <a:xfrm>
            <a:off x="1463040" y="1463040"/>
            <a:ext cx="3931920" cy="777240"/>
          </a:xfrm>
          <a:prstGeom prst="rect">
            <a:avLst/>
          </a:prstGeom>
          <a:noFill/>
          <a:ln/>
        </p:spPr>
        <p:txBody>
          <a:bodyPr wrap="square" lIns="0" tIns="0" rIns="0" bIns="0" rtlCol="0" anchor="ctr"/>
          <a:lstStyle/>
          <a:p>
            <a:pPr indent="0" marL="0">
              <a:buNone/>
            </a:pPr>
            <a:r>
              <a:rPr lang="en-US" sz="1800" b="1" dirty="0">
                <a:solidFill>
                  <a:schemeClr val="tx2"/>
                </a:solidFill>
              </a:rPr>
              <a:t>Patient</a:t>
            </a:r>
            <a:endParaRPr lang="en-US" sz="1800" dirty="0"/>
          </a:p>
          <a:p>
            <a:pPr indent="0" marL="0">
              <a:buNone/>
            </a:pPr>
            <a:r>
              <a:rPr lang="en-US" sz="1500" dirty="0">
                <a:solidFill>
                  <a:schemeClr val="tx1"/>
                </a:solidFill>
              </a:rPr>
              <a:t>réserve, annule, reçoit les rappels</a:t>
            </a:r>
            <a:endParaRPr lang="en-US" sz="1800" dirty="0"/>
          </a:p>
        </p:txBody>
      </p:sp>
      <p:sp>
        <p:nvSpPr>
          <p:cNvPr id="8" name="Acteur 2 cercle"/>
          <p:cNvSpPr/>
          <p:nvPr/>
        </p:nvSpPr>
        <p:spPr>
          <a:xfrm>
            <a:off x="548640" y="2651760"/>
            <a:ext cx="731520" cy="731520"/>
          </a:xfrm>
          <a:prstGeom prst="ellipse">
            <a:avLst/>
          </a:prstGeom>
          <a:solidFill>
            <a:schemeClr val="accent1"/>
          </a:solidFill>
          <a:ln w="12700">
            <a:solidFill>
              <a:schemeClr val="accent1"/>
            </a:solidFill>
            <a:prstDash val="solid"/>
          </a:ln>
        </p:spPr>
      </p:sp>
      <p:pic>
        <p:nvPicPr>
          <p:cNvPr id="9" name="Acteur 2 icone" descr="preencoded.png">    </p:cNvPr>
          <p:cNvPicPr>
            <a:picLocks noChangeAspect="1"/>
          </p:cNvPicPr>
          <p:nvPr/>
        </p:nvPicPr>
        <p:blipFill>
          <a:blip r:embed="rId3"/>
          <a:stretch>
            <a:fillRect/>
          </a:stretch>
        </p:blipFill>
        <p:spPr>
          <a:xfrm>
            <a:off x="724205" y="2827325"/>
            <a:ext cx="380390" cy="380390"/>
          </a:xfrm>
          <a:prstGeom prst="rect">
            <a:avLst/>
          </a:prstGeom>
        </p:spPr>
      </p:pic>
      <p:sp>
        <p:nvSpPr>
          <p:cNvPr id="10" name="Texte acteur 2"/>
          <p:cNvSpPr txBox="1"/>
          <p:nvPr/>
        </p:nvSpPr>
        <p:spPr>
          <a:xfrm>
            <a:off x="1463040" y="2651760"/>
            <a:ext cx="3931920" cy="777240"/>
          </a:xfrm>
          <a:prstGeom prst="rect">
            <a:avLst/>
          </a:prstGeom>
          <a:noFill/>
          <a:ln/>
        </p:spPr>
        <p:txBody>
          <a:bodyPr wrap="square" lIns="0" tIns="0" rIns="0" bIns="0" rtlCol="0" anchor="ctr"/>
          <a:lstStyle/>
          <a:p>
            <a:pPr indent="0" marL="0">
              <a:buNone/>
            </a:pPr>
            <a:r>
              <a:rPr lang="en-US" sz="1800" b="1" dirty="0">
                <a:solidFill>
                  <a:schemeClr val="tx2"/>
                </a:solidFill>
              </a:rPr>
              <a:t>Administrateur</a:t>
            </a:r>
            <a:endParaRPr lang="en-US" sz="1800" dirty="0"/>
          </a:p>
          <a:p>
            <a:pPr indent="0" marL="0">
              <a:buNone/>
            </a:pPr>
            <a:r>
              <a:rPr lang="en-US" sz="1500" dirty="0">
                <a:solidFill>
                  <a:schemeClr val="tx1"/>
                </a:solidFill>
              </a:rPr>
              <a:t>gère tout le planning</a:t>
            </a:r>
            <a:endParaRPr lang="en-US" sz="1800" dirty="0"/>
          </a:p>
        </p:txBody>
      </p:sp>
      <p:sp>
        <p:nvSpPr>
          <p:cNvPr id="11" name="Acteur 3 cercle"/>
          <p:cNvSpPr/>
          <p:nvPr/>
        </p:nvSpPr>
        <p:spPr>
          <a:xfrm>
            <a:off x="548640" y="3840480"/>
            <a:ext cx="731520" cy="731520"/>
          </a:xfrm>
          <a:prstGeom prst="ellipse">
            <a:avLst/>
          </a:prstGeom>
          <a:solidFill>
            <a:schemeClr val="accent5"/>
          </a:solidFill>
          <a:ln w="12700">
            <a:solidFill>
              <a:schemeClr val="accent5"/>
            </a:solidFill>
            <a:prstDash val="solid"/>
          </a:ln>
        </p:spPr>
      </p:sp>
      <p:pic>
        <p:nvPicPr>
          <p:cNvPr id="12" name="Acteur 3 icone" descr="preencoded.png">    </p:cNvPr>
          <p:cNvPicPr>
            <a:picLocks noChangeAspect="1"/>
          </p:cNvPicPr>
          <p:nvPr/>
        </p:nvPicPr>
        <p:blipFill>
          <a:blip r:embed="rId4"/>
          <a:stretch>
            <a:fillRect/>
          </a:stretch>
        </p:blipFill>
        <p:spPr>
          <a:xfrm>
            <a:off x="724205" y="4016045"/>
            <a:ext cx="380390" cy="380390"/>
          </a:xfrm>
          <a:prstGeom prst="rect">
            <a:avLst/>
          </a:prstGeom>
        </p:spPr>
      </p:pic>
      <p:sp>
        <p:nvSpPr>
          <p:cNvPr id="13" name="Texte acteur 3"/>
          <p:cNvSpPr txBox="1"/>
          <p:nvPr/>
        </p:nvSpPr>
        <p:spPr>
          <a:xfrm>
            <a:off x="1463040" y="3840480"/>
            <a:ext cx="3931920" cy="777240"/>
          </a:xfrm>
          <a:prstGeom prst="rect">
            <a:avLst/>
          </a:prstGeom>
          <a:noFill/>
          <a:ln/>
        </p:spPr>
        <p:txBody>
          <a:bodyPr wrap="square" lIns="0" tIns="0" rIns="0" bIns="0" rtlCol="0" anchor="ctr"/>
          <a:lstStyle/>
          <a:p>
            <a:pPr indent="0" marL="0">
              <a:buNone/>
            </a:pPr>
            <a:r>
              <a:rPr lang="en-US" sz="1800" b="1" dirty="0">
                <a:solidFill>
                  <a:schemeClr val="tx2"/>
                </a:solidFill>
              </a:rPr>
              <a:t>OpenAI</a:t>
            </a:r>
            <a:endParaRPr lang="en-US" sz="1800" dirty="0"/>
          </a:p>
          <a:p>
            <a:pPr indent="0" marL="0">
              <a:buNone/>
            </a:pPr>
            <a:r>
              <a:rPr lang="en-US" sz="1500" dirty="0">
                <a:solidFill>
                  <a:schemeClr val="tx1"/>
                </a:solidFill>
              </a:rPr>
              <a:t>comprend la demande du patient</a:t>
            </a:r>
            <a:endParaRPr lang="en-US" sz="1800" dirty="0"/>
          </a:p>
        </p:txBody>
      </p:sp>
      <p:sp>
        <p:nvSpPr>
          <p:cNvPr id="14" name="Acteur 4 cercle"/>
          <p:cNvSpPr/>
          <p:nvPr/>
        </p:nvSpPr>
        <p:spPr>
          <a:xfrm>
            <a:off x="548640" y="5029200"/>
            <a:ext cx="731520" cy="731520"/>
          </a:xfrm>
          <a:prstGeom prst="ellipse">
            <a:avLst/>
          </a:prstGeom>
          <a:solidFill>
            <a:schemeClr val="accent4"/>
          </a:solidFill>
          <a:ln w="12700">
            <a:solidFill>
              <a:schemeClr val="accent4"/>
            </a:solidFill>
            <a:prstDash val="solid"/>
          </a:ln>
        </p:spPr>
      </p:sp>
      <p:pic>
        <p:nvPicPr>
          <p:cNvPr id="15" name="Acteur 4 icone" descr="preencoded.png">    </p:cNvPr>
          <p:cNvPicPr>
            <a:picLocks noChangeAspect="1"/>
          </p:cNvPicPr>
          <p:nvPr/>
        </p:nvPicPr>
        <p:blipFill>
          <a:blip r:embed="rId5"/>
          <a:stretch>
            <a:fillRect/>
          </a:stretch>
        </p:blipFill>
        <p:spPr>
          <a:xfrm>
            <a:off x="724205" y="5204765"/>
            <a:ext cx="380390" cy="380390"/>
          </a:xfrm>
          <a:prstGeom prst="rect">
            <a:avLst/>
          </a:prstGeom>
        </p:spPr>
      </p:pic>
      <p:sp>
        <p:nvSpPr>
          <p:cNvPr id="16" name="Texte acteur 4"/>
          <p:cNvSpPr txBox="1"/>
          <p:nvPr/>
        </p:nvSpPr>
        <p:spPr>
          <a:xfrm>
            <a:off x="1463040" y="5029200"/>
            <a:ext cx="3931920" cy="777240"/>
          </a:xfrm>
          <a:prstGeom prst="rect">
            <a:avLst/>
          </a:prstGeom>
          <a:noFill/>
          <a:ln/>
        </p:spPr>
        <p:txBody>
          <a:bodyPr wrap="square" lIns="0" tIns="0" rIns="0" bIns="0" rtlCol="0" anchor="ctr"/>
          <a:lstStyle/>
          <a:p>
            <a:pPr indent="0" marL="0">
              <a:buNone/>
            </a:pPr>
            <a:r>
              <a:rPr lang="en-US" sz="1800" b="1" dirty="0">
                <a:solidFill>
                  <a:schemeClr val="tx2"/>
                </a:solidFill>
              </a:rPr>
              <a:t>Planificateur</a:t>
            </a:r>
            <a:endParaRPr lang="en-US" sz="1800" dirty="0"/>
          </a:p>
          <a:p>
            <a:pPr indent="0" marL="0">
              <a:buNone/>
            </a:pPr>
            <a:r>
              <a:rPr lang="en-US" sz="1500" dirty="0">
                <a:solidFill>
                  <a:schemeClr val="tx1"/>
                </a:solidFill>
              </a:rPr>
              <a:t>envoie les rappels 48 h / 24 h</a:t>
            </a:r>
            <a:endParaRPr lang="en-US" sz="18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9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26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62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8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98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216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234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252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270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00"/>
                                        <p:tgtEl>
                                          <p:spTgt spid="25"/>
                                        </p:tgtEl>
                                      </p:cBhvr>
                                    </p:animEffect>
                                    <p:anim calcmode="lin" valueType="num">
                                      <p:cBhvr>
                                        <p:cTn id="83" dur="600" fill="hold"/>
                                        <p:tgtEl>
                                          <p:spTgt spid="25"/>
                                        </p:tgtEl>
                                        <p:attrNameLst>
                                          <p:attrName>ppt_x</p:attrName>
                                        </p:attrNameLst>
                                      </p:cBhvr>
                                      <p:tavLst>
                                        <p:tav tm="0">
                                          <p:val>
                                            <p:strVal val="#ppt_x"/>
                                          </p:val>
                                        </p:tav>
                                        <p:tav tm="100000">
                                          <p:val>
                                            <p:strVal val="#ppt_x"/>
                                          </p:val>
                                        </p:tav>
                                      </p:tavLst>
                                    </p:anim>
                                    <p:anim calcmode="lin" valueType="num">
                                      <p:cBhvr>
                                        <p:cTn id="8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Extrait des user stories</a:t>
            </a:r>
            <a:endParaRPr lang="en-US" sz="3200" dirty="0"/>
          </a:p>
        </p:txBody>
      </p:sp>
      <p:graphicFrame>
        <p:nvGraphicFramePr>
          <p:cNvPr id="21" name="Tableau user stories"/>
          <p:cNvGraphicFramePr>
            <a:graphicFrameLocks noGrp="1"/>
          </p:cNvGraphicFramePr>
          <p:nvPr>
            <p:extLst>
              <p:ext uri="{D42A27DB-BD31-4B8C-83A1-F6EECF244321}">
                <p14:modId xmlns:p14="http://schemas.microsoft.com/office/powerpoint/2010/main" val="1579011935"/>
              </p:ext>
            </p:extLst>
          </p:nvPr>
        </p:nvGraphicFramePr>
        <p:xfrm>
          <a:off x="548640" y="1463040"/>
          <a:ext cx="9509760" cy="914400"/>
        </p:xfrm>
        <a:graphic>
          <a:graphicData uri="http://schemas.openxmlformats.org/drawingml/2006/table">
            <a:tbl>
              <a:tblPr/>
              <a:tblGrid>
                <a:gridCol w="914400"/>
                <a:gridCol w="2011680"/>
                <a:gridCol w="3566160"/>
                <a:gridCol w="3017520"/>
              </a:tblGrid>
              <a:tr h="566928">
                <a:tc>
                  <a:txBody>
                    <a:bodyPr/>
                    <a:lstStyle/>
                    <a:p>
                      <a:pPr indent="0" marL="0">
                        <a:buNone/>
                      </a:pPr>
                      <a:r>
                        <a:rPr lang="en-US" sz="1500" b="1" dirty="0">
                          <a:solidFill>
                            <a:schemeClr val="bg1"/>
                          </a:solidFill>
                        </a:rPr>
                        <a:t>ID</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En tant que</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Je veux</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Afin de</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accent1"/>
                    </a:solidFill>
                  </a:tcPr>
                </a:tc>
              </a:tr>
              <a:tr h="566928">
                <a:tc>
                  <a:txBody>
                    <a:bodyPr/>
                    <a:lstStyle/>
                    <a:p>
                      <a:pPr indent="0" marL="0">
                        <a:buNone/>
                      </a:pPr>
                      <a:r>
                        <a:rPr lang="en-US" sz="1500" dirty="0">
                          <a:solidFill>
                            <a:schemeClr val="tx1"/>
                          </a:solidFill>
                        </a:rPr>
                        <a:t>US01</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Patient</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créer un compte</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accéder au portail</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US07</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Patient</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chercher un créneau libre</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choisir mon rendez-vous</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US12</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Patient</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écrire ma demande en langage naturel</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réserver plus simplement</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US06</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Administrateur</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configurer horaires et absences</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générer les créneaux</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US09</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Administrateur</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confirmer, déplacer ou annuler</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organiser les médecins</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US11</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Patient</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recevoir des rappels</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ne pas oublier</a:t>
                      </a:r>
                      <a:endParaRPr lang="en-US" sz="1500" dirty="0"/>
                    </a:p>
                  </a:txBody>
                  <a:tcPr marL="91440" marR="91440" marT="45720" marB="45720" anchor="ctr">
                    <a:lnL w="9525" cap="flat" cmpd="sng" algn="ctr">
                      <a:solidFill>
                        <a:srgbClr val="C9DED6"/>
                      </a:solidFill>
                      <a:prstDash val="solid"/>
                      <a:round/>
                      <a:headEnd type="none" w="med" len="med"/>
                      <a:tailEnd type="none" w="med" len="med"/>
                    </a:lnL>
                    <a:lnR w="9525" cap="flat" cmpd="sng" algn="ctr">
                      <a:solidFill>
                        <a:srgbClr val="C9DED6"/>
                      </a:solidFill>
                      <a:prstDash val="solid"/>
                      <a:round/>
                      <a:headEnd type="none" w="med" len="med"/>
                      <a:tailEnd type="none" w="med" len="med"/>
                    </a:lnR>
                    <a:lnT w="9525" cap="flat" cmpd="sng" algn="ctr">
                      <a:solidFill>
                        <a:srgbClr val="C9DED6"/>
                      </a:solidFill>
                      <a:prstDash val="solid"/>
                      <a:round/>
                      <a:headEnd type="none" w="med" len="med"/>
                      <a:tailEnd type="none" w="med" len="med"/>
                    </a:lnT>
                    <a:lnB w="9525" cap="flat" cmpd="sng" algn="ctr">
                      <a:solidFill>
                        <a:srgbClr val="C9D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600"/>
                                        <p:tgtEl>
                                          <p:spTgt spid="21"/>
                                        </p:tgtEl>
                                      </p:cBhvr>
                                    </p:animEffect>
                                    <p:anim calcmode="lin" valueType="num">
                                      <p:cBhvr>
                                        <p:cTn id="13" dur="600" fill="hold"/>
                                        <p:tgtEl>
                                          <p:spTgt spid="21"/>
                                        </p:tgtEl>
                                        <p:attrNameLst>
                                          <p:attrName>ppt_x</p:attrName>
                                        </p:attrNameLst>
                                      </p:cBhvr>
                                      <p:tavLst>
                                        <p:tav tm="0">
                                          <p:val>
                                            <p:strVal val="#ppt_x"/>
                                          </p:val>
                                        </p:tav>
                                        <p:tav tm="100000">
                                          <p:val>
                                            <p:strVal val="#ppt_x"/>
                                          </p:val>
                                        </p:tav>
                                      </p:tavLst>
                                    </p:anim>
                                    <p:anim calcmode="lin" valueType="num">
                                      <p:cBhvr>
                                        <p:cTn id="14" dur="6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600"/>
                                        <p:tgtEl>
                                          <p:spTgt spid="25"/>
                                        </p:tgtEl>
                                      </p:cBhvr>
                                    </p:animEffect>
                                    <p:anim calcmode="lin" valueType="num">
                                      <p:cBhvr>
                                        <p:cTn id="18" dur="600" fill="hold"/>
                                        <p:tgtEl>
                                          <p:spTgt spid="25"/>
                                        </p:tgtEl>
                                        <p:attrNameLst>
                                          <p:attrName>ppt_x</p:attrName>
                                        </p:attrNameLst>
                                      </p:cBhvr>
                                      <p:tavLst>
                                        <p:tav tm="0">
                                          <p:val>
                                            <p:strVal val="#ppt_x"/>
                                          </p:val>
                                        </p:tav>
                                        <p:tav tm="100000">
                                          <p:val>
                                            <p:strVal val="#ppt_x"/>
                                          </p:val>
                                        </p:tav>
                                      </p:tavLst>
                                    </p:anim>
                                    <p:anim calcmode="lin" valueType="num">
                                      <p:cBhvr>
                                        <p:cTn id="1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Planification des sprints</a:t>
            </a:r>
            <a:endParaRPr lang="en-US" sz="3200" dirty="0"/>
          </a:p>
        </p:txBody>
      </p:sp>
      <p:sp>
        <p:nvSpPr>
          <p:cNvPr id="3" name="Frise"/>
          <p:cNvSpPr/>
          <p:nvPr/>
        </p:nvSpPr>
        <p:spPr>
          <a:xfrm>
            <a:off x="822960" y="2880360"/>
            <a:ext cx="8778240" cy="0"/>
          </a:xfrm>
          <a:prstGeom prst="line">
            <a:avLst/>
          </a:prstGeom>
          <a:noFill/>
          <a:ln w="50800">
            <a:solidFill>
              <a:schemeClr val="accent3"/>
            </a:solidFill>
            <a:prstDash val="solid"/>
          </a:ln>
        </p:spPr>
      </p:sp>
      <p:sp>
        <p:nvSpPr>
          <p:cNvPr id="4" name="Sprint 1 cercle"/>
          <p:cNvSpPr/>
          <p:nvPr/>
        </p:nvSpPr>
        <p:spPr>
          <a:xfrm>
            <a:off x="960120" y="2377440"/>
            <a:ext cx="1005840" cy="1005840"/>
          </a:xfrm>
          <a:prstGeom prst="ellipse">
            <a:avLst/>
          </a:prstGeom>
          <a:solidFill>
            <a:schemeClr val="accent1"/>
          </a:solidFill>
          <a:ln w="38100">
            <a:solidFill>
              <a:schemeClr val="bg1"/>
            </a:solidFill>
            <a:prstDash val="solid"/>
          </a:ln>
        </p:spPr>
      </p:sp>
      <p:sp>
        <p:nvSpPr>
          <p:cNvPr id="5" name="Sprint 1 numero"/>
          <p:cNvSpPr txBox="1"/>
          <p:nvPr/>
        </p:nvSpPr>
        <p:spPr>
          <a:xfrm>
            <a:off x="960120" y="2377440"/>
            <a:ext cx="1005840" cy="1005840"/>
          </a:xfrm>
          <a:prstGeom prst="rect">
            <a:avLst/>
          </a:prstGeom>
          <a:no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6" name="Carte sprint 1"/>
          <p:cNvSpPr/>
          <p:nvPr/>
        </p:nvSpPr>
        <p:spPr>
          <a:xfrm>
            <a:off x="548640" y="3657600"/>
            <a:ext cx="182880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7" name="Titre sprint 1"/>
          <p:cNvSpPr txBox="1"/>
          <p:nvPr/>
        </p:nvSpPr>
        <p:spPr>
          <a:xfrm>
            <a:off x="658368" y="3767328"/>
            <a:ext cx="1609344" cy="1051560"/>
          </a:xfrm>
          <a:prstGeom prst="rect">
            <a:avLst/>
          </a:prstGeom>
          <a:noFill/>
          <a:ln/>
        </p:spPr>
        <p:txBody>
          <a:bodyPr wrap="square" lIns="0" tIns="0" rIns="0" bIns="0" rtlCol="0" anchor="ctr"/>
          <a:lstStyle/>
          <a:p>
            <a:pPr algn="ctr" indent="0" marL="0">
              <a:buNone/>
            </a:pPr>
            <a:r>
              <a:rPr lang="en-US" sz="1500" b="1" dirty="0">
                <a:solidFill>
                  <a:schemeClr val="tx2"/>
                </a:solidFill>
              </a:rPr>
              <a:t>Authentification et comptes</a:t>
            </a:r>
            <a:endParaRPr lang="en-US" sz="1500" dirty="0"/>
          </a:p>
        </p:txBody>
      </p:sp>
      <p:sp>
        <p:nvSpPr>
          <p:cNvPr id="8" name="Duree sprint 1"/>
          <p:cNvSpPr txBox="1"/>
          <p:nvPr/>
        </p:nvSpPr>
        <p:spPr>
          <a:xfrm>
            <a:off x="658368" y="4846320"/>
            <a:ext cx="1609344" cy="411480"/>
          </a:xfrm>
          <a:prstGeom prst="rect">
            <a:avLst/>
          </a:prstGeom>
          <a:noFill/>
          <a:ln/>
        </p:spPr>
        <p:txBody>
          <a:bodyPr wrap="square" lIns="0" tIns="0" rIns="0" bIns="0" rtlCol="0" anchor="t"/>
          <a:lstStyle/>
          <a:p>
            <a:pPr algn="ctr" indent="0" marL="0">
              <a:buNone/>
            </a:pPr>
            <a:r>
              <a:rPr lang="en-US" sz="1400" dirty="0">
                <a:solidFill>
                  <a:schemeClr val="accent2"/>
                </a:solidFill>
              </a:rPr>
              <a:t>2 sem.</a:t>
            </a:r>
            <a:endParaRPr lang="en-US" sz="1400" dirty="0"/>
          </a:p>
        </p:txBody>
      </p:sp>
      <p:sp>
        <p:nvSpPr>
          <p:cNvPr id="9" name="Sprint 2 cercle"/>
          <p:cNvSpPr/>
          <p:nvPr/>
        </p:nvSpPr>
        <p:spPr>
          <a:xfrm>
            <a:off x="2834640" y="2377440"/>
            <a:ext cx="1005840" cy="1005840"/>
          </a:xfrm>
          <a:prstGeom prst="ellipse">
            <a:avLst/>
          </a:prstGeom>
          <a:solidFill>
            <a:schemeClr val="accent2"/>
          </a:solidFill>
          <a:ln w="38100">
            <a:solidFill>
              <a:schemeClr val="bg1"/>
            </a:solidFill>
            <a:prstDash val="solid"/>
          </a:ln>
        </p:spPr>
      </p:sp>
      <p:sp>
        <p:nvSpPr>
          <p:cNvPr id="10" name="Sprint 2 numero"/>
          <p:cNvSpPr txBox="1"/>
          <p:nvPr/>
        </p:nvSpPr>
        <p:spPr>
          <a:xfrm>
            <a:off x="2834640" y="2377440"/>
            <a:ext cx="1005840" cy="1005840"/>
          </a:xfrm>
          <a:prstGeom prst="rect">
            <a:avLst/>
          </a:prstGeom>
          <a:no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11" name="Carte sprint 2"/>
          <p:cNvSpPr/>
          <p:nvPr/>
        </p:nvSpPr>
        <p:spPr>
          <a:xfrm>
            <a:off x="2423160" y="3657600"/>
            <a:ext cx="182880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2" name="Titre sprint 2"/>
          <p:cNvSpPr txBox="1"/>
          <p:nvPr/>
        </p:nvSpPr>
        <p:spPr>
          <a:xfrm>
            <a:off x="2532888" y="3767328"/>
            <a:ext cx="1609344" cy="1051560"/>
          </a:xfrm>
          <a:prstGeom prst="rect">
            <a:avLst/>
          </a:prstGeom>
          <a:noFill/>
          <a:ln/>
        </p:spPr>
        <p:txBody>
          <a:bodyPr wrap="square" lIns="0" tIns="0" rIns="0" bIns="0" rtlCol="0" anchor="ctr"/>
          <a:lstStyle/>
          <a:p>
            <a:pPr algn="ctr" indent="0" marL="0">
              <a:buNone/>
            </a:pPr>
            <a:r>
              <a:rPr lang="en-US" sz="1500" b="1" dirty="0">
                <a:solidFill>
                  <a:schemeClr val="tx2"/>
                </a:solidFill>
              </a:rPr>
              <a:t>Patients et médecins</a:t>
            </a:r>
            <a:endParaRPr lang="en-US" sz="1500" dirty="0"/>
          </a:p>
        </p:txBody>
      </p:sp>
      <p:sp>
        <p:nvSpPr>
          <p:cNvPr id="13" name="Duree sprint 2"/>
          <p:cNvSpPr txBox="1"/>
          <p:nvPr/>
        </p:nvSpPr>
        <p:spPr>
          <a:xfrm>
            <a:off x="2532888" y="4846320"/>
            <a:ext cx="1609344" cy="411480"/>
          </a:xfrm>
          <a:prstGeom prst="rect">
            <a:avLst/>
          </a:prstGeom>
          <a:noFill/>
          <a:ln/>
        </p:spPr>
        <p:txBody>
          <a:bodyPr wrap="square" lIns="0" tIns="0" rIns="0" bIns="0" rtlCol="0" anchor="t"/>
          <a:lstStyle/>
          <a:p>
            <a:pPr algn="ctr" indent="0" marL="0">
              <a:buNone/>
            </a:pPr>
            <a:r>
              <a:rPr lang="en-US" sz="1400" dirty="0">
                <a:solidFill>
                  <a:schemeClr val="accent2"/>
                </a:solidFill>
              </a:rPr>
              <a:t>2 sem.</a:t>
            </a:r>
            <a:endParaRPr lang="en-US" sz="1400" dirty="0"/>
          </a:p>
        </p:txBody>
      </p:sp>
      <p:sp>
        <p:nvSpPr>
          <p:cNvPr id="14" name="Sprint 3 cercle"/>
          <p:cNvSpPr/>
          <p:nvPr/>
        </p:nvSpPr>
        <p:spPr>
          <a:xfrm>
            <a:off x="4709160" y="2377440"/>
            <a:ext cx="1005840" cy="1005840"/>
          </a:xfrm>
          <a:prstGeom prst="ellipse">
            <a:avLst/>
          </a:prstGeom>
          <a:solidFill>
            <a:schemeClr val="accent1"/>
          </a:solidFill>
          <a:ln w="38100">
            <a:solidFill>
              <a:schemeClr val="bg1"/>
            </a:solidFill>
            <a:prstDash val="solid"/>
          </a:ln>
        </p:spPr>
      </p:sp>
      <p:sp>
        <p:nvSpPr>
          <p:cNvPr id="15" name="Sprint 3 numero"/>
          <p:cNvSpPr txBox="1"/>
          <p:nvPr/>
        </p:nvSpPr>
        <p:spPr>
          <a:xfrm>
            <a:off x="4709160" y="2377440"/>
            <a:ext cx="1005840" cy="1005840"/>
          </a:xfrm>
          <a:prstGeom prst="rect">
            <a:avLst/>
          </a:prstGeom>
          <a:no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16" name="Carte sprint 3"/>
          <p:cNvSpPr/>
          <p:nvPr/>
        </p:nvSpPr>
        <p:spPr>
          <a:xfrm>
            <a:off x="4297680" y="3657600"/>
            <a:ext cx="182880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7" name="Titre sprint 3"/>
          <p:cNvSpPr txBox="1"/>
          <p:nvPr/>
        </p:nvSpPr>
        <p:spPr>
          <a:xfrm>
            <a:off x="4407408" y="3767328"/>
            <a:ext cx="1609344" cy="1051560"/>
          </a:xfrm>
          <a:prstGeom prst="rect">
            <a:avLst/>
          </a:prstGeom>
          <a:noFill/>
          <a:ln/>
        </p:spPr>
        <p:txBody>
          <a:bodyPr wrap="square" lIns="0" tIns="0" rIns="0" bIns="0" rtlCol="0" anchor="ctr"/>
          <a:lstStyle/>
          <a:p>
            <a:pPr algn="ctr" indent="0" marL="0">
              <a:buNone/>
            </a:pPr>
            <a:r>
              <a:rPr lang="en-US" sz="1500" b="1" dirty="0">
                <a:solidFill>
                  <a:schemeClr val="tx2"/>
                </a:solidFill>
              </a:rPr>
              <a:t>Disponibilités et rendez-vous</a:t>
            </a:r>
            <a:endParaRPr lang="en-US" sz="1500" dirty="0"/>
          </a:p>
        </p:txBody>
      </p:sp>
      <p:sp>
        <p:nvSpPr>
          <p:cNvPr id="18" name="Duree sprint 3"/>
          <p:cNvSpPr txBox="1"/>
          <p:nvPr/>
        </p:nvSpPr>
        <p:spPr>
          <a:xfrm>
            <a:off x="4407408" y="4846320"/>
            <a:ext cx="1609344" cy="411480"/>
          </a:xfrm>
          <a:prstGeom prst="rect">
            <a:avLst/>
          </a:prstGeom>
          <a:noFill/>
          <a:ln/>
        </p:spPr>
        <p:txBody>
          <a:bodyPr wrap="square" lIns="0" tIns="0" rIns="0" bIns="0" rtlCol="0" anchor="t"/>
          <a:lstStyle/>
          <a:p>
            <a:pPr algn="ctr" indent="0" marL="0">
              <a:buNone/>
            </a:pPr>
            <a:r>
              <a:rPr lang="en-US" sz="1400" dirty="0">
                <a:solidFill>
                  <a:schemeClr val="accent2"/>
                </a:solidFill>
              </a:rPr>
              <a:t>3 sem.</a:t>
            </a:r>
            <a:endParaRPr lang="en-US" sz="1400" dirty="0"/>
          </a:p>
        </p:txBody>
      </p:sp>
      <p:sp>
        <p:nvSpPr>
          <p:cNvPr id="19" name="Sprint 4 cercle"/>
          <p:cNvSpPr/>
          <p:nvPr/>
        </p:nvSpPr>
        <p:spPr>
          <a:xfrm>
            <a:off x="6583680" y="2377440"/>
            <a:ext cx="1005840" cy="1005840"/>
          </a:xfrm>
          <a:prstGeom prst="ellipse">
            <a:avLst/>
          </a:prstGeom>
          <a:solidFill>
            <a:schemeClr val="accent2"/>
          </a:solidFill>
          <a:ln w="38100">
            <a:solidFill>
              <a:schemeClr val="bg1"/>
            </a:solidFill>
            <a:prstDash val="solid"/>
          </a:ln>
        </p:spPr>
      </p:sp>
      <p:sp>
        <p:nvSpPr>
          <p:cNvPr id="20" name="Sprint 4 numero"/>
          <p:cNvSpPr txBox="1"/>
          <p:nvPr/>
        </p:nvSpPr>
        <p:spPr>
          <a:xfrm>
            <a:off x="6583680" y="2377440"/>
            <a:ext cx="1005840" cy="1005840"/>
          </a:xfrm>
          <a:prstGeom prst="rect">
            <a:avLst/>
          </a:prstGeom>
          <a:noFill/>
          <a:ln/>
        </p:spPr>
        <p:txBody>
          <a:bodyPr wrap="square" lIns="0" tIns="0" rIns="0" bIns="0" rtlCol="0" anchor="ctr"/>
          <a:lstStyle/>
          <a:p>
            <a:pPr algn="ctr" indent="0" marL="0">
              <a:buNone/>
            </a:pPr>
            <a:r>
              <a:rPr lang="en-US" sz="3000" b="1" dirty="0">
                <a:solidFill>
                  <a:schemeClr val="bg1"/>
                </a:solidFill>
              </a:rPr>
              <a:t>4</a:t>
            </a:r>
            <a:endParaRPr lang="en-US" sz="3000" dirty="0"/>
          </a:p>
        </p:txBody>
      </p:sp>
      <p:sp>
        <p:nvSpPr>
          <p:cNvPr id="21" name="Carte sprint 4"/>
          <p:cNvSpPr/>
          <p:nvPr/>
        </p:nvSpPr>
        <p:spPr>
          <a:xfrm>
            <a:off x="6172200" y="3657600"/>
            <a:ext cx="182880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22" name="Titre sprint 4"/>
          <p:cNvSpPr txBox="1"/>
          <p:nvPr/>
        </p:nvSpPr>
        <p:spPr>
          <a:xfrm>
            <a:off x="6281928" y="3767328"/>
            <a:ext cx="1609344" cy="1051560"/>
          </a:xfrm>
          <a:prstGeom prst="rect">
            <a:avLst/>
          </a:prstGeom>
          <a:noFill/>
          <a:ln/>
        </p:spPr>
        <p:txBody>
          <a:bodyPr wrap="square" lIns="0" tIns="0" rIns="0" bIns="0" rtlCol="0" anchor="ctr"/>
          <a:lstStyle/>
          <a:p>
            <a:pPr algn="ctr" indent="0" marL="0">
              <a:buNone/>
            </a:pPr>
            <a:r>
              <a:rPr lang="en-US" sz="1500" b="1" dirty="0">
                <a:solidFill>
                  <a:schemeClr val="tx2"/>
                </a:solidFill>
              </a:rPr>
              <a:t>Liste d’attente et rappels</a:t>
            </a:r>
            <a:endParaRPr lang="en-US" sz="1500" dirty="0"/>
          </a:p>
        </p:txBody>
      </p:sp>
      <p:sp>
        <p:nvSpPr>
          <p:cNvPr id="23" name="Duree sprint 4"/>
          <p:cNvSpPr txBox="1"/>
          <p:nvPr/>
        </p:nvSpPr>
        <p:spPr>
          <a:xfrm>
            <a:off x="6281928" y="4846320"/>
            <a:ext cx="1609344" cy="411480"/>
          </a:xfrm>
          <a:prstGeom prst="rect">
            <a:avLst/>
          </a:prstGeom>
          <a:noFill/>
          <a:ln/>
        </p:spPr>
        <p:txBody>
          <a:bodyPr wrap="square" lIns="0" tIns="0" rIns="0" bIns="0" rtlCol="0" anchor="t"/>
          <a:lstStyle/>
          <a:p>
            <a:pPr algn="ctr" indent="0" marL="0">
              <a:buNone/>
            </a:pPr>
            <a:r>
              <a:rPr lang="en-US" sz="1400" dirty="0">
                <a:solidFill>
                  <a:schemeClr val="accent2"/>
                </a:solidFill>
              </a:rPr>
              <a:t>2 sem.</a:t>
            </a:r>
            <a:endParaRPr lang="en-US" sz="1400" dirty="0"/>
          </a:p>
        </p:txBody>
      </p:sp>
      <p:sp>
        <p:nvSpPr>
          <p:cNvPr id="24" name="Sprint 5 cercle"/>
          <p:cNvSpPr/>
          <p:nvPr/>
        </p:nvSpPr>
        <p:spPr>
          <a:xfrm>
            <a:off x="8458200" y="2377440"/>
            <a:ext cx="1005840" cy="1005840"/>
          </a:xfrm>
          <a:prstGeom prst="ellipse">
            <a:avLst/>
          </a:prstGeom>
          <a:solidFill>
            <a:schemeClr val="accent1"/>
          </a:solidFill>
          <a:ln w="38100">
            <a:solidFill>
              <a:schemeClr val="bg1"/>
            </a:solidFill>
            <a:prstDash val="solid"/>
          </a:ln>
        </p:spPr>
      </p:sp>
      <p:sp>
        <p:nvSpPr>
          <p:cNvPr id="25" name="Sprint 5 numero"/>
          <p:cNvSpPr txBox="1"/>
          <p:nvPr/>
        </p:nvSpPr>
        <p:spPr>
          <a:xfrm>
            <a:off x="8458200" y="2377440"/>
            <a:ext cx="1005840" cy="1005840"/>
          </a:xfrm>
          <a:prstGeom prst="rect">
            <a:avLst/>
          </a:prstGeom>
          <a:noFill/>
          <a:ln/>
        </p:spPr>
        <p:txBody>
          <a:bodyPr wrap="square" lIns="0" tIns="0" rIns="0" bIns="0" rtlCol="0" anchor="ctr"/>
          <a:lstStyle/>
          <a:p>
            <a:pPr algn="ctr" indent="0" marL="0">
              <a:buNone/>
            </a:pPr>
            <a:r>
              <a:rPr lang="en-US" sz="3000" b="1" dirty="0">
                <a:solidFill>
                  <a:schemeClr val="bg1"/>
                </a:solidFill>
              </a:rPr>
              <a:t>5</a:t>
            </a:r>
            <a:endParaRPr lang="en-US" sz="3000" dirty="0"/>
          </a:p>
        </p:txBody>
      </p:sp>
      <p:sp>
        <p:nvSpPr>
          <p:cNvPr id="26" name="Carte sprint 5"/>
          <p:cNvSpPr/>
          <p:nvPr/>
        </p:nvSpPr>
        <p:spPr>
          <a:xfrm>
            <a:off x="8046720" y="3657600"/>
            <a:ext cx="182880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27" name="Titre sprint 5"/>
          <p:cNvSpPr txBox="1"/>
          <p:nvPr/>
        </p:nvSpPr>
        <p:spPr>
          <a:xfrm>
            <a:off x="8156448" y="3767328"/>
            <a:ext cx="1609344" cy="1051560"/>
          </a:xfrm>
          <a:prstGeom prst="rect">
            <a:avLst/>
          </a:prstGeom>
          <a:noFill/>
          <a:ln/>
        </p:spPr>
        <p:txBody>
          <a:bodyPr wrap="square" lIns="0" tIns="0" rIns="0" bIns="0" rtlCol="0" anchor="ctr"/>
          <a:lstStyle/>
          <a:p>
            <a:pPr algn="ctr" indent="0" marL="0">
              <a:buNone/>
            </a:pPr>
            <a:r>
              <a:rPr lang="en-US" sz="1500" b="1" dirty="0">
                <a:solidFill>
                  <a:schemeClr val="tx2"/>
                </a:solidFill>
              </a:rPr>
              <a:t>Assistant IA et tableau de bord</a:t>
            </a:r>
            <a:endParaRPr lang="en-US" sz="1500" dirty="0"/>
          </a:p>
        </p:txBody>
      </p:sp>
      <p:sp>
        <p:nvSpPr>
          <p:cNvPr id="28" name="Duree sprint 5"/>
          <p:cNvSpPr txBox="1"/>
          <p:nvPr/>
        </p:nvSpPr>
        <p:spPr>
          <a:xfrm>
            <a:off x="8156448" y="4846320"/>
            <a:ext cx="1609344" cy="411480"/>
          </a:xfrm>
          <a:prstGeom prst="rect">
            <a:avLst/>
          </a:prstGeom>
          <a:noFill/>
          <a:ln/>
        </p:spPr>
        <p:txBody>
          <a:bodyPr wrap="square" lIns="0" tIns="0" rIns="0" bIns="0" rtlCol="0" anchor="t"/>
          <a:lstStyle/>
          <a:p>
            <a:pPr algn="ctr" indent="0" marL="0">
              <a:buNone/>
            </a:pPr>
            <a:r>
              <a:rPr lang="en-US" sz="1400" dirty="0">
                <a:solidFill>
                  <a:schemeClr val="accent2"/>
                </a:solidFill>
              </a:rPr>
              <a:t>4 sem.</a:t>
            </a:r>
            <a:endParaRPr lang="en-US" sz="1400" dirty="0"/>
          </a:p>
        </p:txBody>
      </p:sp>
      <p:sp>
        <p:nvSpPr>
          <p:cNvPr id="29" name="Resume sprints"/>
          <p:cNvSpPr txBox="1"/>
          <p:nvPr/>
        </p:nvSpPr>
        <p:spPr>
          <a:xfrm>
            <a:off x="548640" y="1508760"/>
            <a:ext cx="9418320" cy="457200"/>
          </a:xfrm>
          <a:prstGeom prst="rect">
            <a:avLst/>
          </a:prstGeom>
          <a:noFill/>
          <a:ln/>
        </p:spPr>
        <p:txBody>
          <a:bodyPr wrap="square" lIns="0" tIns="0" rIns="0" bIns="0" rtlCol="0" anchor="t"/>
          <a:lstStyle/>
          <a:p>
            <a:pPr indent="0" marL="0">
              <a:buNone/>
            </a:pPr>
            <a:r>
              <a:rPr lang="en-US" sz="1800" i="1" dirty="0">
                <a:solidFill>
                  <a:schemeClr val="accent2"/>
                </a:solidFill>
              </a:rPr>
              <a:t>3 releases  •  5 sprints  •  13 semaines de développement</a:t>
            </a:r>
            <a:endParaRPr lang="en-US" sz="18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03"/>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6"/>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09"/>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412"/>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515"/>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618"/>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721"/>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824"/>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927"/>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03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133"/>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236"/>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1339"/>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1442"/>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1545"/>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6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1648"/>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fill="hold"/>
                                        <p:tgtEl>
                                          <p:spTgt spid="18"/>
                                        </p:tgtEl>
                                        <p:attrNameLst>
                                          <p:attrName>ppt_x</p:attrName>
                                        </p:attrNameLst>
                                      </p:cBhvr>
                                      <p:tavLst>
                                        <p:tav tm="0">
                                          <p:val>
                                            <p:strVal val="#ppt_x"/>
                                          </p:val>
                                        </p:tav>
                                        <p:tav tm="100000">
                                          <p:val>
                                            <p:strVal val="#ppt_x"/>
                                          </p:val>
                                        </p:tav>
                                      </p:tavLst>
                                    </p:anim>
                                    <p:anim calcmode="lin" valueType="num">
                                      <p:cBhvr>
                                        <p:cTn id="89" dur="6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1751"/>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fill="hold"/>
                                        <p:tgtEl>
                                          <p:spTgt spid="19"/>
                                        </p:tgtEl>
                                        <p:attrNameLst>
                                          <p:attrName>ppt_x</p:attrName>
                                        </p:attrNameLst>
                                      </p:cBhvr>
                                      <p:tavLst>
                                        <p:tav tm="0">
                                          <p:val>
                                            <p:strVal val="#ppt_x"/>
                                          </p:val>
                                        </p:tav>
                                        <p:tav tm="100000">
                                          <p:val>
                                            <p:strVal val="#ppt_x"/>
                                          </p:val>
                                        </p:tav>
                                      </p:tavLst>
                                    </p:anim>
                                    <p:anim calcmode="lin" valueType="num">
                                      <p:cBhvr>
                                        <p:cTn id="94" dur="6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1854"/>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1957"/>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fill="hold"/>
                                        <p:tgtEl>
                                          <p:spTgt spid="21"/>
                                        </p:tgtEl>
                                        <p:attrNameLst>
                                          <p:attrName>ppt_x</p:attrName>
                                        </p:attrNameLst>
                                      </p:cBhvr>
                                      <p:tavLst>
                                        <p:tav tm="0">
                                          <p:val>
                                            <p:strVal val="#ppt_x"/>
                                          </p:val>
                                        </p:tav>
                                        <p:tav tm="100000">
                                          <p:val>
                                            <p:strVal val="#ppt_x"/>
                                          </p:val>
                                        </p:tav>
                                      </p:tavLst>
                                    </p:anim>
                                    <p:anim calcmode="lin" valueType="num">
                                      <p:cBhvr>
                                        <p:cTn id="104" dur="6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206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fill="hold"/>
                                        <p:tgtEl>
                                          <p:spTgt spid="22"/>
                                        </p:tgtEl>
                                        <p:attrNameLst>
                                          <p:attrName>ppt_x</p:attrName>
                                        </p:attrNameLst>
                                      </p:cBhvr>
                                      <p:tavLst>
                                        <p:tav tm="0">
                                          <p:val>
                                            <p:strVal val="#ppt_x"/>
                                          </p:val>
                                        </p:tav>
                                        <p:tav tm="100000">
                                          <p:val>
                                            <p:strVal val="#ppt_x"/>
                                          </p:val>
                                        </p:tav>
                                      </p:tavLst>
                                    </p:anim>
                                    <p:anim calcmode="lin" valueType="num">
                                      <p:cBhvr>
                                        <p:cTn id="109" dur="6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2163"/>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600"/>
                                        <p:tgtEl>
                                          <p:spTgt spid="23"/>
                                        </p:tgtEl>
                                      </p:cBhvr>
                                    </p:animEffect>
                                    <p:anim calcmode="lin" valueType="num">
                                      <p:cBhvr>
                                        <p:cTn id="113" dur="600" fill="hold"/>
                                        <p:tgtEl>
                                          <p:spTgt spid="23"/>
                                        </p:tgtEl>
                                        <p:attrNameLst>
                                          <p:attrName>ppt_x</p:attrName>
                                        </p:attrNameLst>
                                      </p:cBhvr>
                                      <p:tavLst>
                                        <p:tav tm="0">
                                          <p:val>
                                            <p:strVal val="#ppt_x"/>
                                          </p:val>
                                        </p:tav>
                                        <p:tav tm="100000">
                                          <p:val>
                                            <p:strVal val="#ppt_x"/>
                                          </p:val>
                                        </p:tav>
                                      </p:tavLst>
                                    </p:anim>
                                    <p:anim calcmode="lin" valueType="num">
                                      <p:cBhvr>
                                        <p:cTn id="114" dur="6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2266"/>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600"/>
                                        <p:tgtEl>
                                          <p:spTgt spid="24"/>
                                        </p:tgtEl>
                                      </p:cBhvr>
                                    </p:animEffect>
                                    <p:anim calcmode="lin" valueType="num">
                                      <p:cBhvr>
                                        <p:cTn id="118" dur="600" fill="hold"/>
                                        <p:tgtEl>
                                          <p:spTgt spid="24"/>
                                        </p:tgtEl>
                                        <p:attrNameLst>
                                          <p:attrName>ppt_x</p:attrName>
                                        </p:attrNameLst>
                                      </p:cBhvr>
                                      <p:tavLst>
                                        <p:tav tm="0">
                                          <p:val>
                                            <p:strVal val="#ppt_x"/>
                                          </p:val>
                                        </p:tav>
                                        <p:tav tm="100000">
                                          <p:val>
                                            <p:strVal val="#ppt_x"/>
                                          </p:val>
                                        </p:tav>
                                      </p:tavLst>
                                    </p:anim>
                                    <p:anim calcmode="lin" valueType="num">
                                      <p:cBhvr>
                                        <p:cTn id="119" dur="600" fill="hold"/>
                                        <p:tgtEl>
                                          <p:spTgt spid="24"/>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2369"/>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600"/>
                                        <p:tgtEl>
                                          <p:spTgt spid="25"/>
                                        </p:tgtEl>
                                      </p:cBhvr>
                                    </p:animEffect>
                                    <p:anim calcmode="lin" valueType="num">
                                      <p:cBhvr>
                                        <p:cTn id="123" dur="600" fill="hold"/>
                                        <p:tgtEl>
                                          <p:spTgt spid="25"/>
                                        </p:tgtEl>
                                        <p:attrNameLst>
                                          <p:attrName>ppt_x</p:attrName>
                                        </p:attrNameLst>
                                      </p:cBhvr>
                                      <p:tavLst>
                                        <p:tav tm="0">
                                          <p:val>
                                            <p:strVal val="#ppt_x"/>
                                          </p:val>
                                        </p:tav>
                                        <p:tav tm="100000">
                                          <p:val>
                                            <p:strVal val="#ppt_x"/>
                                          </p:val>
                                        </p:tav>
                                      </p:tavLst>
                                    </p:anim>
                                    <p:anim calcmode="lin" valueType="num">
                                      <p:cBhvr>
                                        <p:cTn id="124" dur="600" fill="hold"/>
                                        <p:tgtEl>
                                          <p:spTgt spid="25"/>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2472"/>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600"/>
                                        <p:tgtEl>
                                          <p:spTgt spid="26"/>
                                        </p:tgtEl>
                                      </p:cBhvr>
                                    </p:animEffect>
                                    <p:anim calcmode="lin" valueType="num">
                                      <p:cBhvr>
                                        <p:cTn id="128" dur="600" fill="hold"/>
                                        <p:tgtEl>
                                          <p:spTgt spid="26"/>
                                        </p:tgtEl>
                                        <p:attrNameLst>
                                          <p:attrName>ppt_x</p:attrName>
                                        </p:attrNameLst>
                                      </p:cBhvr>
                                      <p:tavLst>
                                        <p:tav tm="0">
                                          <p:val>
                                            <p:strVal val="#ppt_x"/>
                                          </p:val>
                                        </p:tav>
                                        <p:tav tm="100000">
                                          <p:val>
                                            <p:strVal val="#ppt_x"/>
                                          </p:val>
                                        </p:tav>
                                      </p:tavLst>
                                    </p:anim>
                                    <p:anim calcmode="lin" valueType="num">
                                      <p:cBhvr>
                                        <p:cTn id="129" dur="600" fill="hold"/>
                                        <p:tgtEl>
                                          <p:spTgt spid="26"/>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2575"/>
                                  </p:stCondLst>
                                  <p:childTnLst>
                                    <p:set>
                                      <p:cBhvr>
                                        <p:cTn id="131" dur="1" fill="hold">
                                          <p:stCondLst>
                                            <p:cond delay="0"/>
                                          </p:stCondLst>
                                        </p:cTn>
                                        <p:tgtEl>
                                          <p:spTgt spid="27"/>
                                        </p:tgtEl>
                                        <p:attrNameLst>
                                          <p:attrName>style.visibility</p:attrName>
                                        </p:attrNameLst>
                                      </p:cBhvr>
                                      <p:to>
                                        <p:strVal val="visible"/>
                                      </p:to>
                                    </p:set>
                                    <p:animEffect transition="in" filter="fade">
                                      <p:cBhvr>
                                        <p:cTn id="132" dur="600"/>
                                        <p:tgtEl>
                                          <p:spTgt spid="27"/>
                                        </p:tgtEl>
                                      </p:cBhvr>
                                    </p:animEffect>
                                    <p:anim calcmode="lin" valueType="num">
                                      <p:cBhvr>
                                        <p:cTn id="133" dur="600" fill="hold"/>
                                        <p:tgtEl>
                                          <p:spTgt spid="27"/>
                                        </p:tgtEl>
                                        <p:attrNameLst>
                                          <p:attrName>ppt_x</p:attrName>
                                        </p:attrNameLst>
                                      </p:cBhvr>
                                      <p:tavLst>
                                        <p:tav tm="0">
                                          <p:val>
                                            <p:strVal val="#ppt_x"/>
                                          </p:val>
                                        </p:tav>
                                        <p:tav tm="100000">
                                          <p:val>
                                            <p:strVal val="#ppt_x"/>
                                          </p:val>
                                        </p:tav>
                                      </p:tavLst>
                                    </p:anim>
                                    <p:anim calcmode="lin" valueType="num">
                                      <p:cBhvr>
                                        <p:cTn id="134" dur="600" fill="hold"/>
                                        <p:tgtEl>
                                          <p:spTgt spid="27"/>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2678"/>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600"/>
                                        <p:tgtEl>
                                          <p:spTgt spid="28"/>
                                        </p:tgtEl>
                                      </p:cBhvr>
                                    </p:animEffect>
                                    <p:anim calcmode="lin" valueType="num">
                                      <p:cBhvr>
                                        <p:cTn id="138" dur="600" fill="hold"/>
                                        <p:tgtEl>
                                          <p:spTgt spid="28"/>
                                        </p:tgtEl>
                                        <p:attrNameLst>
                                          <p:attrName>ppt_x</p:attrName>
                                        </p:attrNameLst>
                                      </p:cBhvr>
                                      <p:tavLst>
                                        <p:tav tm="0">
                                          <p:val>
                                            <p:strVal val="#ppt_x"/>
                                          </p:val>
                                        </p:tav>
                                        <p:tav tm="100000">
                                          <p:val>
                                            <p:strVal val="#ppt_x"/>
                                          </p:val>
                                        </p:tav>
                                      </p:tavLst>
                                    </p:anim>
                                    <p:anim calcmode="lin" valueType="num">
                                      <p:cBhvr>
                                        <p:cTn id="139" dur="600" fill="hold"/>
                                        <p:tgtEl>
                                          <p:spTgt spid="28"/>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2781"/>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600"/>
                                        <p:tgtEl>
                                          <p:spTgt spid="29"/>
                                        </p:tgtEl>
                                      </p:cBhvr>
                                    </p:animEffect>
                                    <p:anim calcmode="lin" valueType="num">
                                      <p:cBhvr>
                                        <p:cTn id="143" dur="600" fill="hold"/>
                                        <p:tgtEl>
                                          <p:spTgt spid="29"/>
                                        </p:tgtEl>
                                        <p:attrNameLst>
                                          <p:attrName>ppt_x</p:attrName>
                                        </p:attrNameLst>
                                      </p:cBhvr>
                                      <p:tavLst>
                                        <p:tav tm="0">
                                          <p:val>
                                            <p:strVal val="#ppt_x"/>
                                          </p:val>
                                        </p:tav>
                                        <p:tav tm="100000">
                                          <p:val>
                                            <p:strVal val="#ppt_x"/>
                                          </p:val>
                                        </p:tav>
                                      </p:tavLst>
                                    </p:anim>
                                    <p:anim calcmode="lin" valueType="num">
                                      <p:cBhvr>
                                        <p:cTn id="144" dur="600" fill="hold"/>
                                        <p:tgtEl>
                                          <p:spTgt spid="29"/>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2884"/>
                                  </p:stCondLst>
                                  <p:childTnLst>
                                    <p:set>
                                      <p:cBhvr>
                                        <p:cTn id="146" dur="1" fill="hold">
                                          <p:stCondLst>
                                            <p:cond delay="0"/>
                                          </p:stCondLst>
                                        </p:cTn>
                                        <p:tgtEl>
                                          <p:spTgt spid="25"/>
                                        </p:tgtEl>
                                        <p:attrNameLst>
                                          <p:attrName>style.visibility</p:attrName>
                                        </p:attrNameLst>
                                      </p:cBhvr>
                                      <p:to>
                                        <p:strVal val="visible"/>
                                      </p:to>
                                    </p:set>
                                    <p:animEffect transition="in" filter="fade">
                                      <p:cBhvr>
                                        <p:cTn id="147" dur="600"/>
                                        <p:tgtEl>
                                          <p:spTgt spid="25"/>
                                        </p:tgtEl>
                                      </p:cBhvr>
                                    </p:animEffect>
                                    <p:anim calcmode="lin" valueType="num">
                                      <p:cBhvr>
                                        <p:cTn id="148" dur="600" fill="hold"/>
                                        <p:tgtEl>
                                          <p:spTgt spid="25"/>
                                        </p:tgtEl>
                                        <p:attrNameLst>
                                          <p:attrName>ppt_x</p:attrName>
                                        </p:attrNameLst>
                                      </p:cBhvr>
                                      <p:tavLst>
                                        <p:tav tm="0">
                                          <p:val>
                                            <p:strVal val="#ppt_x"/>
                                          </p:val>
                                        </p:tav>
                                        <p:tav tm="100000">
                                          <p:val>
                                            <p:strVal val="#ppt_x"/>
                                          </p:val>
                                        </p:tav>
                                      </p:tavLst>
                                    </p:anim>
                                    <p:anim calcmode="lin" valueType="num">
                                      <p:cBhvr>
                                        <p:cTn id="14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Diagramme de classes global</a:t>
            </a:r>
            <a:endParaRPr lang="en-US" sz="3200" dirty="0"/>
          </a:p>
        </p:txBody>
      </p:sp>
      <p:pic>
        <p:nvPicPr>
          <p:cNvPr id="3" name="Diagramme de classes global" descr="Diagramme de classes global">    </p:cNvPr>
          <p:cNvPicPr>
            <a:picLocks noChangeAspect="1"/>
          </p:cNvPicPr>
          <p:nvPr/>
        </p:nvPicPr>
        <p:blipFill>
          <a:blip r:embed="rId1"/>
          <a:stretch>
            <a:fillRect/>
          </a:stretch>
        </p:blipFill>
        <p:spPr>
          <a:xfrm>
            <a:off x="5442205" y="1188720"/>
            <a:ext cx="4386069" cy="5120640"/>
          </a:xfrm>
          <a:prstGeom prst="rect">
            <a:avLst/>
          </a:prstGeom>
        </p:spPr>
      </p:pic>
      <p:sp>
        <p:nvSpPr>
          <p:cNvPr id="4" name="Diagramme de classes global cadre"/>
          <p:cNvSpPr/>
          <p:nvPr/>
        </p:nvSpPr>
        <p:spPr>
          <a:xfrm>
            <a:off x="5442205" y="1188720"/>
            <a:ext cx="4386069" cy="5120640"/>
          </a:xfrm>
          <a:prstGeom prst="rect">
            <a:avLst/>
          </a:prstGeom>
          <a:ln w="12700">
            <a:solidFill>
              <a:srgbClr val="C9DED6"/>
            </a:solidFill>
            <a:prstDash val="solid"/>
          </a:ln>
        </p:spPr>
      </p:sp>
      <p:sp>
        <p:nvSpPr>
          <p:cNvPr id="5" name="Liste classes"/>
          <p:cNvSpPr txBox="1"/>
          <p:nvPr/>
        </p:nvSpPr>
        <p:spPr>
          <a:xfrm>
            <a:off x="548640" y="1645920"/>
            <a:ext cx="4389120" cy="329184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tx1"/>
                </a:solidFill>
              </a:rPr>
              <a:t>9 classes principales</a:t>
            </a:r>
            <a:endParaRPr lang="en-US" sz="1800" dirty="0"/>
          </a:p>
          <a:p>
            <a:pPr marL="228600" indent="-228600">
              <a:spcAft>
                <a:spcPts val="1200"/>
              </a:spcAft>
              <a:buSzPct val="100000"/>
              <a:buChar char="•"/>
            </a:pPr>
            <a:r>
              <a:rPr lang="en-US" sz="1800" dirty="0">
                <a:solidFill>
                  <a:schemeClr val="tx1"/>
                </a:solidFill>
              </a:rPr>
              <a:t>Utilisateur, Patient, Médecin</a:t>
            </a:r>
            <a:endParaRPr lang="en-US" sz="1800" dirty="0"/>
          </a:p>
          <a:p>
            <a:pPr marL="228600" indent="-228600">
              <a:spcAft>
                <a:spcPts val="1200"/>
              </a:spcAft>
              <a:buSzPct val="100000"/>
              <a:buChar char="•"/>
            </a:pPr>
            <a:r>
              <a:rPr lang="en-US" sz="1800" dirty="0">
                <a:solidFill>
                  <a:schemeClr val="tx1"/>
                </a:solidFill>
              </a:rPr>
              <a:t>HoraireTravail, Indisponibilité</a:t>
            </a:r>
            <a:endParaRPr lang="en-US" sz="1800" dirty="0"/>
          </a:p>
          <a:p>
            <a:pPr marL="228600" indent="-228600">
              <a:spcAft>
                <a:spcPts val="1200"/>
              </a:spcAft>
              <a:buSzPct val="100000"/>
              <a:buChar char="•"/>
            </a:pPr>
            <a:r>
              <a:rPr lang="en-US" sz="1800" dirty="0">
                <a:solidFill>
                  <a:schemeClr val="tx1"/>
                </a:solidFill>
              </a:rPr>
              <a:t>RendezVous, Consultation</a:t>
            </a:r>
            <a:endParaRPr lang="en-US" sz="1800" dirty="0"/>
          </a:p>
          <a:p>
            <a:pPr marL="228600" indent="-228600">
              <a:spcAft>
                <a:spcPts val="1200"/>
              </a:spcAft>
              <a:buSzPct val="100000"/>
              <a:buChar char="•"/>
            </a:pPr>
            <a:r>
              <a:rPr lang="en-US" sz="1800" dirty="0">
                <a:solidFill>
                  <a:schemeClr val="tx1"/>
                </a:solidFill>
              </a:rPr>
              <a:t>Notification, ListeAttente</a:t>
            </a:r>
            <a:endParaRPr lang="en-US" sz="18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600"/>
                                        <p:tgtEl>
                                          <p:spTgt spid="25"/>
                                        </p:tgtEl>
                                      </p:cBhvr>
                                    </p:animEffect>
                                    <p:anim calcmode="lin" valueType="num">
                                      <p:cBhvr>
                                        <p:cTn id="28" dur="600" fill="hold"/>
                                        <p:tgtEl>
                                          <p:spTgt spid="25"/>
                                        </p:tgtEl>
                                        <p:attrNameLst>
                                          <p:attrName>ppt_x</p:attrName>
                                        </p:attrNameLst>
                                      </p:cBhvr>
                                      <p:tavLst>
                                        <p:tav tm="0">
                                          <p:val>
                                            <p:strVal val="#ppt_x"/>
                                          </p:val>
                                        </p:tav>
                                        <p:tav tm="100000">
                                          <p:val>
                                            <p:strVal val="#ppt_x"/>
                                          </p:val>
                                        </p:tav>
                                      </p:tavLst>
                                    </p:anim>
                                    <p:anim calcmode="lin" valueType="num">
                                      <p:cBhvr>
                                        <p:cTn id="2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Diagramme de déploiement</a:t>
            </a:r>
            <a:endParaRPr lang="en-US" sz="3200" dirty="0"/>
          </a:p>
        </p:txBody>
      </p:sp>
      <p:pic>
        <p:nvPicPr>
          <p:cNvPr id="3" name="Diagramme de deploiement" descr="Diagramme de deploiement">    </p:cNvPr>
          <p:cNvPicPr>
            <a:picLocks noChangeAspect="1"/>
          </p:cNvPicPr>
          <p:nvPr/>
        </p:nvPicPr>
        <p:blipFill>
          <a:blip r:embed="rId1"/>
          <a:stretch>
            <a:fillRect/>
          </a:stretch>
        </p:blipFill>
        <p:spPr>
          <a:xfrm>
            <a:off x="6091054" y="1188720"/>
            <a:ext cx="3728452" cy="5120640"/>
          </a:xfrm>
          <a:prstGeom prst="rect">
            <a:avLst/>
          </a:prstGeom>
        </p:spPr>
      </p:pic>
      <p:sp>
        <p:nvSpPr>
          <p:cNvPr id="4" name="Diagramme de deploiement cadre"/>
          <p:cNvSpPr/>
          <p:nvPr/>
        </p:nvSpPr>
        <p:spPr>
          <a:xfrm>
            <a:off x="6091054" y="1188720"/>
            <a:ext cx="3728452" cy="5120640"/>
          </a:xfrm>
          <a:prstGeom prst="rect">
            <a:avLst/>
          </a:prstGeom>
          <a:ln w="12700">
            <a:solidFill>
              <a:srgbClr val="C9DED6"/>
            </a:solidFill>
            <a:prstDash val="solid"/>
          </a:ln>
        </p:spPr>
      </p:sp>
      <p:sp>
        <p:nvSpPr>
          <p:cNvPr id="5" name="Noeud 1 cercle"/>
          <p:cNvSpPr/>
          <p:nvPr/>
        </p:nvSpPr>
        <p:spPr>
          <a:xfrm>
            <a:off x="548640" y="1508760"/>
            <a:ext cx="685800" cy="685800"/>
          </a:xfrm>
          <a:prstGeom prst="ellipse">
            <a:avLst/>
          </a:prstGeom>
          <a:solidFill>
            <a:schemeClr val="accent1"/>
          </a:solidFill>
          <a:ln w="12700">
            <a:solidFill>
              <a:schemeClr val="accent1"/>
            </a:solidFill>
            <a:prstDash val="solid"/>
          </a:ln>
        </p:spPr>
      </p:sp>
      <p:pic>
        <p:nvPicPr>
          <p:cNvPr id="6" name="Noeud 1 icone" descr="preencoded.png">    </p:cNvPr>
          <p:cNvPicPr>
            <a:picLocks noChangeAspect="1"/>
          </p:cNvPicPr>
          <p:nvPr/>
        </p:nvPicPr>
        <p:blipFill>
          <a:blip r:embed="rId2"/>
          <a:stretch>
            <a:fillRect/>
          </a:stretch>
        </p:blipFill>
        <p:spPr>
          <a:xfrm>
            <a:off x="713232" y="1673352"/>
            <a:ext cx="356616" cy="356616"/>
          </a:xfrm>
          <a:prstGeom prst="rect">
            <a:avLst/>
          </a:prstGeom>
        </p:spPr>
      </p:pic>
      <p:sp>
        <p:nvSpPr>
          <p:cNvPr id="7" name="Texte noeud 1"/>
          <p:cNvSpPr txBox="1"/>
          <p:nvPr/>
        </p:nvSpPr>
        <p:spPr>
          <a:xfrm>
            <a:off x="1417320" y="1508760"/>
            <a:ext cx="4114800" cy="685800"/>
          </a:xfrm>
          <a:prstGeom prst="rect">
            <a:avLst/>
          </a:prstGeom>
          <a:noFill/>
          <a:ln/>
        </p:spPr>
        <p:txBody>
          <a:bodyPr wrap="square" lIns="0" tIns="0" rIns="0" bIns="0" rtlCol="0" anchor="ctr"/>
          <a:lstStyle/>
          <a:p>
            <a:pPr indent="0" marL="0">
              <a:buNone/>
            </a:pPr>
            <a:r>
              <a:rPr lang="en-US" sz="1700" dirty="0">
                <a:solidFill>
                  <a:schemeClr val="tx1"/>
                </a:solidFill>
              </a:rPr>
              <a:t>Navigateur du patient ou de la réception</a:t>
            </a:r>
            <a:endParaRPr lang="en-US" sz="1700" dirty="0"/>
          </a:p>
        </p:txBody>
      </p:sp>
      <p:sp>
        <p:nvSpPr>
          <p:cNvPr id="8" name="Noeud 2 cercle"/>
          <p:cNvSpPr/>
          <p:nvPr/>
        </p:nvSpPr>
        <p:spPr>
          <a:xfrm>
            <a:off x="548640" y="2651760"/>
            <a:ext cx="685800" cy="685800"/>
          </a:xfrm>
          <a:prstGeom prst="ellipse">
            <a:avLst/>
          </a:prstGeom>
          <a:solidFill>
            <a:schemeClr val="accent2"/>
          </a:solidFill>
          <a:ln w="12700">
            <a:solidFill>
              <a:schemeClr val="accent2"/>
            </a:solidFill>
            <a:prstDash val="solid"/>
          </a:ln>
        </p:spPr>
      </p:sp>
      <p:pic>
        <p:nvPicPr>
          <p:cNvPr id="9" name="Noeud 2 icone" descr="preencoded.png">    </p:cNvPr>
          <p:cNvPicPr>
            <a:picLocks noChangeAspect="1"/>
          </p:cNvPicPr>
          <p:nvPr/>
        </p:nvPicPr>
        <p:blipFill>
          <a:blip r:embed="rId3"/>
          <a:stretch>
            <a:fillRect/>
          </a:stretch>
        </p:blipFill>
        <p:spPr>
          <a:xfrm>
            <a:off x="713232" y="2816352"/>
            <a:ext cx="356616" cy="356616"/>
          </a:xfrm>
          <a:prstGeom prst="rect">
            <a:avLst/>
          </a:prstGeom>
        </p:spPr>
      </p:pic>
      <p:sp>
        <p:nvSpPr>
          <p:cNvPr id="10" name="Texte noeud 2"/>
          <p:cNvSpPr txBox="1"/>
          <p:nvPr/>
        </p:nvSpPr>
        <p:spPr>
          <a:xfrm>
            <a:off x="1417320" y="2651760"/>
            <a:ext cx="4114800" cy="685800"/>
          </a:xfrm>
          <a:prstGeom prst="rect">
            <a:avLst/>
          </a:prstGeom>
          <a:noFill/>
          <a:ln/>
        </p:spPr>
        <p:txBody>
          <a:bodyPr wrap="square" lIns="0" tIns="0" rIns="0" bIns="0" rtlCol="0" anchor="ctr"/>
          <a:lstStyle/>
          <a:p>
            <a:pPr indent="0" marL="0">
              <a:buNone/>
            </a:pPr>
            <a:r>
              <a:rPr lang="en-US" sz="1700" dirty="0">
                <a:solidFill>
                  <a:schemeClr val="tx1"/>
                </a:solidFill>
              </a:rPr>
              <a:t>Serveur Node.js avec l’application Next.js</a:t>
            </a:r>
            <a:endParaRPr lang="en-US" sz="1700" dirty="0"/>
          </a:p>
        </p:txBody>
      </p:sp>
      <p:sp>
        <p:nvSpPr>
          <p:cNvPr id="11" name="Noeud 3 cercle"/>
          <p:cNvSpPr/>
          <p:nvPr/>
        </p:nvSpPr>
        <p:spPr>
          <a:xfrm>
            <a:off x="548640" y="3794760"/>
            <a:ext cx="685800" cy="685800"/>
          </a:xfrm>
          <a:prstGeom prst="ellipse">
            <a:avLst/>
          </a:prstGeom>
          <a:solidFill>
            <a:schemeClr val="accent1"/>
          </a:solidFill>
          <a:ln w="12700">
            <a:solidFill>
              <a:schemeClr val="accent1"/>
            </a:solidFill>
            <a:prstDash val="solid"/>
          </a:ln>
        </p:spPr>
      </p:sp>
      <p:pic>
        <p:nvPicPr>
          <p:cNvPr id="12" name="Noeud 3 icone" descr="preencoded.png">    </p:cNvPr>
          <p:cNvPicPr>
            <a:picLocks noChangeAspect="1"/>
          </p:cNvPicPr>
          <p:nvPr/>
        </p:nvPicPr>
        <p:blipFill>
          <a:blip r:embed="rId4"/>
          <a:stretch>
            <a:fillRect/>
          </a:stretch>
        </p:blipFill>
        <p:spPr>
          <a:xfrm>
            <a:off x="713232" y="3959352"/>
            <a:ext cx="356616" cy="356616"/>
          </a:xfrm>
          <a:prstGeom prst="rect">
            <a:avLst/>
          </a:prstGeom>
        </p:spPr>
      </p:pic>
      <p:sp>
        <p:nvSpPr>
          <p:cNvPr id="13" name="Texte noeud 3"/>
          <p:cNvSpPr txBox="1"/>
          <p:nvPr/>
        </p:nvSpPr>
        <p:spPr>
          <a:xfrm>
            <a:off x="1417320" y="3794760"/>
            <a:ext cx="4114800" cy="685800"/>
          </a:xfrm>
          <a:prstGeom prst="rect">
            <a:avLst/>
          </a:prstGeom>
          <a:noFill/>
          <a:ln/>
        </p:spPr>
        <p:txBody>
          <a:bodyPr wrap="square" lIns="0" tIns="0" rIns="0" bIns="0" rtlCol="0" anchor="ctr"/>
          <a:lstStyle/>
          <a:p>
            <a:pPr indent="0" marL="0">
              <a:buNone/>
            </a:pPr>
            <a:r>
              <a:rPr lang="en-US" sz="1700" dirty="0">
                <a:solidFill>
                  <a:schemeClr val="tx1"/>
                </a:solidFill>
              </a:rPr>
              <a:t>Base de données PostgreSQL</a:t>
            </a:r>
            <a:endParaRPr lang="en-US" sz="1700" dirty="0"/>
          </a:p>
        </p:txBody>
      </p:sp>
      <p:sp>
        <p:nvSpPr>
          <p:cNvPr id="14" name="Noeud 4 cercle"/>
          <p:cNvSpPr/>
          <p:nvPr/>
        </p:nvSpPr>
        <p:spPr>
          <a:xfrm>
            <a:off x="548640" y="4937760"/>
            <a:ext cx="685800" cy="685800"/>
          </a:xfrm>
          <a:prstGeom prst="ellipse">
            <a:avLst/>
          </a:prstGeom>
          <a:solidFill>
            <a:schemeClr val="accent2"/>
          </a:solidFill>
          <a:ln w="12700">
            <a:solidFill>
              <a:schemeClr val="accent2"/>
            </a:solidFill>
            <a:prstDash val="solid"/>
          </a:ln>
        </p:spPr>
      </p:sp>
      <p:pic>
        <p:nvPicPr>
          <p:cNvPr id="15" name="Noeud 4 icone" descr="preencoded.png">    </p:cNvPr>
          <p:cNvPicPr>
            <a:picLocks noChangeAspect="1"/>
          </p:cNvPicPr>
          <p:nvPr/>
        </p:nvPicPr>
        <p:blipFill>
          <a:blip r:embed="rId5"/>
          <a:stretch>
            <a:fillRect/>
          </a:stretch>
        </p:blipFill>
        <p:spPr>
          <a:xfrm>
            <a:off x="713232" y="5102352"/>
            <a:ext cx="356616" cy="356616"/>
          </a:xfrm>
          <a:prstGeom prst="rect">
            <a:avLst/>
          </a:prstGeom>
        </p:spPr>
      </p:pic>
      <p:sp>
        <p:nvSpPr>
          <p:cNvPr id="16" name="Texte noeud 4"/>
          <p:cNvSpPr txBox="1"/>
          <p:nvPr/>
        </p:nvSpPr>
        <p:spPr>
          <a:xfrm>
            <a:off x="1417320" y="4937760"/>
            <a:ext cx="4114800" cy="685800"/>
          </a:xfrm>
          <a:prstGeom prst="rect">
            <a:avLst/>
          </a:prstGeom>
          <a:noFill/>
          <a:ln/>
        </p:spPr>
        <p:txBody>
          <a:bodyPr wrap="square" lIns="0" tIns="0" rIns="0" bIns="0" rtlCol="0" anchor="ctr"/>
          <a:lstStyle/>
          <a:p>
            <a:pPr indent="0" marL="0">
              <a:buNone/>
            </a:pPr>
            <a:r>
              <a:rPr lang="en-US" sz="1700" dirty="0">
                <a:solidFill>
                  <a:schemeClr val="tx1"/>
                </a:solidFill>
              </a:rPr>
              <a:t>API OpenAI pour l’assistant</a:t>
            </a:r>
            <a:endParaRPr lang="en-US" sz="17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9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26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62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8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98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216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234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252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270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600"/>
                                        <p:tgtEl>
                                          <p:spTgt spid="25"/>
                                        </p:tgtEl>
                                      </p:cBhvr>
                                    </p:animEffect>
                                    <p:anim calcmode="lin" valueType="num">
                                      <p:cBhvr>
                                        <p:cTn id="83" dur="600" fill="hold"/>
                                        <p:tgtEl>
                                          <p:spTgt spid="25"/>
                                        </p:tgtEl>
                                        <p:attrNameLst>
                                          <p:attrName>ppt_x</p:attrName>
                                        </p:attrNameLst>
                                      </p:cBhvr>
                                      <p:tavLst>
                                        <p:tav tm="0">
                                          <p:val>
                                            <p:strVal val="#ppt_x"/>
                                          </p:val>
                                        </p:tav>
                                        <p:tav tm="100000">
                                          <p:val>
                                            <p:strVal val="#ppt_x"/>
                                          </p:val>
                                        </p:tav>
                                      </p:tavLst>
                                    </p:anim>
                                    <p:anim calcmode="lin" valueType="num">
                                      <p:cBhvr>
                                        <p:cTn id="8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7863840" cy="1280160"/>
          </a:xfrm>
          <a:prstGeom prst="rect">
            <a:avLst/>
          </a:prstGeom>
          <a:noFill/>
          <a:ln/>
        </p:spPr>
        <p:txBody>
          <a:bodyPr wrap="square" lIns="0" tIns="0" rIns="0" bIns="0" rtlCol="0" anchor="ctr"/>
          <a:lstStyle/>
          <a:p>
            <a:pPr algn="l" indent="0" marL="0">
              <a:buNone/>
            </a:pPr>
            <a:r>
              <a:rPr lang="en-US" sz="4400" b="1" dirty="0">
                <a:solidFill>
                  <a:schemeClr val="tx2"/>
                </a:solidFill>
              </a:rPr>
              <a:t>Réalisation et démonstration</a:t>
            </a:r>
            <a:endParaRPr lang="en-US" sz="4400" dirty="0"/>
          </a:p>
        </p:txBody>
      </p:sp>
      <p:sp>
        <p:nvSpPr>
          <p:cNvPr id="3" name="Numero partie"/>
          <p:cNvSpPr txBox="1"/>
          <p:nvPr/>
        </p:nvSpPr>
        <p:spPr>
          <a:xfrm>
            <a:off x="822960" y="2240280"/>
            <a:ext cx="3657600" cy="411480"/>
          </a:xfrm>
          <a:prstGeom prst="rect">
            <a:avLst/>
          </a:prstGeom>
          <a:noFill/>
          <a:ln/>
        </p:spPr>
        <p:txBody>
          <a:bodyPr wrap="square" lIns="0" tIns="0" rIns="0" bIns="0" rtlCol="0" anchor="t"/>
          <a:lstStyle/>
          <a:p>
            <a:pPr indent="0" marL="0">
              <a:buNone/>
            </a:pPr>
            <a:r>
              <a:rPr lang="en-US" sz="2000" b="1" dirty="0">
                <a:solidFill>
                  <a:schemeClr val="accent2"/>
                </a:solidFill>
              </a:rPr>
              <a:t>Partie 03</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Technologies utilisées</a:t>
            </a:r>
            <a:endParaRPr lang="en-US" sz="3200" dirty="0"/>
          </a:p>
        </p:txBody>
      </p:sp>
      <p:sp>
        <p:nvSpPr>
          <p:cNvPr id="3" name="Carte techno 1"/>
          <p:cNvSpPr/>
          <p:nvPr/>
        </p:nvSpPr>
        <p:spPr>
          <a:xfrm>
            <a:off x="548640" y="1463040"/>
            <a:ext cx="214884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4" name="Techno 1 cercle"/>
          <p:cNvSpPr/>
          <p:nvPr/>
        </p:nvSpPr>
        <p:spPr>
          <a:xfrm>
            <a:off x="1207008" y="1664208"/>
            <a:ext cx="822960" cy="822960"/>
          </a:xfrm>
          <a:prstGeom prst="ellipse">
            <a:avLst/>
          </a:prstGeom>
          <a:solidFill>
            <a:schemeClr val="accent1"/>
          </a:solidFill>
          <a:ln w="12700">
            <a:solidFill>
              <a:schemeClr val="accent1"/>
            </a:solidFill>
            <a:prstDash val="solid"/>
          </a:ln>
        </p:spPr>
      </p:sp>
      <p:pic>
        <p:nvPicPr>
          <p:cNvPr id="5" name="Techno 1 icone" descr="preencoded.png">    </p:cNvPr>
          <p:cNvPicPr>
            <a:picLocks noChangeAspect="1"/>
          </p:cNvPicPr>
          <p:nvPr/>
        </p:nvPicPr>
        <p:blipFill>
          <a:blip r:embed="rId1"/>
          <a:stretch>
            <a:fillRect/>
          </a:stretch>
        </p:blipFill>
        <p:spPr>
          <a:xfrm>
            <a:off x="1404518" y="1861718"/>
            <a:ext cx="427939" cy="427939"/>
          </a:xfrm>
          <a:prstGeom prst="rect">
            <a:avLst/>
          </a:prstGeom>
        </p:spPr>
      </p:pic>
      <p:sp>
        <p:nvSpPr>
          <p:cNvPr id="6" name="Nom techno 1"/>
          <p:cNvSpPr txBox="1"/>
          <p:nvPr/>
        </p:nvSpPr>
        <p:spPr>
          <a:xfrm>
            <a:off x="640080" y="2560320"/>
            <a:ext cx="1965960" cy="411480"/>
          </a:xfrm>
          <a:prstGeom prst="rect">
            <a:avLst/>
          </a:prstGeom>
          <a:noFill/>
          <a:ln/>
        </p:spPr>
        <p:txBody>
          <a:bodyPr wrap="square" lIns="0" tIns="0" rIns="0" bIns="0" rtlCol="0" anchor="t"/>
          <a:lstStyle/>
          <a:p>
            <a:pPr algn="ctr" indent="0" marL="0">
              <a:buNone/>
            </a:pPr>
            <a:r>
              <a:rPr lang="en-US" sz="1700" b="1" dirty="0">
                <a:solidFill>
                  <a:schemeClr val="tx2"/>
                </a:solidFill>
              </a:rPr>
              <a:t>Next.js 16</a:t>
            </a:r>
            <a:endParaRPr lang="en-US" sz="1700" dirty="0"/>
          </a:p>
        </p:txBody>
      </p:sp>
      <p:sp>
        <p:nvSpPr>
          <p:cNvPr id="7" name="Role techno 1"/>
          <p:cNvSpPr txBox="1"/>
          <p:nvPr/>
        </p:nvSpPr>
        <p:spPr>
          <a:xfrm>
            <a:off x="640080" y="2971800"/>
            <a:ext cx="1965960" cy="365760"/>
          </a:xfrm>
          <a:prstGeom prst="rect">
            <a:avLst/>
          </a:prstGeom>
          <a:noFill/>
          <a:ln/>
        </p:spPr>
        <p:txBody>
          <a:bodyPr wrap="square" lIns="0" tIns="0" rIns="0" bIns="0" rtlCol="0" anchor="t"/>
          <a:lstStyle/>
          <a:p>
            <a:pPr algn="ctr" indent="0" marL="0">
              <a:buNone/>
            </a:pPr>
            <a:r>
              <a:rPr lang="en-US" sz="1400" dirty="0">
                <a:solidFill>
                  <a:schemeClr val="tx1"/>
                </a:solidFill>
              </a:rPr>
              <a:t>Framework web</a:t>
            </a:r>
            <a:endParaRPr lang="en-US" sz="1400" dirty="0"/>
          </a:p>
        </p:txBody>
      </p:sp>
      <p:sp>
        <p:nvSpPr>
          <p:cNvPr id="8" name="Carte techno 2"/>
          <p:cNvSpPr/>
          <p:nvPr/>
        </p:nvSpPr>
        <p:spPr>
          <a:xfrm>
            <a:off x="2926080" y="1463040"/>
            <a:ext cx="214884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9" name="Techno 2 cercle"/>
          <p:cNvSpPr/>
          <p:nvPr/>
        </p:nvSpPr>
        <p:spPr>
          <a:xfrm>
            <a:off x="3584448" y="1664208"/>
            <a:ext cx="822960" cy="822960"/>
          </a:xfrm>
          <a:prstGeom prst="ellipse">
            <a:avLst/>
          </a:prstGeom>
          <a:solidFill>
            <a:schemeClr val="accent2"/>
          </a:solidFill>
          <a:ln w="12700">
            <a:solidFill>
              <a:schemeClr val="accent2"/>
            </a:solidFill>
            <a:prstDash val="solid"/>
          </a:ln>
        </p:spPr>
      </p:sp>
      <p:pic>
        <p:nvPicPr>
          <p:cNvPr id="10" name="Techno 2 icone" descr="preencoded.png">    </p:cNvPr>
          <p:cNvPicPr>
            <a:picLocks noChangeAspect="1"/>
          </p:cNvPicPr>
          <p:nvPr/>
        </p:nvPicPr>
        <p:blipFill>
          <a:blip r:embed="rId2"/>
          <a:stretch>
            <a:fillRect/>
          </a:stretch>
        </p:blipFill>
        <p:spPr>
          <a:xfrm>
            <a:off x="3781958" y="1861718"/>
            <a:ext cx="427939" cy="427939"/>
          </a:xfrm>
          <a:prstGeom prst="rect">
            <a:avLst/>
          </a:prstGeom>
        </p:spPr>
      </p:pic>
      <p:sp>
        <p:nvSpPr>
          <p:cNvPr id="11" name="Nom techno 2"/>
          <p:cNvSpPr txBox="1"/>
          <p:nvPr/>
        </p:nvSpPr>
        <p:spPr>
          <a:xfrm>
            <a:off x="3017520" y="2560320"/>
            <a:ext cx="1965960" cy="411480"/>
          </a:xfrm>
          <a:prstGeom prst="rect">
            <a:avLst/>
          </a:prstGeom>
          <a:noFill/>
          <a:ln/>
        </p:spPr>
        <p:txBody>
          <a:bodyPr wrap="square" lIns="0" tIns="0" rIns="0" bIns="0" rtlCol="0" anchor="t"/>
          <a:lstStyle/>
          <a:p>
            <a:pPr algn="ctr" indent="0" marL="0">
              <a:buNone/>
            </a:pPr>
            <a:r>
              <a:rPr lang="en-US" sz="1700" b="1" dirty="0">
                <a:solidFill>
                  <a:schemeClr val="tx2"/>
                </a:solidFill>
              </a:rPr>
              <a:t>React 19</a:t>
            </a:r>
            <a:endParaRPr lang="en-US" sz="1700" dirty="0"/>
          </a:p>
        </p:txBody>
      </p:sp>
      <p:sp>
        <p:nvSpPr>
          <p:cNvPr id="12" name="Role techno 2"/>
          <p:cNvSpPr txBox="1"/>
          <p:nvPr/>
        </p:nvSpPr>
        <p:spPr>
          <a:xfrm>
            <a:off x="3017520" y="2971800"/>
            <a:ext cx="1965960" cy="365760"/>
          </a:xfrm>
          <a:prstGeom prst="rect">
            <a:avLst/>
          </a:prstGeom>
          <a:noFill/>
          <a:ln/>
        </p:spPr>
        <p:txBody>
          <a:bodyPr wrap="square" lIns="0" tIns="0" rIns="0" bIns="0" rtlCol="0" anchor="t"/>
          <a:lstStyle/>
          <a:p>
            <a:pPr algn="ctr" indent="0" marL="0">
              <a:buNone/>
            </a:pPr>
            <a:r>
              <a:rPr lang="en-US" sz="1400" dirty="0">
                <a:solidFill>
                  <a:schemeClr val="tx1"/>
                </a:solidFill>
              </a:rPr>
              <a:t>Interfaces</a:t>
            </a:r>
            <a:endParaRPr lang="en-US" sz="1400" dirty="0"/>
          </a:p>
        </p:txBody>
      </p:sp>
      <p:sp>
        <p:nvSpPr>
          <p:cNvPr id="13" name="Carte techno 3"/>
          <p:cNvSpPr/>
          <p:nvPr/>
        </p:nvSpPr>
        <p:spPr>
          <a:xfrm>
            <a:off x="5303520" y="1463040"/>
            <a:ext cx="214884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4" name="Techno 3 cercle"/>
          <p:cNvSpPr/>
          <p:nvPr/>
        </p:nvSpPr>
        <p:spPr>
          <a:xfrm>
            <a:off x="5961888" y="1664208"/>
            <a:ext cx="822960" cy="822960"/>
          </a:xfrm>
          <a:prstGeom prst="ellipse">
            <a:avLst/>
          </a:prstGeom>
          <a:solidFill>
            <a:schemeClr val="accent1"/>
          </a:solidFill>
          <a:ln w="12700">
            <a:solidFill>
              <a:schemeClr val="accent1"/>
            </a:solidFill>
            <a:prstDash val="solid"/>
          </a:ln>
        </p:spPr>
      </p:sp>
      <p:pic>
        <p:nvPicPr>
          <p:cNvPr id="15" name="Techno 3 icone" descr="preencoded.png">    </p:cNvPr>
          <p:cNvPicPr>
            <a:picLocks noChangeAspect="1"/>
          </p:cNvPicPr>
          <p:nvPr/>
        </p:nvPicPr>
        <p:blipFill>
          <a:blip r:embed="rId3"/>
          <a:stretch>
            <a:fillRect/>
          </a:stretch>
        </p:blipFill>
        <p:spPr>
          <a:xfrm>
            <a:off x="6159398" y="1861718"/>
            <a:ext cx="427939" cy="427939"/>
          </a:xfrm>
          <a:prstGeom prst="rect">
            <a:avLst/>
          </a:prstGeom>
        </p:spPr>
      </p:pic>
      <p:sp>
        <p:nvSpPr>
          <p:cNvPr id="16" name="Nom techno 3"/>
          <p:cNvSpPr txBox="1"/>
          <p:nvPr/>
        </p:nvSpPr>
        <p:spPr>
          <a:xfrm>
            <a:off x="5394960" y="2560320"/>
            <a:ext cx="1965960" cy="411480"/>
          </a:xfrm>
          <a:prstGeom prst="rect">
            <a:avLst/>
          </a:prstGeom>
          <a:noFill/>
          <a:ln/>
        </p:spPr>
        <p:txBody>
          <a:bodyPr wrap="square" lIns="0" tIns="0" rIns="0" bIns="0" rtlCol="0" anchor="t"/>
          <a:lstStyle/>
          <a:p>
            <a:pPr algn="ctr" indent="0" marL="0">
              <a:buNone/>
            </a:pPr>
            <a:r>
              <a:rPr lang="en-US" sz="1700" b="1" dirty="0">
                <a:solidFill>
                  <a:schemeClr val="tx2"/>
                </a:solidFill>
              </a:rPr>
              <a:t>TypeScript</a:t>
            </a:r>
            <a:endParaRPr lang="en-US" sz="1700" dirty="0"/>
          </a:p>
        </p:txBody>
      </p:sp>
      <p:sp>
        <p:nvSpPr>
          <p:cNvPr id="17" name="Role techno 3"/>
          <p:cNvSpPr txBox="1"/>
          <p:nvPr/>
        </p:nvSpPr>
        <p:spPr>
          <a:xfrm>
            <a:off x="5394960" y="2971800"/>
            <a:ext cx="1965960" cy="365760"/>
          </a:xfrm>
          <a:prstGeom prst="rect">
            <a:avLst/>
          </a:prstGeom>
          <a:noFill/>
          <a:ln/>
        </p:spPr>
        <p:txBody>
          <a:bodyPr wrap="square" lIns="0" tIns="0" rIns="0" bIns="0" rtlCol="0" anchor="t"/>
          <a:lstStyle/>
          <a:p>
            <a:pPr algn="ctr" indent="0" marL="0">
              <a:buNone/>
            </a:pPr>
            <a:r>
              <a:rPr lang="en-US" sz="1400" dirty="0">
                <a:solidFill>
                  <a:schemeClr val="tx1"/>
                </a:solidFill>
              </a:rPr>
              <a:t>Langage typé</a:t>
            </a:r>
            <a:endParaRPr lang="en-US" sz="1400" dirty="0"/>
          </a:p>
        </p:txBody>
      </p:sp>
      <p:sp>
        <p:nvSpPr>
          <p:cNvPr id="18" name="Carte techno 4"/>
          <p:cNvSpPr/>
          <p:nvPr/>
        </p:nvSpPr>
        <p:spPr>
          <a:xfrm>
            <a:off x="7680960" y="1463040"/>
            <a:ext cx="214884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9" name="Techno 4 cercle"/>
          <p:cNvSpPr/>
          <p:nvPr/>
        </p:nvSpPr>
        <p:spPr>
          <a:xfrm>
            <a:off x="8339328" y="1664208"/>
            <a:ext cx="822960" cy="822960"/>
          </a:xfrm>
          <a:prstGeom prst="ellipse">
            <a:avLst/>
          </a:prstGeom>
          <a:solidFill>
            <a:schemeClr val="accent2"/>
          </a:solidFill>
          <a:ln w="12700">
            <a:solidFill>
              <a:schemeClr val="accent2"/>
            </a:solidFill>
            <a:prstDash val="solid"/>
          </a:ln>
        </p:spPr>
      </p:sp>
      <p:pic>
        <p:nvPicPr>
          <p:cNvPr id="20" name="Techno 4 icone" descr="preencoded.png">    </p:cNvPr>
          <p:cNvPicPr>
            <a:picLocks noChangeAspect="1"/>
          </p:cNvPicPr>
          <p:nvPr/>
        </p:nvPicPr>
        <p:blipFill>
          <a:blip r:embed="rId4"/>
          <a:stretch>
            <a:fillRect/>
          </a:stretch>
        </p:blipFill>
        <p:spPr>
          <a:xfrm>
            <a:off x="8536838" y="1861718"/>
            <a:ext cx="427939" cy="427939"/>
          </a:xfrm>
          <a:prstGeom prst="rect">
            <a:avLst/>
          </a:prstGeom>
        </p:spPr>
      </p:pic>
      <p:sp>
        <p:nvSpPr>
          <p:cNvPr id="21" name="Nom techno 4"/>
          <p:cNvSpPr txBox="1"/>
          <p:nvPr/>
        </p:nvSpPr>
        <p:spPr>
          <a:xfrm>
            <a:off x="7772400" y="2560320"/>
            <a:ext cx="1965960" cy="411480"/>
          </a:xfrm>
          <a:prstGeom prst="rect">
            <a:avLst/>
          </a:prstGeom>
          <a:noFill/>
          <a:ln/>
        </p:spPr>
        <p:txBody>
          <a:bodyPr wrap="square" lIns="0" tIns="0" rIns="0" bIns="0" rtlCol="0" anchor="t"/>
          <a:lstStyle/>
          <a:p>
            <a:pPr algn="ctr" indent="0" marL="0">
              <a:buNone/>
            </a:pPr>
            <a:r>
              <a:rPr lang="en-US" sz="1700" b="1" dirty="0">
                <a:solidFill>
                  <a:schemeClr val="tx2"/>
                </a:solidFill>
              </a:rPr>
              <a:t>Tailwind CSS</a:t>
            </a:r>
            <a:endParaRPr lang="en-US" sz="1700" dirty="0"/>
          </a:p>
        </p:txBody>
      </p:sp>
      <p:sp>
        <p:nvSpPr>
          <p:cNvPr id="22" name="Role techno 4"/>
          <p:cNvSpPr txBox="1"/>
          <p:nvPr/>
        </p:nvSpPr>
        <p:spPr>
          <a:xfrm>
            <a:off x="7772400" y="2971800"/>
            <a:ext cx="1965960" cy="365760"/>
          </a:xfrm>
          <a:prstGeom prst="rect">
            <a:avLst/>
          </a:prstGeom>
          <a:noFill/>
          <a:ln/>
        </p:spPr>
        <p:txBody>
          <a:bodyPr wrap="square" lIns="0" tIns="0" rIns="0" bIns="0" rtlCol="0" anchor="t"/>
          <a:lstStyle/>
          <a:p>
            <a:pPr algn="ctr" indent="0" marL="0">
              <a:buNone/>
            </a:pPr>
            <a:r>
              <a:rPr lang="en-US" sz="1400" dirty="0">
                <a:solidFill>
                  <a:schemeClr val="tx1"/>
                </a:solidFill>
              </a:rPr>
              <a:t>Mise en forme</a:t>
            </a:r>
            <a:endParaRPr lang="en-US" sz="1400" dirty="0"/>
          </a:p>
        </p:txBody>
      </p:sp>
      <p:sp>
        <p:nvSpPr>
          <p:cNvPr id="23" name="Carte techno 5"/>
          <p:cNvSpPr/>
          <p:nvPr/>
        </p:nvSpPr>
        <p:spPr>
          <a:xfrm>
            <a:off x="548640" y="3794760"/>
            <a:ext cx="214884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24" name="Techno 5 cercle"/>
          <p:cNvSpPr/>
          <p:nvPr/>
        </p:nvSpPr>
        <p:spPr>
          <a:xfrm>
            <a:off x="1207008" y="3995928"/>
            <a:ext cx="822960" cy="822960"/>
          </a:xfrm>
          <a:prstGeom prst="ellipse">
            <a:avLst/>
          </a:prstGeom>
          <a:solidFill>
            <a:schemeClr val="accent2"/>
          </a:solidFill>
          <a:ln w="12700">
            <a:solidFill>
              <a:schemeClr val="accent2"/>
            </a:solidFill>
            <a:prstDash val="solid"/>
          </a:ln>
        </p:spPr>
      </p:sp>
      <p:pic>
        <p:nvPicPr>
          <p:cNvPr id="25" name="Techno 5 icone" descr="preencoded.png">    </p:cNvPr>
          <p:cNvPicPr>
            <a:picLocks noChangeAspect="1"/>
          </p:cNvPicPr>
          <p:nvPr/>
        </p:nvPicPr>
        <p:blipFill>
          <a:blip r:embed="rId5"/>
          <a:stretch>
            <a:fillRect/>
          </a:stretch>
        </p:blipFill>
        <p:spPr>
          <a:xfrm>
            <a:off x="1404518" y="4193438"/>
            <a:ext cx="427939" cy="427939"/>
          </a:xfrm>
          <a:prstGeom prst="rect">
            <a:avLst/>
          </a:prstGeom>
        </p:spPr>
      </p:pic>
      <p:sp>
        <p:nvSpPr>
          <p:cNvPr id="26" name="Nom techno 5"/>
          <p:cNvSpPr txBox="1"/>
          <p:nvPr/>
        </p:nvSpPr>
        <p:spPr>
          <a:xfrm>
            <a:off x="640080" y="4892040"/>
            <a:ext cx="1965960" cy="411480"/>
          </a:xfrm>
          <a:prstGeom prst="rect">
            <a:avLst/>
          </a:prstGeom>
          <a:noFill/>
          <a:ln/>
        </p:spPr>
        <p:txBody>
          <a:bodyPr wrap="square" lIns="0" tIns="0" rIns="0" bIns="0" rtlCol="0" anchor="t"/>
          <a:lstStyle/>
          <a:p>
            <a:pPr algn="ctr" indent="0" marL="0">
              <a:buNone/>
            </a:pPr>
            <a:r>
              <a:rPr lang="en-US" sz="1700" b="1" dirty="0">
                <a:solidFill>
                  <a:schemeClr val="tx2"/>
                </a:solidFill>
              </a:rPr>
              <a:t>PostgreSQL</a:t>
            </a:r>
            <a:endParaRPr lang="en-US" sz="1700" dirty="0"/>
          </a:p>
        </p:txBody>
      </p:sp>
      <p:sp>
        <p:nvSpPr>
          <p:cNvPr id="27" name="Role techno 5"/>
          <p:cNvSpPr txBox="1"/>
          <p:nvPr/>
        </p:nvSpPr>
        <p:spPr>
          <a:xfrm>
            <a:off x="640080" y="5303520"/>
            <a:ext cx="1965960" cy="365760"/>
          </a:xfrm>
          <a:prstGeom prst="rect">
            <a:avLst/>
          </a:prstGeom>
          <a:noFill/>
          <a:ln/>
        </p:spPr>
        <p:txBody>
          <a:bodyPr wrap="square" lIns="0" tIns="0" rIns="0" bIns="0" rtlCol="0" anchor="t"/>
          <a:lstStyle/>
          <a:p>
            <a:pPr algn="ctr" indent="0" marL="0">
              <a:buNone/>
            </a:pPr>
            <a:r>
              <a:rPr lang="en-US" sz="1400" dirty="0">
                <a:solidFill>
                  <a:schemeClr val="tx1"/>
                </a:solidFill>
              </a:rPr>
              <a:t>Base de données</a:t>
            </a:r>
            <a:endParaRPr lang="en-US" sz="1400" dirty="0"/>
          </a:p>
        </p:txBody>
      </p:sp>
      <p:sp>
        <p:nvSpPr>
          <p:cNvPr id="28" name="Carte techno 6"/>
          <p:cNvSpPr/>
          <p:nvPr/>
        </p:nvSpPr>
        <p:spPr>
          <a:xfrm>
            <a:off x="2926080" y="3794760"/>
            <a:ext cx="214884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29" name="Techno 6 cercle"/>
          <p:cNvSpPr/>
          <p:nvPr/>
        </p:nvSpPr>
        <p:spPr>
          <a:xfrm>
            <a:off x="3584448" y="3995928"/>
            <a:ext cx="822960" cy="822960"/>
          </a:xfrm>
          <a:prstGeom prst="ellipse">
            <a:avLst/>
          </a:prstGeom>
          <a:solidFill>
            <a:schemeClr val="accent1"/>
          </a:solidFill>
          <a:ln w="12700">
            <a:solidFill>
              <a:schemeClr val="accent1"/>
            </a:solidFill>
            <a:prstDash val="solid"/>
          </a:ln>
        </p:spPr>
      </p:sp>
      <p:pic>
        <p:nvPicPr>
          <p:cNvPr id="30" name="Techno 6 icone" descr="preencoded.png">    </p:cNvPr>
          <p:cNvPicPr>
            <a:picLocks noChangeAspect="1"/>
          </p:cNvPicPr>
          <p:nvPr/>
        </p:nvPicPr>
        <p:blipFill>
          <a:blip r:embed="rId6"/>
          <a:stretch>
            <a:fillRect/>
          </a:stretch>
        </p:blipFill>
        <p:spPr>
          <a:xfrm>
            <a:off x="3781958" y="4193438"/>
            <a:ext cx="427939" cy="427939"/>
          </a:xfrm>
          <a:prstGeom prst="rect">
            <a:avLst/>
          </a:prstGeom>
        </p:spPr>
      </p:pic>
      <p:sp>
        <p:nvSpPr>
          <p:cNvPr id="31" name="Nom techno 6"/>
          <p:cNvSpPr txBox="1"/>
          <p:nvPr/>
        </p:nvSpPr>
        <p:spPr>
          <a:xfrm>
            <a:off x="3017520" y="4892040"/>
            <a:ext cx="1965960" cy="411480"/>
          </a:xfrm>
          <a:prstGeom prst="rect">
            <a:avLst/>
          </a:prstGeom>
          <a:noFill/>
          <a:ln/>
        </p:spPr>
        <p:txBody>
          <a:bodyPr wrap="square" lIns="0" tIns="0" rIns="0" bIns="0" rtlCol="0" anchor="t"/>
          <a:lstStyle/>
          <a:p>
            <a:pPr algn="ctr" indent="0" marL="0">
              <a:buNone/>
            </a:pPr>
            <a:r>
              <a:rPr lang="en-US" sz="1700" b="1" dirty="0">
                <a:solidFill>
                  <a:schemeClr val="tx2"/>
                </a:solidFill>
              </a:rPr>
              <a:t>Drizzle ORM</a:t>
            </a:r>
            <a:endParaRPr lang="en-US" sz="1700" dirty="0"/>
          </a:p>
        </p:txBody>
      </p:sp>
      <p:sp>
        <p:nvSpPr>
          <p:cNvPr id="32" name="Role techno 6"/>
          <p:cNvSpPr txBox="1"/>
          <p:nvPr/>
        </p:nvSpPr>
        <p:spPr>
          <a:xfrm>
            <a:off x="3017520" y="5303520"/>
            <a:ext cx="1965960" cy="365760"/>
          </a:xfrm>
          <a:prstGeom prst="rect">
            <a:avLst/>
          </a:prstGeom>
          <a:noFill/>
          <a:ln/>
        </p:spPr>
        <p:txBody>
          <a:bodyPr wrap="square" lIns="0" tIns="0" rIns="0" bIns="0" rtlCol="0" anchor="t"/>
          <a:lstStyle/>
          <a:p>
            <a:pPr algn="ctr" indent="0" marL="0">
              <a:buNone/>
            </a:pPr>
            <a:r>
              <a:rPr lang="en-US" sz="1400" dirty="0">
                <a:solidFill>
                  <a:schemeClr val="tx1"/>
                </a:solidFill>
              </a:rPr>
              <a:t>Accès aux données</a:t>
            </a:r>
            <a:endParaRPr lang="en-US" sz="1400" dirty="0"/>
          </a:p>
        </p:txBody>
      </p:sp>
      <p:sp>
        <p:nvSpPr>
          <p:cNvPr id="33" name="Carte techno 7"/>
          <p:cNvSpPr/>
          <p:nvPr/>
        </p:nvSpPr>
        <p:spPr>
          <a:xfrm>
            <a:off x="5303520" y="3794760"/>
            <a:ext cx="214884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34" name="Techno 7 cercle"/>
          <p:cNvSpPr/>
          <p:nvPr/>
        </p:nvSpPr>
        <p:spPr>
          <a:xfrm>
            <a:off x="5961888" y="3995928"/>
            <a:ext cx="822960" cy="822960"/>
          </a:xfrm>
          <a:prstGeom prst="ellipse">
            <a:avLst/>
          </a:prstGeom>
          <a:solidFill>
            <a:schemeClr val="accent2"/>
          </a:solidFill>
          <a:ln w="12700">
            <a:solidFill>
              <a:schemeClr val="accent2"/>
            </a:solidFill>
            <a:prstDash val="solid"/>
          </a:ln>
        </p:spPr>
      </p:sp>
      <p:pic>
        <p:nvPicPr>
          <p:cNvPr id="35" name="Techno 7 icone" descr="preencoded.png">    </p:cNvPr>
          <p:cNvPicPr>
            <a:picLocks noChangeAspect="1"/>
          </p:cNvPicPr>
          <p:nvPr/>
        </p:nvPicPr>
        <p:blipFill>
          <a:blip r:embed="rId7"/>
          <a:stretch>
            <a:fillRect/>
          </a:stretch>
        </p:blipFill>
        <p:spPr>
          <a:xfrm>
            <a:off x="6159398" y="4193438"/>
            <a:ext cx="427939" cy="427939"/>
          </a:xfrm>
          <a:prstGeom prst="rect">
            <a:avLst/>
          </a:prstGeom>
        </p:spPr>
      </p:pic>
      <p:sp>
        <p:nvSpPr>
          <p:cNvPr id="36" name="Nom techno 7"/>
          <p:cNvSpPr txBox="1"/>
          <p:nvPr/>
        </p:nvSpPr>
        <p:spPr>
          <a:xfrm>
            <a:off x="5394960" y="4892040"/>
            <a:ext cx="1965960" cy="411480"/>
          </a:xfrm>
          <a:prstGeom prst="rect">
            <a:avLst/>
          </a:prstGeom>
          <a:noFill/>
          <a:ln/>
        </p:spPr>
        <p:txBody>
          <a:bodyPr wrap="square" lIns="0" tIns="0" rIns="0" bIns="0" rtlCol="0" anchor="t"/>
          <a:lstStyle/>
          <a:p>
            <a:pPr algn="ctr" indent="0" marL="0">
              <a:buNone/>
            </a:pPr>
            <a:r>
              <a:rPr lang="en-US" sz="1700" b="1" dirty="0">
                <a:solidFill>
                  <a:schemeClr val="tx2"/>
                </a:solidFill>
              </a:rPr>
              <a:t>GPT-4o-mini</a:t>
            </a:r>
            <a:endParaRPr lang="en-US" sz="1700" dirty="0"/>
          </a:p>
        </p:txBody>
      </p:sp>
      <p:sp>
        <p:nvSpPr>
          <p:cNvPr id="37" name="Role techno 7"/>
          <p:cNvSpPr txBox="1"/>
          <p:nvPr/>
        </p:nvSpPr>
        <p:spPr>
          <a:xfrm>
            <a:off x="5394960" y="5303520"/>
            <a:ext cx="1965960" cy="365760"/>
          </a:xfrm>
          <a:prstGeom prst="rect">
            <a:avLst/>
          </a:prstGeom>
          <a:noFill/>
          <a:ln/>
        </p:spPr>
        <p:txBody>
          <a:bodyPr wrap="square" lIns="0" tIns="0" rIns="0" bIns="0" rtlCol="0" anchor="t"/>
          <a:lstStyle/>
          <a:p>
            <a:pPr algn="ctr" indent="0" marL="0">
              <a:buNone/>
            </a:pPr>
            <a:r>
              <a:rPr lang="en-US" sz="1400" dirty="0">
                <a:solidFill>
                  <a:schemeClr val="tx1"/>
                </a:solidFill>
              </a:rPr>
              <a:t>Assistant IA</a:t>
            </a:r>
            <a:endParaRPr lang="en-US" sz="1400" dirty="0"/>
          </a:p>
        </p:txBody>
      </p:sp>
      <p:sp>
        <p:nvSpPr>
          <p:cNvPr id="38" name="Carte techno 8"/>
          <p:cNvSpPr/>
          <p:nvPr/>
        </p:nvSpPr>
        <p:spPr>
          <a:xfrm>
            <a:off x="7680960" y="3794760"/>
            <a:ext cx="214884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39" name="Techno 8 cercle"/>
          <p:cNvSpPr/>
          <p:nvPr/>
        </p:nvSpPr>
        <p:spPr>
          <a:xfrm>
            <a:off x="8339328" y="3995928"/>
            <a:ext cx="822960" cy="822960"/>
          </a:xfrm>
          <a:prstGeom prst="ellipse">
            <a:avLst/>
          </a:prstGeom>
          <a:solidFill>
            <a:schemeClr val="accent1"/>
          </a:solidFill>
          <a:ln w="12700">
            <a:solidFill>
              <a:schemeClr val="accent1"/>
            </a:solidFill>
            <a:prstDash val="solid"/>
          </a:ln>
        </p:spPr>
      </p:sp>
      <p:pic>
        <p:nvPicPr>
          <p:cNvPr id="40" name="Techno 8 icone" descr="preencoded.png">    </p:cNvPr>
          <p:cNvPicPr>
            <a:picLocks noChangeAspect="1"/>
          </p:cNvPicPr>
          <p:nvPr/>
        </p:nvPicPr>
        <p:blipFill>
          <a:blip r:embed="rId8"/>
          <a:stretch>
            <a:fillRect/>
          </a:stretch>
        </p:blipFill>
        <p:spPr>
          <a:xfrm>
            <a:off x="8536838" y="4193438"/>
            <a:ext cx="427939" cy="427939"/>
          </a:xfrm>
          <a:prstGeom prst="rect">
            <a:avLst/>
          </a:prstGeom>
        </p:spPr>
      </p:pic>
      <p:sp>
        <p:nvSpPr>
          <p:cNvPr id="41" name="Nom techno 8"/>
          <p:cNvSpPr txBox="1"/>
          <p:nvPr/>
        </p:nvSpPr>
        <p:spPr>
          <a:xfrm>
            <a:off x="7772400" y="4892040"/>
            <a:ext cx="1965960" cy="411480"/>
          </a:xfrm>
          <a:prstGeom prst="rect">
            <a:avLst/>
          </a:prstGeom>
          <a:noFill/>
          <a:ln/>
        </p:spPr>
        <p:txBody>
          <a:bodyPr wrap="square" lIns="0" tIns="0" rIns="0" bIns="0" rtlCol="0" anchor="t"/>
          <a:lstStyle/>
          <a:p>
            <a:pPr algn="ctr" indent="0" marL="0">
              <a:buNone/>
            </a:pPr>
            <a:r>
              <a:rPr lang="en-US" sz="1700" b="1" dirty="0">
                <a:solidFill>
                  <a:schemeClr val="tx2"/>
                </a:solidFill>
              </a:rPr>
              <a:t>Git / GitHub</a:t>
            </a:r>
            <a:endParaRPr lang="en-US" sz="1700" dirty="0"/>
          </a:p>
        </p:txBody>
      </p:sp>
      <p:sp>
        <p:nvSpPr>
          <p:cNvPr id="42" name="Role techno 8"/>
          <p:cNvSpPr txBox="1"/>
          <p:nvPr/>
        </p:nvSpPr>
        <p:spPr>
          <a:xfrm>
            <a:off x="7772400" y="5303520"/>
            <a:ext cx="1965960" cy="365760"/>
          </a:xfrm>
          <a:prstGeom prst="rect">
            <a:avLst/>
          </a:prstGeom>
          <a:noFill/>
          <a:ln/>
        </p:spPr>
        <p:txBody>
          <a:bodyPr wrap="square" lIns="0" tIns="0" rIns="0" bIns="0" rtlCol="0" anchor="t"/>
          <a:lstStyle/>
          <a:p>
            <a:pPr algn="ctr" indent="0" marL="0">
              <a:buNone/>
            </a:pPr>
            <a:r>
              <a:rPr lang="en-US" sz="1400" dirty="0">
                <a:solidFill>
                  <a:schemeClr val="tx1"/>
                </a:solidFill>
              </a:rPr>
              <a:t>Versions du code</a:t>
            </a:r>
            <a:endParaRPr lang="en-US" sz="14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71"/>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142"/>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13"/>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284"/>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355"/>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426"/>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497"/>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568"/>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639"/>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71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781"/>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852"/>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923"/>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994"/>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1065"/>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6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1136"/>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fill="hold"/>
                                        <p:tgtEl>
                                          <p:spTgt spid="18"/>
                                        </p:tgtEl>
                                        <p:attrNameLst>
                                          <p:attrName>ppt_x</p:attrName>
                                        </p:attrNameLst>
                                      </p:cBhvr>
                                      <p:tavLst>
                                        <p:tav tm="0">
                                          <p:val>
                                            <p:strVal val="#ppt_x"/>
                                          </p:val>
                                        </p:tav>
                                        <p:tav tm="100000">
                                          <p:val>
                                            <p:strVal val="#ppt_x"/>
                                          </p:val>
                                        </p:tav>
                                      </p:tavLst>
                                    </p:anim>
                                    <p:anim calcmode="lin" valueType="num">
                                      <p:cBhvr>
                                        <p:cTn id="89" dur="6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1207"/>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fill="hold"/>
                                        <p:tgtEl>
                                          <p:spTgt spid="19"/>
                                        </p:tgtEl>
                                        <p:attrNameLst>
                                          <p:attrName>ppt_x</p:attrName>
                                        </p:attrNameLst>
                                      </p:cBhvr>
                                      <p:tavLst>
                                        <p:tav tm="0">
                                          <p:val>
                                            <p:strVal val="#ppt_x"/>
                                          </p:val>
                                        </p:tav>
                                        <p:tav tm="100000">
                                          <p:val>
                                            <p:strVal val="#ppt_x"/>
                                          </p:val>
                                        </p:tav>
                                      </p:tavLst>
                                    </p:anim>
                                    <p:anim calcmode="lin" valueType="num">
                                      <p:cBhvr>
                                        <p:cTn id="94" dur="6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1278"/>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anim calcmode="lin" valueType="num">
                                      <p:cBhvr>
                                        <p:cTn id="98" dur="600" fill="hold"/>
                                        <p:tgtEl>
                                          <p:spTgt spid="20"/>
                                        </p:tgtEl>
                                        <p:attrNameLst>
                                          <p:attrName>ppt_x</p:attrName>
                                        </p:attrNameLst>
                                      </p:cBhvr>
                                      <p:tavLst>
                                        <p:tav tm="0">
                                          <p:val>
                                            <p:strVal val="#ppt_x"/>
                                          </p:val>
                                        </p:tav>
                                        <p:tav tm="100000">
                                          <p:val>
                                            <p:strVal val="#ppt_x"/>
                                          </p:val>
                                        </p:tav>
                                      </p:tavLst>
                                    </p:anim>
                                    <p:anim calcmode="lin" valueType="num">
                                      <p:cBhvr>
                                        <p:cTn id="99" dur="6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1349"/>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600"/>
                                        <p:tgtEl>
                                          <p:spTgt spid="21"/>
                                        </p:tgtEl>
                                      </p:cBhvr>
                                    </p:animEffect>
                                    <p:anim calcmode="lin" valueType="num">
                                      <p:cBhvr>
                                        <p:cTn id="103" dur="600" fill="hold"/>
                                        <p:tgtEl>
                                          <p:spTgt spid="21"/>
                                        </p:tgtEl>
                                        <p:attrNameLst>
                                          <p:attrName>ppt_x</p:attrName>
                                        </p:attrNameLst>
                                      </p:cBhvr>
                                      <p:tavLst>
                                        <p:tav tm="0">
                                          <p:val>
                                            <p:strVal val="#ppt_x"/>
                                          </p:val>
                                        </p:tav>
                                        <p:tav tm="100000">
                                          <p:val>
                                            <p:strVal val="#ppt_x"/>
                                          </p:val>
                                        </p:tav>
                                      </p:tavLst>
                                    </p:anim>
                                    <p:anim calcmode="lin" valueType="num">
                                      <p:cBhvr>
                                        <p:cTn id="104" dur="6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142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600"/>
                                        <p:tgtEl>
                                          <p:spTgt spid="22"/>
                                        </p:tgtEl>
                                      </p:cBhvr>
                                    </p:animEffect>
                                    <p:anim calcmode="lin" valueType="num">
                                      <p:cBhvr>
                                        <p:cTn id="108" dur="600" fill="hold"/>
                                        <p:tgtEl>
                                          <p:spTgt spid="22"/>
                                        </p:tgtEl>
                                        <p:attrNameLst>
                                          <p:attrName>ppt_x</p:attrName>
                                        </p:attrNameLst>
                                      </p:cBhvr>
                                      <p:tavLst>
                                        <p:tav tm="0">
                                          <p:val>
                                            <p:strVal val="#ppt_x"/>
                                          </p:val>
                                        </p:tav>
                                        <p:tav tm="100000">
                                          <p:val>
                                            <p:strVal val="#ppt_x"/>
                                          </p:val>
                                        </p:tav>
                                      </p:tavLst>
                                    </p:anim>
                                    <p:anim calcmode="lin" valueType="num">
                                      <p:cBhvr>
                                        <p:cTn id="109" dur="6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1491"/>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600"/>
                                        <p:tgtEl>
                                          <p:spTgt spid="23"/>
                                        </p:tgtEl>
                                      </p:cBhvr>
                                    </p:animEffect>
                                    <p:anim calcmode="lin" valueType="num">
                                      <p:cBhvr>
                                        <p:cTn id="113" dur="600" fill="hold"/>
                                        <p:tgtEl>
                                          <p:spTgt spid="23"/>
                                        </p:tgtEl>
                                        <p:attrNameLst>
                                          <p:attrName>ppt_x</p:attrName>
                                        </p:attrNameLst>
                                      </p:cBhvr>
                                      <p:tavLst>
                                        <p:tav tm="0">
                                          <p:val>
                                            <p:strVal val="#ppt_x"/>
                                          </p:val>
                                        </p:tav>
                                        <p:tav tm="100000">
                                          <p:val>
                                            <p:strVal val="#ppt_x"/>
                                          </p:val>
                                        </p:tav>
                                      </p:tavLst>
                                    </p:anim>
                                    <p:anim calcmode="lin" valueType="num">
                                      <p:cBhvr>
                                        <p:cTn id="114" dur="6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1562"/>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600"/>
                                        <p:tgtEl>
                                          <p:spTgt spid="24"/>
                                        </p:tgtEl>
                                      </p:cBhvr>
                                    </p:animEffect>
                                    <p:anim calcmode="lin" valueType="num">
                                      <p:cBhvr>
                                        <p:cTn id="118" dur="600" fill="hold"/>
                                        <p:tgtEl>
                                          <p:spTgt spid="24"/>
                                        </p:tgtEl>
                                        <p:attrNameLst>
                                          <p:attrName>ppt_x</p:attrName>
                                        </p:attrNameLst>
                                      </p:cBhvr>
                                      <p:tavLst>
                                        <p:tav tm="0">
                                          <p:val>
                                            <p:strVal val="#ppt_x"/>
                                          </p:val>
                                        </p:tav>
                                        <p:tav tm="100000">
                                          <p:val>
                                            <p:strVal val="#ppt_x"/>
                                          </p:val>
                                        </p:tav>
                                      </p:tavLst>
                                    </p:anim>
                                    <p:anim calcmode="lin" valueType="num">
                                      <p:cBhvr>
                                        <p:cTn id="119" dur="600" fill="hold"/>
                                        <p:tgtEl>
                                          <p:spTgt spid="24"/>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1633"/>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600"/>
                                        <p:tgtEl>
                                          <p:spTgt spid="25"/>
                                        </p:tgtEl>
                                      </p:cBhvr>
                                    </p:animEffect>
                                    <p:anim calcmode="lin" valueType="num">
                                      <p:cBhvr>
                                        <p:cTn id="123" dur="600" fill="hold"/>
                                        <p:tgtEl>
                                          <p:spTgt spid="25"/>
                                        </p:tgtEl>
                                        <p:attrNameLst>
                                          <p:attrName>ppt_x</p:attrName>
                                        </p:attrNameLst>
                                      </p:cBhvr>
                                      <p:tavLst>
                                        <p:tav tm="0">
                                          <p:val>
                                            <p:strVal val="#ppt_x"/>
                                          </p:val>
                                        </p:tav>
                                        <p:tav tm="100000">
                                          <p:val>
                                            <p:strVal val="#ppt_x"/>
                                          </p:val>
                                        </p:tav>
                                      </p:tavLst>
                                    </p:anim>
                                    <p:anim calcmode="lin" valueType="num">
                                      <p:cBhvr>
                                        <p:cTn id="124" dur="600" fill="hold"/>
                                        <p:tgtEl>
                                          <p:spTgt spid="25"/>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1704"/>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600"/>
                                        <p:tgtEl>
                                          <p:spTgt spid="26"/>
                                        </p:tgtEl>
                                      </p:cBhvr>
                                    </p:animEffect>
                                    <p:anim calcmode="lin" valueType="num">
                                      <p:cBhvr>
                                        <p:cTn id="128" dur="600" fill="hold"/>
                                        <p:tgtEl>
                                          <p:spTgt spid="26"/>
                                        </p:tgtEl>
                                        <p:attrNameLst>
                                          <p:attrName>ppt_x</p:attrName>
                                        </p:attrNameLst>
                                      </p:cBhvr>
                                      <p:tavLst>
                                        <p:tav tm="0">
                                          <p:val>
                                            <p:strVal val="#ppt_x"/>
                                          </p:val>
                                        </p:tav>
                                        <p:tav tm="100000">
                                          <p:val>
                                            <p:strVal val="#ppt_x"/>
                                          </p:val>
                                        </p:tav>
                                      </p:tavLst>
                                    </p:anim>
                                    <p:anim calcmode="lin" valueType="num">
                                      <p:cBhvr>
                                        <p:cTn id="129" dur="600" fill="hold"/>
                                        <p:tgtEl>
                                          <p:spTgt spid="26"/>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1775"/>
                                  </p:stCondLst>
                                  <p:childTnLst>
                                    <p:set>
                                      <p:cBhvr>
                                        <p:cTn id="131" dur="1" fill="hold">
                                          <p:stCondLst>
                                            <p:cond delay="0"/>
                                          </p:stCondLst>
                                        </p:cTn>
                                        <p:tgtEl>
                                          <p:spTgt spid="27"/>
                                        </p:tgtEl>
                                        <p:attrNameLst>
                                          <p:attrName>style.visibility</p:attrName>
                                        </p:attrNameLst>
                                      </p:cBhvr>
                                      <p:to>
                                        <p:strVal val="visible"/>
                                      </p:to>
                                    </p:set>
                                    <p:animEffect transition="in" filter="fade">
                                      <p:cBhvr>
                                        <p:cTn id="132" dur="600"/>
                                        <p:tgtEl>
                                          <p:spTgt spid="27"/>
                                        </p:tgtEl>
                                      </p:cBhvr>
                                    </p:animEffect>
                                    <p:anim calcmode="lin" valueType="num">
                                      <p:cBhvr>
                                        <p:cTn id="133" dur="600" fill="hold"/>
                                        <p:tgtEl>
                                          <p:spTgt spid="27"/>
                                        </p:tgtEl>
                                        <p:attrNameLst>
                                          <p:attrName>ppt_x</p:attrName>
                                        </p:attrNameLst>
                                      </p:cBhvr>
                                      <p:tavLst>
                                        <p:tav tm="0">
                                          <p:val>
                                            <p:strVal val="#ppt_x"/>
                                          </p:val>
                                        </p:tav>
                                        <p:tav tm="100000">
                                          <p:val>
                                            <p:strVal val="#ppt_x"/>
                                          </p:val>
                                        </p:tav>
                                      </p:tavLst>
                                    </p:anim>
                                    <p:anim calcmode="lin" valueType="num">
                                      <p:cBhvr>
                                        <p:cTn id="134" dur="600" fill="hold"/>
                                        <p:tgtEl>
                                          <p:spTgt spid="27"/>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1846"/>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600"/>
                                        <p:tgtEl>
                                          <p:spTgt spid="28"/>
                                        </p:tgtEl>
                                      </p:cBhvr>
                                    </p:animEffect>
                                    <p:anim calcmode="lin" valueType="num">
                                      <p:cBhvr>
                                        <p:cTn id="138" dur="600" fill="hold"/>
                                        <p:tgtEl>
                                          <p:spTgt spid="28"/>
                                        </p:tgtEl>
                                        <p:attrNameLst>
                                          <p:attrName>ppt_x</p:attrName>
                                        </p:attrNameLst>
                                      </p:cBhvr>
                                      <p:tavLst>
                                        <p:tav tm="0">
                                          <p:val>
                                            <p:strVal val="#ppt_x"/>
                                          </p:val>
                                        </p:tav>
                                        <p:tav tm="100000">
                                          <p:val>
                                            <p:strVal val="#ppt_x"/>
                                          </p:val>
                                        </p:tav>
                                      </p:tavLst>
                                    </p:anim>
                                    <p:anim calcmode="lin" valueType="num">
                                      <p:cBhvr>
                                        <p:cTn id="139" dur="600" fill="hold"/>
                                        <p:tgtEl>
                                          <p:spTgt spid="28"/>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1917"/>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600"/>
                                        <p:tgtEl>
                                          <p:spTgt spid="29"/>
                                        </p:tgtEl>
                                      </p:cBhvr>
                                    </p:animEffect>
                                    <p:anim calcmode="lin" valueType="num">
                                      <p:cBhvr>
                                        <p:cTn id="143" dur="600" fill="hold"/>
                                        <p:tgtEl>
                                          <p:spTgt spid="29"/>
                                        </p:tgtEl>
                                        <p:attrNameLst>
                                          <p:attrName>ppt_x</p:attrName>
                                        </p:attrNameLst>
                                      </p:cBhvr>
                                      <p:tavLst>
                                        <p:tav tm="0">
                                          <p:val>
                                            <p:strVal val="#ppt_x"/>
                                          </p:val>
                                        </p:tav>
                                        <p:tav tm="100000">
                                          <p:val>
                                            <p:strVal val="#ppt_x"/>
                                          </p:val>
                                        </p:tav>
                                      </p:tavLst>
                                    </p:anim>
                                    <p:anim calcmode="lin" valueType="num">
                                      <p:cBhvr>
                                        <p:cTn id="144" dur="600" fill="hold"/>
                                        <p:tgtEl>
                                          <p:spTgt spid="29"/>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1988"/>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600"/>
                                        <p:tgtEl>
                                          <p:spTgt spid="30"/>
                                        </p:tgtEl>
                                      </p:cBhvr>
                                    </p:animEffect>
                                    <p:anim calcmode="lin" valueType="num">
                                      <p:cBhvr>
                                        <p:cTn id="148" dur="600" fill="hold"/>
                                        <p:tgtEl>
                                          <p:spTgt spid="30"/>
                                        </p:tgtEl>
                                        <p:attrNameLst>
                                          <p:attrName>ppt_x</p:attrName>
                                        </p:attrNameLst>
                                      </p:cBhvr>
                                      <p:tavLst>
                                        <p:tav tm="0">
                                          <p:val>
                                            <p:strVal val="#ppt_x"/>
                                          </p:val>
                                        </p:tav>
                                        <p:tav tm="100000">
                                          <p:val>
                                            <p:strVal val="#ppt_x"/>
                                          </p:val>
                                        </p:tav>
                                      </p:tavLst>
                                    </p:anim>
                                    <p:anim calcmode="lin" valueType="num">
                                      <p:cBhvr>
                                        <p:cTn id="149" dur="600" fill="hold"/>
                                        <p:tgtEl>
                                          <p:spTgt spid="30"/>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2059"/>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600"/>
                                        <p:tgtEl>
                                          <p:spTgt spid="31"/>
                                        </p:tgtEl>
                                      </p:cBhvr>
                                    </p:animEffect>
                                    <p:anim calcmode="lin" valueType="num">
                                      <p:cBhvr>
                                        <p:cTn id="153" dur="600" fill="hold"/>
                                        <p:tgtEl>
                                          <p:spTgt spid="31"/>
                                        </p:tgtEl>
                                        <p:attrNameLst>
                                          <p:attrName>ppt_x</p:attrName>
                                        </p:attrNameLst>
                                      </p:cBhvr>
                                      <p:tavLst>
                                        <p:tav tm="0">
                                          <p:val>
                                            <p:strVal val="#ppt_x"/>
                                          </p:val>
                                        </p:tav>
                                        <p:tav tm="100000">
                                          <p:val>
                                            <p:strVal val="#ppt_x"/>
                                          </p:val>
                                        </p:tav>
                                      </p:tavLst>
                                    </p:anim>
                                    <p:anim calcmode="lin" valueType="num">
                                      <p:cBhvr>
                                        <p:cTn id="154" dur="600" fill="hold"/>
                                        <p:tgtEl>
                                          <p:spTgt spid="31"/>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2130"/>
                                  </p:stCondLst>
                                  <p:childTnLst>
                                    <p:set>
                                      <p:cBhvr>
                                        <p:cTn id="156" dur="1" fill="hold">
                                          <p:stCondLst>
                                            <p:cond delay="0"/>
                                          </p:stCondLst>
                                        </p:cTn>
                                        <p:tgtEl>
                                          <p:spTgt spid="32"/>
                                        </p:tgtEl>
                                        <p:attrNameLst>
                                          <p:attrName>style.visibility</p:attrName>
                                        </p:attrNameLst>
                                      </p:cBhvr>
                                      <p:to>
                                        <p:strVal val="visible"/>
                                      </p:to>
                                    </p:set>
                                    <p:animEffect transition="in" filter="fade">
                                      <p:cBhvr>
                                        <p:cTn id="157" dur="600"/>
                                        <p:tgtEl>
                                          <p:spTgt spid="32"/>
                                        </p:tgtEl>
                                      </p:cBhvr>
                                    </p:animEffect>
                                    <p:anim calcmode="lin" valueType="num">
                                      <p:cBhvr>
                                        <p:cTn id="158" dur="600" fill="hold"/>
                                        <p:tgtEl>
                                          <p:spTgt spid="32"/>
                                        </p:tgtEl>
                                        <p:attrNameLst>
                                          <p:attrName>ppt_x</p:attrName>
                                        </p:attrNameLst>
                                      </p:cBhvr>
                                      <p:tavLst>
                                        <p:tav tm="0">
                                          <p:val>
                                            <p:strVal val="#ppt_x"/>
                                          </p:val>
                                        </p:tav>
                                        <p:tav tm="100000">
                                          <p:val>
                                            <p:strVal val="#ppt_x"/>
                                          </p:val>
                                        </p:tav>
                                      </p:tavLst>
                                    </p:anim>
                                    <p:anim calcmode="lin" valueType="num">
                                      <p:cBhvr>
                                        <p:cTn id="159" dur="600" fill="hold"/>
                                        <p:tgtEl>
                                          <p:spTgt spid="32"/>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2201"/>
                                  </p:stCondLst>
                                  <p:childTnLst>
                                    <p:set>
                                      <p:cBhvr>
                                        <p:cTn id="161" dur="1" fill="hold">
                                          <p:stCondLst>
                                            <p:cond delay="0"/>
                                          </p:stCondLst>
                                        </p:cTn>
                                        <p:tgtEl>
                                          <p:spTgt spid="33"/>
                                        </p:tgtEl>
                                        <p:attrNameLst>
                                          <p:attrName>style.visibility</p:attrName>
                                        </p:attrNameLst>
                                      </p:cBhvr>
                                      <p:to>
                                        <p:strVal val="visible"/>
                                      </p:to>
                                    </p:set>
                                    <p:animEffect transition="in" filter="fade">
                                      <p:cBhvr>
                                        <p:cTn id="162" dur="600"/>
                                        <p:tgtEl>
                                          <p:spTgt spid="33"/>
                                        </p:tgtEl>
                                      </p:cBhvr>
                                    </p:animEffect>
                                    <p:anim calcmode="lin" valueType="num">
                                      <p:cBhvr>
                                        <p:cTn id="163" dur="600" fill="hold"/>
                                        <p:tgtEl>
                                          <p:spTgt spid="33"/>
                                        </p:tgtEl>
                                        <p:attrNameLst>
                                          <p:attrName>ppt_x</p:attrName>
                                        </p:attrNameLst>
                                      </p:cBhvr>
                                      <p:tavLst>
                                        <p:tav tm="0">
                                          <p:val>
                                            <p:strVal val="#ppt_x"/>
                                          </p:val>
                                        </p:tav>
                                        <p:tav tm="100000">
                                          <p:val>
                                            <p:strVal val="#ppt_x"/>
                                          </p:val>
                                        </p:tav>
                                      </p:tavLst>
                                    </p:anim>
                                    <p:anim calcmode="lin" valueType="num">
                                      <p:cBhvr>
                                        <p:cTn id="164" dur="600" fill="hold"/>
                                        <p:tgtEl>
                                          <p:spTgt spid="33"/>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2272"/>
                                  </p:stCondLst>
                                  <p:childTnLst>
                                    <p:set>
                                      <p:cBhvr>
                                        <p:cTn id="166" dur="1" fill="hold">
                                          <p:stCondLst>
                                            <p:cond delay="0"/>
                                          </p:stCondLst>
                                        </p:cTn>
                                        <p:tgtEl>
                                          <p:spTgt spid="34"/>
                                        </p:tgtEl>
                                        <p:attrNameLst>
                                          <p:attrName>style.visibility</p:attrName>
                                        </p:attrNameLst>
                                      </p:cBhvr>
                                      <p:to>
                                        <p:strVal val="visible"/>
                                      </p:to>
                                    </p:set>
                                    <p:animEffect transition="in" filter="fade">
                                      <p:cBhvr>
                                        <p:cTn id="167" dur="600"/>
                                        <p:tgtEl>
                                          <p:spTgt spid="34"/>
                                        </p:tgtEl>
                                      </p:cBhvr>
                                    </p:animEffect>
                                    <p:anim calcmode="lin" valueType="num">
                                      <p:cBhvr>
                                        <p:cTn id="168" dur="600" fill="hold"/>
                                        <p:tgtEl>
                                          <p:spTgt spid="34"/>
                                        </p:tgtEl>
                                        <p:attrNameLst>
                                          <p:attrName>ppt_x</p:attrName>
                                        </p:attrNameLst>
                                      </p:cBhvr>
                                      <p:tavLst>
                                        <p:tav tm="0">
                                          <p:val>
                                            <p:strVal val="#ppt_x"/>
                                          </p:val>
                                        </p:tav>
                                        <p:tav tm="100000">
                                          <p:val>
                                            <p:strVal val="#ppt_x"/>
                                          </p:val>
                                        </p:tav>
                                      </p:tavLst>
                                    </p:anim>
                                    <p:anim calcmode="lin" valueType="num">
                                      <p:cBhvr>
                                        <p:cTn id="169" dur="600" fill="hold"/>
                                        <p:tgtEl>
                                          <p:spTgt spid="34"/>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2343"/>
                                  </p:stCondLst>
                                  <p:childTnLst>
                                    <p:set>
                                      <p:cBhvr>
                                        <p:cTn id="171" dur="1" fill="hold">
                                          <p:stCondLst>
                                            <p:cond delay="0"/>
                                          </p:stCondLst>
                                        </p:cTn>
                                        <p:tgtEl>
                                          <p:spTgt spid="35"/>
                                        </p:tgtEl>
                                        <p:attrNameLst>
                                          <p:attrName>style.visibility</p:attrName>
                                        </p:attrNameLst>
                                      </p:cBhvr>
                                      <p:to>
                                        <p:strVal val="visible"/>
                                      </p:to>
                                    </p:set>
                                    <p:animEffect transition="in" filter="fade">
                                      <p:cBhvr>
                                        <p:cTn id="172" dur="600"/>
                                        <p:tgtEl>
                                          <p:spTgt spid="35"/>
                                        </p:tgtEl>
                                      </p:cBhvr>
                                    </p:animEffect>
                                    <p:anim calcmode="lin" valueType="num">
                                      <p:cBhvr>
                                        <p:cTn id="173" dur="600" fill="hold"/>
                                        <p:tgtEl>
                                          <p:spTgt spid="35"/>
                                        </p:tgtEl>
                                        <p:attrNameLst>
                                          <p:attrName>ppt_x</p:attrName>
                                        </p:attrNameLst>
                                      </p:cBhvr>
                                      <p:tavLst>
                                        <p:tav tm="0">
                                          <p:val>
                                            <p:strVal val="#ppt_x"/>
                                          </p:val>
                                        </p:tav>
                                        <p:tav tm="100000">
                                          <p:val>
                                            <p:strVal val="#ppt_x"/>
                                          </p:val>
                                        </p:tav>
                                      </p:tavLst>
                                    </p:anim>
                                    <p:anim calcmode="lin" valueType="num">
                                      <p:cBhvr>
                                        <p:cTn id="174" dur="600" fill="hold"/>
                                        <p:tgtEl>
                                          <p:spTgt spid="35"/>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2414"/>
                                  </p:stCondLst>
                                  <p:childTnLst>
                                    <p:set>
                                      <p:cBhvr>
                                        <p:cTn id="176" dur="1" fill="hold">
                                          <p:stCondLst>
                                            <p:cond delay="0"/>
                                          </p:stCondLst>
                                        </p:cTn>
                                        <p:tgtEl>
                                          <p:spTgt spid="36"/>
                                        </p:tgtEl>
                                        <p:attrNameLst>
                                          <p:attrName>style.visibility</p:attrName>
                                        </p:attrNameLst>
                                      </p:cBhvr>
                                      <p:to>
                                        <p:strVal val="visible"/>
                                      </p:to>
                                    </p:set>
                                    <p:animEffect transition="in" filter="fade">
                                      <p:cBhvr>
                                        <p:cTn id="177" dur="600"/>
                                        <p:tgtEl>
                                          <p:spTgt spid="36"/>
                                        </p:tgtEl>
                                      </p:cBhvr>
                                    </p:animEffect>
                                    <p:anim calcmode="lin" valueType="num">
                                      <p:cBhvr>
                                        <p:cTn id="178" dur="600" fill="hold"/>
                                        <p:tgtEl>
                                          <p:spTgt spid="36"/>
                                        </p:tgtEl>
                                        <p:attrNameLst>
                                          <p:attrName>ppt_x</p:attrName>
                                        </p:attrNameLst>
                                      </p:cBhvr>
                                      <p:tavLst>
                                        <p:tav tm="0">
                                          <p:val>
                                            <p:strVal val="#ppt_x"/>
                                          </p:val>
                                        </p:tav>
                                        <p:tav tm="100000">
                                          <p:val>
                                            <p:strVal val="#ppt_x"/>
                                          </p:val>
                                        </p:tav>
                                      </p:tavLst>
                                    </p:anim>
                                    <p:anim calcmode="lin" valueType="num">
                                      <p:cBhvr>
                                        <p:cTn id="179" dur="600" fill="hold"/>
                                        <p:tgtEl>
                                          <p:spTgt spid="36"/>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2485"/>
                                  </p:stCondLst>
                                  <p:childTnLst>
                                    <p:set>
                                      <p:cBhvr>
                                        <p:cTn id="181" dur="1" fill="hold">
                                          <p:stCondLst>
                                            <p:cond delay="0"/>
                                          </p:stCondLst>
                                        </p:cTn>
                                        <p:tgtEl>
                                          <p:spTgt spid="37"/>
                                        </p:tgtEl>
                                        <p:attrNameLst>
                                          <p:attrName>style.visibility</p:attrName>
                                        </p:attrNameLst>
                                      </p:cBhvr>
                                      <p:to>
                                        <p:strVal val="visible"/>
                                      </p:to>
                                    </p:set>
                                    <p:animEffect transition="in" filter="fade">
                                      <p:cBhvr>
                                        <p:cTn id="182" dur="600"/>
                                        <p:tgtEl>
                                          <p:spTgt spid="37"/>
                                        </p:tgtEl>
                                      </p:cBhvr>
                                    </p:animEffect>
                                    <p:anim calcmode="lin" valueType="num">
                                      <p:cBhvr>
                                        <p:cTn id="183" dur="600" fill="hold"/>
                                        <p:tgtEl>
                                          <p:spTgt spid="37"/>
                                        </p:tgtEl>
                                        <p:attrNameLst>
                                          <p:attrName>ppt_x</p:attrName>
                                        </p:attrNameLst>
                                      </p:cBhvr>
                                      <p:tavLst>
                                        <p:tav tm="0">
                                          <p:val>
                                            <p:strVal val="#ppt_x"/>
                                          </p:val>
                                        </p:tav>
                                        <p:tav tm="100000">
                                          <p:val>
                                            <p:strVal val="#ppt_x"/>
                                          </p:val>
                                        </p:tav>
                                      </p:tavLst>
                                    </p:anim>
                                    <p:anim calcmode="lin" valueType="num">
                                      <p:cBhvr>
                                        <p:cTn id="184" dur="600" fill="hold"/>
                                        <p:tgtEl>
                                          <p:spTgt spid="37"/>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2556"/>
                                  </p:stCondLst>
                                  <p:childTnLst>
                                    <p:set>
                                      <p:cBhvr>
                                        <p:cTn id="186" dur="1" fill="hold">
                                          <p:stCondLst>
                                            <p:cond delay="0"/>
                                          </p:stCondLst>
                                        </p:cTn>
                                        <p:tgtEl>
                                          <p:spTgt spid="38"/>
                                        </p:tgtEl>
                                        <p:attrNameLst>
                                          <p:attrName>style.visibility</p:attrName>
                                        </p:attrNameLst>
                                      </p:cBhvr>
                                      <p:to>
                                        <p:strVal val="visible"/>
                                      </p:to>
                                    </p:set>
                                    <p:animEffect transition="in" filter="fade">
                                      <p:cBhvr>
                                        <p:cTn id="187" dur="600"/>
                                        <p:tgtEl>
                                          <p:spTgt spid="38"/>
                                        </p:tgtEl>
                                      </p:cBhvr>
                                    </p:animEffect>
                                    <p:anim calcmode="lin" valueType="num">
                                      <p:cBhvr>
                                        <p:cTn id="188" dur="600" fill="hold"/>
                                        <p:tgtEl>
                                          <p:spTgt spid="38"/>
                                        </p:tgtEl>
                                        <p:attrNameLst>
                                          <p:attrName>ppt_x</p:attrName>
                                        </p:attrNameLst>
                                      </p:cBhvr>
                                      <p:tavLst>
                                        <p:tav tm="0">
                                          <p:val>
                                            <p:strVal val="#ppt_x"/>
                                          </p:val>
                                        </p:tav>
                                        <p:tav tm="100000">
                                          <p:val>
                                            <p:strVal val="#ppt_x"/>
                                          </p:val>
                                        </p:tav>
                                      </p:tavLst>
                                    </p:anim>
                                    <p:anim calcmode="lin" valueType="num">
                                      <p:cBhvr>
                                        <p:cTn id="189" dur="600" fill="hold"/>
                                        <p:tgtEl>
                                          <p:spTgt spid="38"/>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2627"/>
                                  </p:stCondLst>
                                  <p:childTnLst>
                                    <p:set>
                                      <p:cBhvr>
                                        <p:cTn id="191" dur="1" fill="hold">
                                          <p:stCondLst>
                                            <p:cond delay="0"/>
                                          </p:stCondLst>
                                        </p:cTn>
                                        <p:tgtEl>
                                          <p:spTgt spid="39"/>
                                        </p:tgtEl>
                                        <p:attrNameLst>
                                          <p:attrName>style.visibility</p:attrName>
                                        </p:attrNameLst>
                                      </p:cBhvr>
                                      <p:to>
                                        <p:strVal val="visible"/>
                                      </p:to>
                                    </p:set>
                                    <p:animEffect transition="in" filter="fade">
                                      <p:cBhvr>
                                        <p:cTn id="192" dur="600"/>
                                        <p:tgtEl>
                                          <p:spTgt spid="39"/>
                                        </p:tgtEl>
                                      </p:cBhvr>
                                    </p:animEffect>
                                    <p:anim calcmode="lin" valueType="num">
                                      <p:cBhvr>
                                        <p:cTn id="193" dur="600" fill="hold"/>
                                        <p:tgtEl>
                                          <p:spTgt spid="39"/>
                                        </p:tgtEl>
                                        <p:attrNameLst>
                                          <p:attrName>ppt_x</p:attrName>
                                        </p:attrNameLst>
                                      </p:cBhvr>
                                      <p:tavLst>
                                        <p:tav tm="0">
                                          <p:val>
                                            <p:strVal val="#ppt_x"/>
                                          </p:val>
                                        </p:tav>
                                        <p:tav tm="100000">
                                          <p:val>
                                            <p:strVal val="#ppt_x"/>
                                          </p:val>
                                        </p:tav>
                                      </p:tavLst>
                                    </p:anim>
                                    <p:anim calcmode="lin" valueType="num">
                                      <p:cBhvr>
                                        <p:cTn id="194" dur="600" fill="hold"/>
                                        <p:tgtEl>
                                          <p:spTgt spid="39"/>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2698"/>
                                  </p:stCondLst>
                                  <p:childTnLst>
                                    <p:set>
                                      <p:cBhvr>
                                        <p:cTn id="196" dur="1" fill="hold">
                                          <p:stCondLst>
                                            <p:cond delay="0"/>
                                          </p:stCondLst>
                                        </p:cTn>
                                        <p:tgtEl>
                                          <p:spTgt spid="40"/>
                                        </p:tgtEl>
                                        <p:attrNameLst>
                                          <p:attrName>style.visibility</p:attrName>
                                        </p:attrNameLst>
                                      </p:cBhvr>
                                      <p:to>
                                        <p:strVal val="visible"/>
                                      </p:to>
                                    </p:set>
                                    <p:animEffect transition="in" filter="fade">
                                      <p:cBhvr>
                                        <p:cTn id="197" dur="600"/>
                                        <p:tgtEl>
                                          <p:spTgt spid="40"/>
                                        </p:tgtEl>
                                      </p:cBhvr>
                                    </p:animEffect>
                                    <p:anim calcmode="lin" valueType="num">
                                      <p:cBhvr>
                                        <p:cTn id="198" dur="600" fill="hold"/>
                                        <p:tgtEl>
                                          <p:spTgt spid="40"/>
                                        </p:tgtEl>
                                        <p:attrNameLst>
                                          <p:attrName>ppt_x</p:attrName>
                                        </p:attrNameLst>
                                      </p:cBhvr>
                                      <p:tavLst>
                                        <p:tav tm="0">
                                          <p:val>
                                            <p:strVal val="#ppt_x"/>
                                          </p:val>
                                        </p:tav>
                                        <p:tav tm="100000">
                                          <p:val>
                                            <p:strVal val="#ppt_x"/>
                                          </p:val>
                                        </p:tav>
                                      </p:tavLst>
                                    </p:anim>
                                    <p:anim calcmode="lin" valueType="num">
                                      <p:cBhvr>
                                        <p:cTn id="199" dur="600" fill="hold"/>
                                        <p:tgtEl>
                                          <p:spTgt spid="40"/>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2769"/>
                                  </p:stCondLst>
                                  <p:childTnLst>
                                    <p:set>
                                      <p:cBhvr>
                                        <p:cTn id="201" dur="1" fill="hold">
                                          <p:stCondLst>
                                            <p:cond delay="0"/>
                                          </p:stCondLst>
                                        </p:cTn>
                                        <p:tgtEl>
                                          <p:spTgt spid="41"/>
                                        </p:tgtEl>
                                        <p:attrNameLst>
                                          <p:attrName>style.visibility</p:attrName>
                                        </p:attrNameLst>
                                      </p:cBhvr>
                                      <p:to>
                                        <p:strVal val="visible"/>
                                      </p:to>
                                    </p:set>
                                    <p:animEffect transition="in" filter="fade">
                                      <p:cBhvr>
                                        <p:cTn id="202" dur="600"/>
                                        <p:tgtEl>
                                          <p:spTgt spid="41"/>
                                        </p:tgtEl>
                                      </p:cBhvr>
                                    </p:animEffect>
                                    <p:anim calcmode="lin" valueType="num">
                                      <p:cBhvr>
                                        <p:cTn id="203" dur="600" fill="hold"/>
                                        <p:tgtEl>
                                          <p:spTgt spid="41"/>
                                        </p:tgtEl>
                                        <p:attrNameLst>
                                          <p:attrName>ppt_x</p:attrName>
                                        </p:attrNameLst>
                                      </p:cBhvr>
                                      <p:tavLst>
                                        <p:tav tm="0">
                                          <p:val>
                                            <p:strVal val="#ppt_x"/>
                                          </p:val>
                                        </p:tav>
                                        <p:tav tm="100000">
                                          <p:val>
                                            <p:strVal val="#ppt_x"/>
                                          </p:val>
                                        </p:tav>
                                      </p:tavLst>
                                    </p:anim>
                                    <p:anim calcmode="lin" valueType="num">
                                      <p:cBhvr>
                                        <p:cTn id="204" dur="600" fill="hold"/>
                                        <p:tgtEl>
                                          <p:spTgt spid="41"/>
                                        </p:tgtEl>
                                        <p:attrNameLst>
                                          <p:attrName>ppt_y</p:attrName>
                                        </p:attrNameLst>
                                      </p:cBhvr>
                                      <p:tavLst>
                                        <p:tav tm="0">
                                          <p:val>
                                            <p:strVal val="#ppt_y+.1"/>
                                          </p:val>
                                        </p:tav>
                                        <p:tav tm="100000">
                                          <p:val>
                                            <p:strVal val="#ppt_y"/>
                                          </p:val>
                                        </p:tav>
                                      </p:tavLst>
                                    </p:anim>
                                  </p:childTnLst>
                                </p:cTn>
                              </p:par>
                              <p:par>
                                <p:cTn id="205" presetID="42" presetClass="entr" presetSubtype="0" fill="hold" nodeType="withEffect">
                                  <p:stCondLst>
                                    <p:cond delay="2840"/>
                                  </p:stCondLst>
                                  <p:childTnLst>
                                    <p:set>
                                      <p:cBhvr>
                                        <p:cTn id="206" dur="1" fill="hold">
                                          <p:stCondLst>
                                            <p:cond delay="0"/>
                                          </p:stCondLst>
                                        </p:cTn>
                                        <p:tgtEl>
                                          <p:spTgt spid="42"/>
                                        </p:tgtEl>
                                        <p:attrNameLst>
                                          <p:attrName>style.visibility</p:attrName>
                                        </p:attrNameLst>
                                      </p:cBhvr>
                                      <p:to>
                                        <p:strVal val="visible"/>
                                      </p:to>
                                    </p:set>
                                    <p:animEffect transition="in" filter="fade">
                                      <p:cBhvr>
                                        <p:cTn id="207" dur="600"/>
                                        <p:tgtEl>
                                          <p:spTgt spid="42"/>
                                        </p:tgtEl>
                                      </p:cBhvr>
                                    </p:animEffect>
                                    <p:anim calcmode="lin" valueType="num">
                                      <p:cBhvr>
                                        <p:cTn id="208" dur="600" fill="hold"/>
                                        <p:tgtEl>
                                          <p:spTgt spid="42"/>
                                        </p:tgtEl>
                                        <p:attrNameLst>
                                          <p:attrName>ppt_x</p:attrName>
                                        </p:attrNameLst>
                                      </p:cBhvr>
                                      <p:tavLst>
                                        <p:tav tm="0">
                                          <p:val>
                                            <p:strVal val="#ppt_x"/>
                                          </p:val>
                                        </p:tav>
                                        <p:tav tm="100000">
                                          <p:val>
                                            <p:strVal val="#ppt_x"/>
                                          </p:val>
                                        </p:tav>
                                      </p:tavLst>
                                    </p:anim>
                                    <p:anim calcmode="lin" valueType="num">
                                      <p:cBhvr>
                                        <p:cTn id="209" dur="600" fill="hold"/>
                                        <p:tgtEl>
                                          <p:spTgt spid="42"/>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2911"/>
                                  </p:stCondLst>
                                  <p:childTnLst>
                                    <p:set>
                                      <p:cBhvr>
                                        <p:cTn id="211" dur="1" fill="hold">
                                          <p:stCondLst>
                                            <p:cond delay="0"/>
                                          </p:stCondLst>
                                        </p:cTn>
                                        <p:tgtEl>
                                          <p:spTgt spid="25"/>
                                        </p:tgtEl>
                                        <p:attrNameLst>
                                          <p:attrName>style.visibility</p:attrName>
                                        </p:attrNameLst>
                                      </p:cBhvr>
                                      <p:to>
                                        <p:strVal val="visible"/>
                                      </p:to>
                                    </p:set>
                                    <p:animEffect transition="in" filter="fade">
                                      <p:cBhvr>
                                        <p:cTn id="212" dur="600"/>
                                        <p:tgtEl>
                                          <p:spTgt spid="25"/>
                                        </p:tgtEl>
                                      </p:cBhvr>
                                    </p:animEffect>
                                    <p:anim calcmode="lin" valueType="num">
                                      <p:cBhvr>
                                        <p:cTn id="213" dur="600" fill="hold"/>
                                        <p:tgtEl>
                                          <p:spTgt spid="25"/>
                                        </p:tgtEl>
                                        <p:attrNameLst>
                                          <p:attrName>ppt_x</p:attrName>
                                        </p:attrNameLst>
                                      </p:cBhvr>
                                      <p:tavLst>
                                        <p:tav tm="0">
                                          <p:val>
                                            <p:strVal val="#ppt_x"/>
                                          </p:val>
                                        </p:tav>
                                        <p:tav tm="100000">
                                          <p:val>
                                            <p:strVal val="#ppt_x"/>
                                          </p:val>
                                        </p:tav>
                                      </p:tavLst>
                                    </p:anim>
                                    <p:anim calcmode="lin" valueType="num">
                                      <p:cBhvr>
                                        <p:cTn id="21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Architecture de l’application</a:t>
            </a:r>
            <a:endParaRPr lang="en-US" sz="3200" dirty="0"/>
          </a:p>
        </p:txBody>
      </p:sp>
      <p:pic>
        <p:nvPicPr>
          <p:cNvPr id="3" name="Architecture trois tiers" descr="Architecture trois tiers">    </p:cNvPr>
          <p:cNvPicPr>
            <a:picLocks noChangeAspect="1"/>
          </p:cNvPicPr>
          <p:nvPr/>
        </p:nvPicPr>
        <p:blipFill>
          <a:blip r:embed="rId1"/>
          <a:stretch>
            <a:fillRect/>
          </a:stretch>
        </p:blipFill>
        <p:spPr>
          <a:xfrm>
            <a:off x="548640" y="1463040"/>
            <a:ext cx="9509760" cy="1674880"/>
          </a:xfrm>
          <a:prstGeom prst="rect">
            <a:avLst/>
          </a:prstGeom>
        </p:spPr>
      </p:pic>
      <p:sp>
        <p:nvSpPr>
          <p:cNvPr id="4" name="Carte tiers 1"/>
          <p:cNvSpPr/>
          <p:nvPr/>
        </p:nvSpPr>
        <p:spPr>
          <a:xfrm>
            <a:off x="548640" y="4206240"/>
            <a:ext cx="297180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5" name="Tiers 1 cercle"/>
          <p:cNvSpPr/>
          <p:nvPr/>
        </p:nvSpPr>
        <p:spPr>
          <a:xfrm>
            <a:off x="731520" y="4434840"/>
            <a:ext cx="640080" cy="640080"/>
          </a:xfrm>
          <a:prstGeom prst="ellipse">
            <a:avLst/>
          </a:prstGeom>
          <a:solidFill>
            <a:schemeClr val="accent1"/>
          </a:solidFill>
          <a:ln w="12700">
            <a:solidFill>
              <a:schemeClr val="accent1"/>
            </a:solidFill>
            <a:prstDash val="solid"/>
          </a:ln>
        </p:spPr>
      </p:sp>
      <p:pic>
        <p:nvPicPr>
          <p:cNvPr id="6" name="Tiers 1 icone" descr="preencoded.png">    </p:cNvPr>
          <p:cNvPicPr>
            <a:picLocks noChangeAspect="1"/>
          </p:cNvPicPr>
          <p:nvPr/>
        </p:nvPicPr>
        <p:blipFill>
          <a:blip r:embed="rId2"/>
          <a:stretch>
            <a:fillRect/>
          </a:stretch>
        </p:blipFill>
        <p:spPr>
          <a:xfrm>
            <a:off x="885139" y="4588459"/>
            <a:ext cx="332842" cy="332842"/>
          </a:xfrm>
          <a:prstGeom prst="rect">
            <a:avLst/>
          </a:prstGeom>
        </p:spPr>
      </p:pic>
      <p:sp>
        <p:nvSpPr>
          <p:cNvPr id="7" name="Texte tiers 1"/>
          <p:cNvSpPr txBox="1"/>
          <p:nvPr/>
        </p:nvSpPr>
        <p:spPr>
          <a:xfrm>
            <a:off x="1508760" y="4389120"/>
            <a:ext cx="1920240" cy="1325880"/>
          </a:xfrm>
          <a:prstGeom prst="rect">
            <a:avLst/>
          </a:prstGeom>
          <a:noFill/>
          <a:ln/>
        </p:spPr>
        <p:txBody>
          <a:bodyPr wrap="square" lIns="0" tIns="0" rIns="0" bIns="0" rtlCol="0" anchor="t"/>
          <a:lstStyle/>
          <a:p>
            <a:pPr indent="0" marL="0">
              <a:buNone/>
            </a:pPr>
            <a:r>
              <a:rPr lang="en-US" sz="1800" b="1" dirty="0">
                <a:solidFill>
                  <a:schemeClr val="tx2"/>
                </a:solidFill>
              </a:rPr>
              <a:t>Présentation</a:t>
            </a:r>
            <a:endParaRPr lang="en-US" sz="1400" dirty="0"/>
          </a:p>
          <a:p>
            <a:pPr indent="0" marL="0">
              <a:buNone/>
            </a:pPr>
            <a:r>
              <a:rPr lang="en-US" sz="1400" dirty="0">
                <a:solidFill>
                  <a:schemeClr val="tx1"/>
                </a:solidFill>
              </a:rPr>
              <a:t>Pages React dans le navigateur</a:t>
            </a:r>
            <a:endParaRPr lang="en-US" sz="1400" dirty="0"/>
          </a:p>
        </p:txBody>
      </p:sp>
      <p:sp>
        <p:nvSpPr>
          <p:cNvPr id="8" name="Carte tiers 2"/>
          <p:cNvSpPr/>
          <p:nvPr/>
        </p:nvSpPr>
        <p:spPr>
          <a:xfrm>
            <a:off x="3794760" y="4206240"/>
            <a:ext cx="297180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9" name="Tiers 2 cercle"/>
          <p:cNvSpPr/>
          <p:nvPr/>
        </p:nvSpPr>
        <p:spPr>
          <a:xfrm>
            <a:off x="3977640" y="4434840"/>
            <a:ext cx="640080" cy="640080"/>
          </a:xfrm>
          <a:prstGeom prst="ellipse">
            <a:avLst/>
          </a:prstGeom>
          <a:solidFill>
            <a:schemeClr val="accent2"/>
          </a:solidFill>
          <a:ln w="12700">
            <a:solidFill>
              <a:schemeClr val="accent2"/>
            </a:solidFill>
            <a:prstDash val="solid"/>
          </a:ln>
        </p:spPr>
      </p:sp>
      <p:pic>
        <p:nvPicPr>
          <p:cNvPr id="10" name="Tiers 2 icone" descr="preencoded.png">    </p:cNvPr>
          <p:cNvPicPr>
            <a:picLocks noChangeAspect="1"/>
          </p:cNvPicPr>
          <p:nvPr/>
        </p:nvPicPr>
        <p:blipFill>
          <a:blip r:embed="rId3"/>
          <a:stretch>
            <a:fillRect/>
          </a:stretch>
        </p:blipFill>
        <p:spPr>
          <a:xfrm>
            <a:off x="4131259" y="4588459"/>
            <a:ext cx="332842" cy="332842"/>
          </a:xfrm>
          <a:prstGeom prst="rect">
            <a:avLst/>
          </a:prstGeom>
        </p:spPr>
      </p:pic>
      <p:sp>
        <p:nvSpPr>
          <p:cNvPr id="11" name="Texte tiers 2"/>
          <p:cNvSpPr txBox="1"/>
          <p:nvPr/>
        </p:nvSpPr>
        <p:spPr>
          <a:xfrm>
            <a:off x="4754880" y="4389120"/>
            <a:ext cx="1920240" cy="1325880"/>
          </a:xfrm>
          <a:prstGeom prst="rect">
            <a:avLst/>
          </a:prstGeom>
          <a:noFill/>
          <a:ln/>
        </p:spPr>
        <p:txBody>
          <a:bodyPr wrap="square" lIns="0" tIns="0" rIns="0" bIns="0" rtlCol="0" anchor="t"/>
          <a:lstStyle/>
          <a:p>
            <a:pPr indent="0" marL="0">
              <a:buNone/>
            </a:pPr>
            <a:r>
              <a:rPr lang="en-US" sz="1800" b="1" dirty="0">
                <a:solidFill>
                  <a:schemeClr val="tx2"/>
                </a:solidFill>
              </a:rPr>
              <a:t>Métier</a:t>
            </a:r>
            <a:endParaRPr lang="en-US" sz="1400" dirty="0"/>
          </a:p>
          <a:p>
            <a:pPr indent="0" marL="0">
              <a:buNone/>
            </a:pPr>
            <a:r>
              <a:rPr lang="en-US" sz="1400" dirty="0">
                <a:solidFill>
                  <a:schemeClr val="tx1"/>
                </a:solidFill>
              </a:rPr>
              <a:t>Proxy de sécurité, API et règles de planification</a:t>
            </a:r>
            <a:endParaRPr lang="en-US" sz="1400" dirty="0"/>
          </a:p>
        </p:txBody>
      </p:sp>
      <p:sp>
        <p:nvSpPr>
          <p:cNvPr id="12" name="Carte tiers 3"/>
          <p:cNvSpPr/>
          <p:nvPr/>
        </p:nvSpPr>
        <p:spPr>
          <a:xfrm>
            <a:off x="7040880" y="4206240"/>
            <a:ext cx="297180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9CC9BB">
                <a:alpha val="35000"/>
              </a:srgbClr>
            </a:outerShdw>
          </a:effectLst>
        </p:spPr>
      </p:sp>
      <p:sp>
        <p:nvSpPr>
          <p:cNvPr id="13" name="Tiers 3 cercle"/>
          <p:cNvSpPr/>
          <p:nvPr/>
        </p:nvSpPr>
        <p:spPr>
          <a:xfrm>
            <a:off x="7223760" y="4434840"/>
            <a:ext cx="640080" cy="640080"/>
          </a:xfrm>
          <a:prstGeom prst="ellipse">
            <a:avLst/>
          </a:prstGeom>
          <a:solidFill>
            <a:schemeClr val="accent5"/>
          </a:solidFill>
          <a:ln w="12700">
            <a:solidFill>
              <a:schemeClr val="accent5"/>
            </a:solidFill>
            <a:prstDash val="solid"/>
          </a:ln>
        </p:spPr>
      </p:sp>
      <p:pic>
        <p:nvPicPr>
          <p:cNvPr id="14" name="Tiers 3 icone" descr="preencoded.png">    </p:cNvPr>
          <p:cNvPicPr>
            <a:picLocks noChangeAspect="1"/>
          </p:cNvPicPr>
          <p:nvPr/>
        </p:nvPicPr>
        <p:blipFill>
          <a:blip r:embed="rId4"/>
          <a:stretch>
            <a:fillRect/>
          </a:stretch>
        </p:blipFill>
        <p:spPr>
          <a:xfrm>
            <a:off x="7377379" y="4588459"/>
            <a:ext cx="332842" cy="332842"/>
          </a:xfrm>
          <a:prstGeom prst="rect">
            <a:avLst/>
          </a:prstGeom>
        </p:spPr>
      </p:pic>
      <p:sp>
        <p:nvSpPr>
          <p:cNvPr id="15" name="Texte tiers 3"/>
          <p:cNvSpPr txBox="1"/>
          <p:nvPr/>
        </p:nvSpPr>
        <p:spPr>
          <a:xfrm>
            <a:off x="8001000" y="4389120"/>
            <a:ext cx="1920240" cy="1325880"/>
          </a:xfrm>
          <a:prstGeom prst="rect">
            <a:avLst/>
          </a:prstGeom>
          <a:noFill/>
          <a:ln/>
        </p:spPr>
        <p:txBody>
          <a:bodyPr wrap="square" lIns="0" tIns="0" rIns="0" bIns="0" rtlCol="0" anchor="t"/>
          <a:lstStyle/>
          <a:p>
            <a:pPr indent="0" marL="0">
              <a:buNone/>
            </a:pPr>
            <a:r>
              <a:rPr lang="en-US" sz="1800" b="1" dirty="0">
                <a:solidFill>
                  <a:schemeClr val="tx2"/>
                </a:solidFill>
              </a:rPr>
              <a:t>Données</a:t>
            </a:r>
            <a:endParaRPr lang="en-US" sz="1400" dirty="0"/>
          </a:p>
          <a:p>
            <a:pPr indent="0" marL="0">
              <a:buNone/>
            </a:pPr>
            <a:r>
              <a:rPr lang="en-US" sz="1400" dirty="0">
                <a:solidFill>
                  <a:schemeClr val="tx1"/>
                </a:solidFill>
              </a:rPr>
              <a:t>PostgreSQL via Drizzle ORM</a:t>
            </a:r>
            <a:endParaRPr lang="en-US" sz="14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9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26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62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8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98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216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234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252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600"/>
                                        <p:tgtEl>
                                          <p:spTgt spid="25"/>
                                        </p:tgtEl>
                                      </p:cBhvr>
                                    </p:animEffect>
                                    <p:anim calcmode="lin" valueType="num">
                                      <p:cBhvr>
                                        <p:cTn id="78" dur="600" fill="hold"/>
                                        <p:tgtEl>
                                          <p:spTgt spid="25"/>
                                        </p:tgtEl>
                                        <p:attrNameLst>
                                          <p:attrName>ppt_x</p:attrName>
                                        </p:attrNameLst>
                                      </p:cBhvr>
                                      <p:tavLst>
                                        <p:tav tm="0">
                                          <p:val>
                                            <p:strVal val="#ppt_x"/>
                                          </p:val>
                                        </p:tav>
                                        <p:tav tm="100000">
                                          <p:val>
                                            <p:strVal val="#ppt_x"/>
                                          </p:val>
                                        </p:tav>
                                      </p:tavLst>
                                    </p:anim>
                                    <p:anim calcmode="lin" valueType="num">
                                      <p:cBhvr>
                                        <p:cTn id="7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Le tableau de bord</a:t>
            </a:r>
            <a:endParaRPr lang="en-US" sz="3200" dirty="0"/>
          </a:p>
        </p:txBody>
      </p:sp>
      <p:pic>
        <p:nvPicPr>
          <p:cNvPr id="3" name="Capture tableau de bord" descr="Capture tableau de bord">    </p:cNvPr>
          <p:cNvPicPr>
            <a:picLocks noChangeAspect="1"/>
          </p:cNvPicPr>
          <p:nvPr/>
        </p:nvPicPr>
        <p:blipFill>
          <a:blip r:embed="rId1"/>
          <a:stretch>
            <a:fillRect/>
          </a:stretch>
        </p:blipFill>
        <p:spPr>
          <a:xfrm>
            <a:off x="548640" y="1371600"/>
            <a:ext cx="7589520" cy="3661156"/>
          </a:xfrm>
          <a:prstGeom prst="rect">
            <a:avLst/>
          </a:prstGeom>
          <a:effectLst>
            <a:outerShdw sx="100000" sy="100000" kx="0" ky="0" algn="bl" rotWithShape="0" blurRad="101600" dist="38100" dir="5400000">
              <a:srgbClr val="7FA99C">
                <a:alpha val="40000"/>
              </a:srgbClr>
            </a:outerShdw>
          </a:effectLst>
        </p:spPr>
      </p:pic>
      <p:sp>
        <p:nvSpPr>
          <p:cNvPr id="4" name="Liste tableau de bord"/>
          <p:cNvSpPr txBox="1"/>
          <p:nvPr/>
        </p:nvSpPr>
        <p:spPr>
          <a:xfrm>
            <a:off x="8366760" y="1554480"/>
            <a:ext cx="2057400" cy="36576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rPr>
              <a:t>Patients et médecins</a:t>
            </a:r>
            <a:endParaRPr lang="en-US" sz="1500" dirty="0"/>
          </a:p>
          <a:p>
            <a:pPr marL="228600" indent="-228600">
              <a:spcAft>
                <a:spcPts val="1000"/>
              </a:spcAft>
              <a:buSzPct val="100000"/>
              <a:buChar char="•"/>
            </a:pPr>
            <a:r>
              <a:rPr lang="en-US" sz="1500" dirty="0">
                <a:solidFill>
                  <a:schemeClr val="tx1"/>
                </a:solidFill>
              </a:rPr>
              <a:t>Rendez-vous du jour</a:t>
            </a:r>
            <a:endParaRPr lang="en-US" sz="1500" dirty="0"/>
          </a:p>
          <a:p>
            <a:pPr marL="228600" indent="-228600">
              <a:spcAft>
                <a:spcPts val="1000"/>
              </a:spcAft>
              <a:buSzPct val="100000"/>
              <a:buChar char="•"/>
            </a:pPr>
            <a:r>
              <a:rPr lang="en-US" sz="1500" dirty="0">
                <a:solidFill>
                  <a:schemeClr val="tx1"/>
                </a:solidFill>
              </a:rPr>
              <a:t>Confirmés, en attente, annulés</a:t>
            </a:r>
            <a:endParaRPr lang="en-US" sz="1500" dirty="0"/>
          </a:p>
          <a:p>
            <a:pPr marL="228600" indent="-228600">
              <a:spcAft>
                <a:spcPts val="1000"/>
              </a:spcAft>
              <a:buSzPct val="100000"/>
              <a:buChar char="•"/>
            </a:pPr>
            <a:r>
              <a:rPr lang="en-US" sz="1500" dirty="0">
                <a:solidFill>
                  <a:schemeClr val="tx1"/>
                </a:solidFill>
              </a:rPr>
              <a:t>Liste d’attente</a:t>
            </a:r>
            <a:endParaRPr lang="en-US" sz="1500" dirty="0"/>
          </a:p>
          <a:p>
            <a:pPr marL="228600" indent="-228600">
              <a:spcAft>
                <a:spcPts val="1000"/>
              </a:spcAft>
              <a:buSzPct val="100000"/>
              <a:buChar char="•"/>
            </a:pPr>
            <a:r>
              <a:rPr lang="en-US" sz="1500" dirty="0">
                <a:solidFill>
                  <a:schemeClr val="tx1"/>
                </a:solidFill>
              </a:rPr>
              <a:t>Graphiques en temps réel</a:t>
            </a:r>
            <a:endParaRPr lang="en-US" sz="15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600"/>
                                        <p:tgtEl>
                                          <p:spTgt spid="25"/>
                                        </p:tgtEl>
                                      </p:cBhvr>
                                    </p:animEffect>
                                    <p:anim calcmode="lin" valueType="num">
                                      <p:cBhvr>
                                        <p:cTn id="23" dur="600" fill="hold"/>
                                        <p:tgtEl>
                                          <p:spTgt spid="25"/>
                                        </p:tgtEl>
                                        <p:attrNameLst>
                                          <p:attrName>ppt_x</p:attrName>
                                        </p:attrNameLst>
                                      </p:cBhvr>
                                      <p:tavLst>
                                        <p:tav tm="0">
                                          <p:val>
                                            <p:strVal val="#ppt_x"/>
                                          </p:val>
                                        </p:tav>
                                        <p:tav tm="100000">
                                          <p:val>
                                            <p:strVal val="#ppt_x"/>
                                          </p:val>
                                        </p:tav>
                                      </p:tavLst>
                                    </p:anim>
                                    <p:anim calcmode="lin" valueType="num">
                                      <p:cBhvr>
                                        <p:cTn id="2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Disponibilités et prise de rendez-vous</a:t>
            </a:r>
            <a:endParaRPr lang="en-US" sz="3200" dirty="0"/>
          </a:p>
        </p:txBody>
      </p:sp>
      <p:pic>
        <p:nvPicPr>
          <p:cNvPr id="3" name="Capture disponibilites" descr="Capture disponibilites">    </p:cNvPr>
          <p:cNvPicPr>
            <a:picLocks noChangeAspect="1"/>
          </p:cNvPicPr>
          <p:nvPr/>
        </p:nvPicPr>
        <p:blipFill>
          <a:blip r:embed="rId1"/>
          <a:stretch>
            <a:fillRect/>
          </a:stretch>
        </p:blipFill>
        <p:spPr>
          <a:xfrm>
            <a:off x="548640" y="1325880"/>
            <a:ext cx="4023360" cy="4226218"/>
          </a:xfrm>
          <a:prstGeom prst="rect">
            <a:avLst/>
          </a:prstGeom>
          <a:effectLst>
            <a:outerShdw sx="100000" sy="100000" kx="0" ky="0" algn="bl" rotWithShape="0" blurRad="101600" dist="38100" dir="5400000">
              <a:srgbClr val="7FA99C">
                <a:alpha val="40000"/>
              </a:srgbClr>
            </a:outerShdw>
          </a:effectLst>
        </p:spPr>
      </p:pic>
      <p:pic>
        <p:nvPicPr>
          <p:cNvPr id="4" name="Capture nouveau rendez-vous" descr="Capture nouveau rendez-vous">    </p:cNvPr>
          <p:cNvPicPr>
            <a:picLocks noChangeAspect="1"/>
          </p:cNvPicPr>
          <p:nvPr/>
        </p:nvPicPr>
        <p:blipFill>
          <a:blip r:embed="rId2"/>
          <a:stretch>
            <a:fillRect/>
          </a:stretch>
        </p:blipFill>
        <p:spPr>
          <a:xfrm>
            <a:off x="4846320" y="1325880"/>
            <a:ext cx="3108960" cy="4261335"/>
          </a:xfrm>
          <a:prstGeom prst="rect">
            <a:avLst/>
          </a:prstGeom>
          <a:effectLst>
            <a:outerShdw sx="100000" sy="100000" kx="0" ky="0" algn="bl" rotWithShape="0" blurRad="101600" dist="38100" dir="5400000">
              <a:srgbClr val="7FA99C">
                <a:alpha val="40000"/>
              </a:srgbClr>
            </a:outerShdw>
          </a:effectLst>
        </p:spPr>
      </p:pic>
      <p:sp>
        <p:nvSpPr>
          <p:cNvPr id="5" name="Liste disponibilites"/>
          <p:cNvSpPr txBox="1"/>
          <p:nvPr/>
        </p:nvSpPr>
        <p:spPr>
          <a:xfrm>
            <a:off x="8183880" y="1463040"/>
            <a:ext cx="2103120" cy="4206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rPr>
              <a:t>Horaires par jour</a:t>
            </a:r>
            <a:endParaRPr lang="en-US" sz="1500" dirty="0"/>
          </a:p>
          <a:p>
            <a:pPr marL="228600" indent="-228600">
              <a:spcAft>
                <a:spcPts val="1000"/>
              </a:spcAft>
              <a:buSzPct val="100000"/>
              <a:buChar char="•"/>
            </a:pPr>
            <a:r>
              <a:rPr lang="en-US" sz="1500" dirty="0">
                <a:solidFill>
                  <a:schemeClr val="tx1"/>
                </a:solidFill>
              </a:rPr>
              <a:t>Durée : 30 min par défaut</a:t>
            </a:r>
            <a:endParaRPr lang="en-US" sz="1500" dirty="0"/>
          </a:p>
          <a:p>
            <a:pPr marL="228600" indent="-228600">
              <a:spcAft>
                <a:spcPts val="1000"/>
              </a:spcAft>
              <a:buSzPct val="100000"/>
              <a:buChar char="•"/>
            </a:pPr>
            <a:r>
              <a:rPr lang="en-US" sz="1500" dirty="0">
                <a:solidFill>
                  <a:schemeClr val="tx1"/>
                </a:solidFill>
              </a:rPr>
              <a:t>Créneaux calculés automatiquement</a:t>
            </a:r>
            <a:endParaRPr lang="en-US" sz="1500" dirty="0"/>
          </a:p>
          <a:p>
            <a:pPr marL="228600" indent="-228600">
              <a:spcAft>
                <a:spcPts val="1000"/>
              </a:spcAft>
              <a:buSzPct val="100000"/>
              <a:buChar char="•"/>
            </a:pPr>
            <a:r>
              <a:rPr lang="en-US" sz="1500" dirty="0">
                <a:solidFill>
                  <a:schemeClr val="tx1"/>
                </a:solidFill>
              </a:rPr>
              <a:t>Double vérification avant réservation</a:t>
            </a:r>
            <a:endParaRPr lang="en-US" sz="15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600"/>
                                        <p:tgtEl>
                                          <p:spTgt spid="25"/>
                                        </p:tgtEl>
                                      </p:cBhvr>
                                    </p:animEffect>
                                    <p:anim calcmode="lin" valueType="num">
                                      <p:cBhvr>
                                        <p:cTn id="28" dur="600" fill="hold"/>
                                        <p:tgtEl>
                                          <p:spTgt spid="25"/>
                                        </p:tgtEl>
                                        <p:attrNameLst>
                                          <p:attrName>ppt_x</p:attrName>
                                        </p:attrNameLst>
                                      </p:cBhvr>
                                      <p:tavLst>
                                        <p:tav tm="0">
                                          <p:val>
                                            <p:strVal val="#ppt_x"/>
                                          </p:val>
                                        </p:tav>
                                        <p:tav tm="100000">
                                          <p:val>
                                            <p:strVal val="#ppt_x"/>
                                          </p:val>
                                        </p:tav>
                                      </p:tavLst>
                                    </p:anim>
                                    <p:anim calcmode="lin" valueType="num">
                                      <p:cBhvr>
                                        <p:cTn id="2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Cycle de vie et emploi du temps</a:t>
            </a:r>
            <a:endParaRPr lang="en-US" sz="3200" dirty="0"/>
          </a:p>
        </p:txBody>
      </p:sp>
      <p:sp>
        <p:nvSpPr>
          <p:cNvPr id="3" name="Etape 1"/>
          <p:cNvSpPr/>
          <p:nvPr/>
        </p:nvSpPr>
        <p:spPr>
          <a:xfrm>
            <a:off x="548640" y="1371600"/>
            <a:ext cx="2057400" cy="640080"/>
          </a:xfrm>
          <a:prstGeom prst="roundRect">
            <a:avLst>
              <a:gd name="adj" fmla="val 50000"/>
            </a:avLst>
          </a:prstGeom>
          <a:solidFill>
            <a:schemeClr val="accent4"/>
          </a:solidFill>
          <a:ln w="12700">
            <a:solidFill>
              <a:schemeClr val="accent4"/>
            </a:solidFill>
            <a:prstDash val="solid"/>
          </a:ln>
        </p:spPr>
      </p:sp>
      <p:sp>
        <p:nvSpPr>
          <p:cNvPr id="4" name="Texte etape 1"/>
          <p:cNvSpPr txBox="1"/>
          <p:nvPr/>
        </p:nvSpPr>
        <p:spPr>
          <a:xfrm>
            <a:off x="548640" y="1371600"/>
            <a:ext cx="2057400" cy="640080"/>
          </a:xfrm>
          <a:prstGeom prst="rect">
            <a:avLst/>
          </a:prstGeom>
          <a:noFill/>
          <a:ln/>
        </p:spPr>
        <p:txBody>
          <a:bodyPr wrap="square" lIns="0" tIns="0" rIns="0" bIns="0" rtlCol="0" anchor="ctr"/>
          <a:lstStyle/>
          <a:p>
            <a:pPr algn="ctr" indent="0" marL="0">
              <a:buNone/>
            </a:pPr>
            <a:r>
              <a:rPr lang="en-US" sz="1600" b="1" dirty="0">
                <a:solidFill>
                  <a:schemeClr val="bg1"/>
                </a:solidFill>
              </a:rPr>
              <a:t>À valider</a:t>
            </a:r>
            <a:endParaRPr lang="en-US" sz="1600" dirty="0"/>
          </a:p>
        </p:txBody>
      </p:sp>
      <p:sp>
        <p:nvSpPr>
          <p:cNvPr id="5" name="Fleche 1"/>
          <p:cNvSpPr/>
          <p:nvPr/>
        </p:nvSpPr>
        <p:spPr>
          <a:xfrm>
            <a:off x="2651760" y="1554480"/>
            <a:ext cx="292608" cy="274320"/>
          </a:xfrm>
          <a:prstGeom prst="rightArrow">
            <a:avLst/>
          </a:prstGeom>
          <a:solidFill>
            <a:schemeClr val="accent3"/>
          </a:solidFill>
          <a:ln w="12700">
            <a:solidFill>
              <a:schemeClr val="accent3"/>
            </a:solidFill>
            <a:prstDash val="solid"/>
          </a:ln>
        </p:spPr>
      </p:sp>
      <p:sp>
        <p:nvSpPr>
          <p:cNvPr id="6" name="Etape 2"/>
          <p:cNvSpPr/>
          <p:nvPr/>
        </p:nvSpPr>
        <p:spPr>
          <a:xfrm>
            <a:off x="2971800" y="1371600"/>
            <a:ext cx="2057400" cy="640080"/>
          </a:xfrm>
          <a:prstGeom prst="roundRect">
            <a:avLst>
              <a:gd name="adj" fmla="val 50000"/>
            </a:avLst>
          </a:prstGeom>
          <a:solidFill>
            <a:schemeClr val="accent2"/>
          </a:solidFill>
          <a:ln w="12700">
            <a:solidFill>
              <a:schemeClr val="accent2"/>
            </a:solidFill>
            <a:prstDash val="solid"/>
          </a:ln>
        </p:spPr>
      </p:sp>
      <p:sp>
        <p:nvSpPr>
          <p:cNvPr id="7" name="Texte etape 2"/>
          <p:cNvSpPr txBox="1"/>
          <p:nvPr/>
        </p:nvSpPr>
        <p:spPr>
          <a:xfrm>
            <a:off x="2971800" y="1371600"/>
            <a:ext cx="2057400" cy="640080"/>
          </a:xfrm>
          <a:prstGeom prst="rect">
            <a:avLst/>
          </a:prstGeom>
          <a:noFill/>
          <a:ln/>
        </p:spPr>
        <p:txBody>
          <a:bodyPr wrap="square" lIns="0" tIns="0" rIns="0" bIns="0" rtlCol="0" anchor="ctr"/>
          <a:lstStyle/>
          <a:p>
            <a:pPr algn="ctr" indent="0" marL="0">
              <a:buNone/>
            </a:pPr>
            <a:r>
              <a:rPr lang="en-US" sz="1600" b="1" dirty="0">
                <a:solidFill>
                  <a:schemeClr val="bg1"/>
                </a:solidFill>
              </a:rPr>
              <a:t>Confirmé</a:t>
            </a:r>
            <a:endParaRPr lang="en-US" sz="1600" dirty="0"/>
          </a:p>
        </p:txBody>
      </p:sp>
      <p:sp>
        <p:nvSpPr>
          <p:cNvPr id="8" name="Fleche 2"/>
          <p:cNvSpPr/>
          <p:nvPr/>
        </p:nvSpPr>
        <p:spPr>
          <a:xfrm>
            <a:off x="5074920" y="1554480"/>
            <a:ext cx="292608" cy="274320"/>
          </a:xfrm>
          <a:prstGeom prst="rightArrow">
            <a:avLst/>
          </a:prstGeom>
          <a:solidFill>
            <a:schemeClr val="accent3"/>
          </a:solidFill>
          <a:ln w="12700">
            <a:solidFill>
              <a:schemeClr val="accent3"/>
            </a:solidFill>
            <a:prstDash val="solid"/>
          </a:ln>
        </p:spPr>
      </p:sp>
      <p:sp>
        <p:nvSpPr>
          <p:cNvPr id="9" name="Etape 3"/>
          <p:cNvSpPr/>
          <p:nvPr/>
        </p:nvSpPr>
        <p:spPr>
          <a:xfrm>
            <a:off x="5394960" y="1371600"/>
            <a:ext cx="2057400" cy="640080"/>
          </a:xfrm>
          <a:prstGeom prst="roundRect">
            <a:avLst>
              <a:gd name="adj" fmla="val 50000"/>
            </a:avLst>
          </a:prstGeom>
          <a:solidFill>
            <a:schemeClr val="accent1"/>
          </a:solidFill>
          <a:ln w="12700">
            <a:solidFill>
              <a:schemeClr val="accent1"/>
            </a:solidFill>
            <a:prstDash val="solid"/>
          </a:ln>
        </p:spPr>
      </p:sp>
      <p:sp>
        <p:nvSpPr>
          <p:cNvPr id="10" name="Texte etape 3"/>
          <p:cNvSpPr txBox="1"/>
          <p:nvPr/>
        </p:nvSpPr>
        <p:spPr>
          <a:xfrm>
            <a:off x="5394960" y="1371600"/>
            <a:ext cx="2057400" cy="640080"/>
          </a:xfrm>
          <a:prstGeom prst="rect">
            <a:avLst/>
          </a:prstGeom>
          <a:noFill/>
          <a:ln/>
        </p:spPr>
        <p:txBody>
          <a:bodyPr wrap="square" lIns="0" tIns="0" rIns="0" bIns="0" rtlCol="0" anchor="ctr"/>
          <a:lstStyle/>
          <a:p>
            <a:pPr algn="ctr" indent="0" marL="0">
              <a:buNone/>
            </a:pPr>
            <a:r>
              <a:rPr lang="en-US" sz="1600" b="1" dirty="0">
                <a:solidFill>
                  <a:schemeClr val="bg1"/>
                </a:solidFill>
              </a:rPr>
              <a:t>En consultation</a:t>
            </a:r>
            <a:endParaRPr lang="en-US" sz="1600" dirty="0"/>
          </a:p>
        </p:txBody>
      </p:sp>
      <p:sp>
        <p:nvSpPr>
          <p:cNvPr id="11" name="Fleche 3"/>
          <p:cNvSpPr/>
          <p:nvPr/>
        </p:nvSpPr>
        <p:spPr>
          <a:xfrm>
            <a:off x="7498080" y="1554480"/>
            <a:ext cx="292608" cy="274320"/>
          </a:xfrm>
          <a:prstGeom prst="rightArrow">
            <a:avLst/>
          </a:prstGeom>
          <a:solidFill>
            <a:schemeClr val="accent3"/>
          </a:solidFill>
          <a:ln w="12700">
            <a:solidFill>
              <a:schemeClr val="accent3"/>
            </a:solidFill>
            <a:prstDash val="solid"/>
          </a:ln>
        </p:spPr>
      </p:sp>
      <p:sp>
        <p:nvSpPr>
          <p:cNvPr id="12" name="Etape 4"/>
          <p:cNvSpPr/>
          <p:nvPr/>
        </p:nvSpPr>
        <p:spPr>
          <a:xfrm>
            <a:off x="7818120" y="1371600"/>
            <a:ext cx="2057400" cy="640080"/>
          </a:xfrm>
          <a:prstGeom prst="roundRect">
            <a:avLst>
              <a:gd name="adj" fmla="val 50000"/>
            </a:avLst>
          </a:prstGeom>
          <a:solidFill>
            <a:schemeClr val="accent5"/>
          </a:solidFill>
          <a:ln w="12700">
            <a:solidFill>
              <a:schemeClr val="accent5"/>
            </a:solidFill>
            <a:prstDash val="solid"/>
          </a:ln>
        </p:spPr>
      </p:sp>
      <p:sp>
        <p:nvSpPr>
          <p:cNvPr id="13" name="Texte etape 4"/>
          <p:cNvSpPr txBox="1"/>
          <p:nvPr/>
        </p:nvSpPr>
        <p:spPr>
          <a:xfrm>
            <a:off x="7818120" y="1371600"/>
            <a:ext cx="2057400" cy="640080"/>
          </a:xfrm>
          <a:prstGeom prst="rect">
            <a:avLst/>
          </a:prstGeom>
          <a:noFill/>
          <a:ln/>
        </p:spPr>
        <p:txBody>
          <a:bodyPr wrap="square" lIns="0" tIns="0" rIns="0" bIns="0" rtlCol="0" anchor="ctr"/>
          <a:lstStyle/>
          <a:p>
            <a:pPr algn="ctr" indent="0" marL="0">
              <a:buNone/>
            </a:pPr>
            <a:r>
              <a:rPr lang="en-US" sz="1600" b="1" dirty="0">
                <a:solidFill>
                  <a:schemeClr val="bg1"/>
                </a:solidFill>
              </a:rPr>
              <a:t>Consulté</a:t>
            </a:r>
            <a:endParaRPr lang="en-US" sz="1600" dirty="0"/>
          </a:p>
        </p:txBody>
      </p:sp>
      <p:pic>
        <p:nvPicPr>
          <p:cNvPr id="14" name="Capture emploi du temps" descr="Capture emploi du temps">    </p:cNvPr>
          <p:cNvPicPr>
            <a:picLocks noChangeAspect="1"/>
          </p:cNvPicPr>
          <p:nvPr/>
        </p:nvPicPr>
        <p:blipFill>
          <a:blip r:embed="rId1"/>
          <a:stretch>
            <a:fillRect/>
          </a:stretch>
        </p:blipFill>
        <p:spPr>
          <a:xfrm>
            <a:off x="1166038" y="2286000"/>
            <a:ext cx="8274964" cy="3931920"/>
          </a:xfrm>
          <a:prstGeom prst="rect">
            <a:avLst/>
          </a:prstGeom>
          <a:effectLst>
            <a:outerShdw sx="100000" sy="100000" kx="0" ky="0" algn="bl" rotWithShape="0" blurRad="101600" dist="38100" dir="5400000">
              <a:srgbClr val="7FA99C">
                <a:alpha val="40000"/>
              </a:srgbClr>
            </a:outerShdw>
          </a:effectLst>
        </p:spPr>
      </p:pic>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9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26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62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8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98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216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234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anim calcmode="lin" valueType="num">
                                      <p:cBhvr>
                                        <p:cTn id="73" dur="600" fill="hold"/>
                                        <p:tgtEl>
                                          <p:spTgt spid="25"/>
                                        </p:tgtEl>
                                        <p:attrNameLst>
                                          <p:attrName>ppt_x</p:attrName>
                                        </p:attrNameLst>
                                      </p:cBhvr>
                                      <p:tavLst>
                                        <p:tav tm="0">
                                          <p:val>
                                            <p:strVal val="#ppt_x"/>
                                          </p:val>
                                        </p:tav>
                                        <p:tav tm="100000">
                                          <p:val>
                                            <p:strVal val="#ppt_x"/>
                                          </p:val>
                                        </p:tav>
                                      </p:tavLst>
                                    </p:anim>
                                    <p:anim calcmode="lin" valueType="num">
                                      <p:cBhvr>
                                        <p:cTn id="7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L’assistant de réservation intelligent</a:t>
            </a:r>
            <a:endParaRPr lang="en-US" sz="3200" dirty="0"/>
          </a:p>
        </p:txBody>
      </p:sp>
      <p:pic>
        <p:nvPicPr>
          <p:cNvPr id="3" name="Capture assistant IA" descr="Capture assistant IA">    </p:cNvPr>
          <p:cNvPicPr>
            <a:picLocks noChangeAspect="1"/>
          </p:cNvPicPr>
          <p:nvPr/>
        </p:nvPicPr>
        <p:blipFill>
          <a:blip r:embed="rId1"/>
          <a:stretch>
            <a:fillRect/>
          </a:stretch>
        </p:blipFill>
        <p:spPr>
          <a:xfrm>
            <a:off x="548640" y="1371600"/>
            <a:ext cx="6309360" cy="4056652"/>
          </a:xfrm>
          <a:prstGeom prst="rect">
            <a:avLst/>
          </a:prstGeom>
          <a:effectLst>
            <a:outerShdw sx="100000" sy="100000" kx="0" ky="0" algn="bl" rotWithShape="0" blurRad="101600" dist="38100" dir="5400000">
              <a:srgbClr val="7FA99C">
                <a:alpha val="40000"/>
              </a:srgbClr>
            </a:outerShdw>
          </a:effectLst>
        </p:spPr>
      </p:pic>
      <p:sp>
        <p:nvSpPr>
          <p:cNvPr id="4" name="IA 1 cercle"/>
          <p:cNvSpPr/>
          <p:nvPr/>
        </p:nvSpPr>
        <p:spPr>
          <a:xfrm>
            <a:off x="7132320" y="1463040"/>
            <a:ext cx="640080" cy="640080"/>
          </a:xfrm>
          <a:prstGeom prst="ellipse">
            <a:avLst/>
          </a:prstGeom>
          <a:solidFill>
            <a:schemeClr val="accent1"/>
          </a:solidFill>
          <a:ln w="12700">
            <a:solidFill>
              <a:schemeClr val="accent1"/>
            </a:solidFill>
            <a:prstDash val="solid"/>
          </a:ln>
        </p:spPr>
      </p:sp>
      <p:pic>
        <p:nvPicPr>
          <p:cNvPr id="5" name="IA 1 icone" descr="preencoded.png">    </p:cNvPr>
          <p:cNvPicPr>
            <a:picLocks noChangeAspect="1"/>
          </p:cNvPicPr>
          <p:nvPr/>
        </p:nvPicPr>
        <p:blipFill>
          <a:blip r:embed="rId2"/>
          <a:stretch>
            <a:fillRect/>
          </a:stretch>
        </p:blipFill>
        <p:spPr>
          <a:xfrm>
            <a:off x="7285939" y="1616659"/>
            <a:ext cx="332842" cy="332842"/>
          </a:xfrm>
          <a:prstGeom prst="rect">
            <a:avLst/>
          </a:prstGeom>
        </p:spPr>
      </p:pic>
      <p:sp>
        <p:nvSpPr>
          <p:cNvPr id="6" name="Texte IA 1"/>
          <p:cNvSpPr txBox="1"/>
          <p:nvPr/>
        </p:nvSpPr>
        <p:spPr>
          <a:xfrm>
            <a:off x="7909560" y="1463040"/>
            <a:ext cx="2194560" cy="685800"/>
          </a:xfrm>
          <a:prstGeom prst="rect">
            <a:avLst/>
          </a:prstGeom>
          <a:noFill/>
          <a:ln/>
        </p:spPr>
        <p:txBody>
          <a:bodyPr wrap="square" lIns="0" tIns="0" rIns="0" bIns="0" rtlCol="0" anchor="ctr"/>
          <a:lstStyle/>
          <a:p>
            <a:pPr indent="0" marL="0">
              <a:buNone/>
            </a:pPr>
            <a:r>
              <a:rPr lang="en-US" sz="1500" b="1" dirty="0">
                <a:solidFill>
                  <a:schemeClr val="tx2"/>
                </a:solidFill>
              </a:rPr>
              <a:t>Comprend la phrase du patient</a:t>
            </a:r>
            <a:endParaRPr lang="en-US" sz="1500" dirty="0"/>
          </a:p>
        </p:txBody>
      </p:sp>
      <p:sp>
        <p:nvSpPr>
          <p:cNvPr id="7" name="IA 2 cercle"/>
          <p:cNvSpPr/>
          <p:nvPr/>
        </p:nvSpPr>
        <p:spPr>
          <a:xfrm>
            <a:off x="7132320" y="2560320"/>
            <a:ext cx="640080" cy="640080"/>
          </a:xfrm>
          <a:prstGeom prst="ellipse">
            <a:avLst/>
          </a:prstGeom>
          <a:solidFill>
            <a:schemeClr val="accent2"/>
          </a:solidFill>
          <a:ln w="12700">
            <a:solidFill>
              <a:schemeClr val="accent2"/>
            </a:solidFill>
            <a:prstDash val="solid"/>
          </a:ln>
        </p:spPr>
      </p:sp>
      <p:pic>
        <p:nvPicPr>
          <p:cNvPr id="8" name="IA 2 icone" descr="preencoded.png">    </p:cNvPr>
          <p:cNvPicPr>
            <a:picLocks noChangeAspect="1"/>
          </p:cNvPicPr>
          <p:nvPr/>
        </p:nvPicPr>
        <p:blipFill>
          <a:blip r:embed="rId3"/>
          <a:stretch>
            <a:fillRect/>
          </a:stretch>
        </p:blipFill>
        <p:spPr>
          <a:xfrm>
            <a:off x="7285939" y="2713939"/>
            <a:ext cx="332842" cy="332842"/>
          </a:xfrm>
          <a:prstGeom prst="rect">
            <a:avLst/>
          </a:prstGeom>
        </p:spPr>
      </p:pic>
      <p:sp>
        <p:nvSpPr>
          <p:cNvPr id="9" name="Texte IA 2"/>
          <p:cNvSpPr txBox="1"/>
          <p:nvPr/>
        </p:nvSpPr>
        <p:spPr>
          <a:xfrm>
            <a:off x="7909560" y="2560320"/>
            <a:ext cx="2194560" cy="685800"/>
          </a:xfrm>
          <a:prstGeom prst="rect">
            <a:avLst/>
          </a:prstGeom>
          <a:noFill/>
          <a:ln/>
        </p:spPr>
        <p:txBody>
          <a:bodyPr wrap="square" lIns="0" tIns="0" rIns="0" bIns="0" rtlCol="0" anchor="ctr"/>
          <a:lstStyle/>
          <a:p>
            <a:pPr indent="0" marL="0">
              <a:buNone/>
            </a:pPr>
            <a:r>
              <a:rPr lang="en-US" sz="1500" b="1" dirty="0">
                <a:solidFill>
                  <a:schemeClr val="tx2"/>
                </a:solidFill>
              </a:rPr>
              <a:t>Propose les vrais créneaux libres</a:t>
            </a:r>
            <a:endParaRPr lang="en-US" sz="1500" dirty="0"/>
          </a:p>
        </p:txBody>
      </p:sp>
      <p:sp>
        <p:nvSpPr>
          <p:cNvPr id="10" name="IA 3 cercle"/>
          <p:cNvSpPr/>
          <p:nvPr/>
        </p:nvSpPr>
        <p:spPr>
          <a:xfrm>
            <a:off x="7132320" y="3657600"/>
            <a:ext cx="640080" cy="640080"/>
          </a:xfrm>
          <a:prstGeom prst="ellipse">
            <a:avLst/>
          </a:prstGeom>
          <a:solidFill>
            <a:schemeClr val="accent5"/>
          </a:solidFill>
          <a:ln w="12700">
            <a:solidFill>
              <a:schemeClr val="accent5"/>
            </a:solidFill>
            <a:prstDash val="solid"/>
          </a:ln>
        </p:spPr>
      </p:sp>
      <p:pic>
        <p:nvPicPr>
          <p:cNvPr id="11" name="IA 3 icone" descr="preencoded.png">    </p:cNvPr>
          <p:cNvPicPr>
            <a:picLocks noChangeAspect="1"/>
          </p:cNvPicPr>
          <p:nvPr/>
        </p:nvPicPr>
        <p:blipFill>
          <a:blip r:embed="rId4"/>
          <a:stretch>
            <a:fillRect/>
          </a:stretch>
        </p:blipFill>
        <p:spPr>
          <a:xfrm>
            <a:off x="7285939" y="3811219"/>
            <a:ext cx="332842" cy="332842"/>
          </a:xfrm>
          <a:prstGeom prst="rect">
            <a:avLst/>
          </a:prstGeom>
        </p:spPr>
      </p:pic>
      <p:sp>
        <p:nvSpPr>
          <p:cNvPr id="12" name="Texte IA 3"/>
          <p:cNvSpPr txBox="1"/>
          <p:nvPr/>
        </p:nvSpPr>
        <p:spPr>
          <a:xfrm>
            <a:off x="7909560" y="3657600"/>
            <a:ext cx="2194560" cy="685800"/>
          </a:xfrm>
          <a:prstGeom prst="rect">
            <a:avLst/>
          </a:prstGeom>
          <a:noFill/>
          <a:ln/>
        </p:spPr>
        <p:txBody>
          <a:bodyPr wrap="square" lIns="0" tIns="0" rIns="0" bIns="0" rtlCol="0" anchor="ctr"/>
          <a:lstStyle/>
          <a:p>
            <a:pPr indent="0" marL="0">
              <a:buNone/>
            </a:pPr>
            <a:r>
              <a:rPr lang="en-US" sz="1500" b="1" dirty="0">
                <a:solidFill>
                  <a:schemeClr val="tx2"/>
                </a:solidFill>
              </a:rPr>
              <a:t>Demande une confirmation</a:t>
            </a:r>
            <a:endParaRPr lang="en-US" sz="1500" dirty="0"/>
          </a:p>
        </p:txBody>
      </p:sp>
      <p:sp>
        <p:nvSpPr>
          <p:cNvPr id="13" name="IA 4 cercle"/>
          <p:cNvSpPr/>
          <p:nvPr/>
        </p:nvSpPr>
        <p:spPr>
          <a:xfrm>
            <a:off x="7132320" y="4754880"/>
            <a:ext cx="640080" cy="640080"/>
          </a:xfrm>
          <a:prstGeom prst="ellipse">
            <a:avLst/>
          </a:prstGeom>
          <a:solidFill>
            <a:schemeClr val="accent4"/>
          </a:solidFill>
          <a:ln w="12700">
            <a:solidFill>
              <a:schemeClr val="accent4"/>
            </a:solidFill>
            <a:prstDash val="solid"/>
          </a:ln>
        </p:spPr>
      </p:sp>
      <p:pic>
        <p:nvPicPr>
          <p:cNvPr id="14" name="IA 4 icone" descr="preencoded.png">    </p:cNvPr>
          <p:cNvPicPr>
            <a:picLocks noChangeAspect="1"/>
          </p:cNvPicPr>
          <p:nvPr/>
        </p:nvPicPr>
        <p:blipFill>
          <a:blip r:embed="rId5"/>
          <a:stretch>
            <a:fillRect/>
          </a:stretch>
        </p:blipFill>
        <p:spPr>
          <a:xfrm>
            <a:off x="7285939" y="4908499"/>
            <a:ext cx="332842" cy="332842"/>
          </a:xfrm>
          <a:prstGeom prst="rect">
            <a:avLst/>
          </a:prstGeom>
        </p:spPr>
      </p:pic>
      <p:sp>
        <p:nvSpPr>
          <p:cNvPr id="15" name="Texte IA 4"/>
          <p:cNvSpPr txBox="1"/>
          <p:nvPr/>
        </p:nvSpPr>
        <p:spPr>
          <a:xfrm>
            <a:off x="7909560" y="4754880"/>
            <a:ext cx="2194560" cy="685800"/>
          </a:xfrm>
          <a:prstGeom prst="rect">
            <a:avLst/>
          </a:prstGeom>
          <a:noFill/>
          <a:ln/>
        </p:spPr>
        <p:txBody>
          <a:bodyPr wrap="square" lIns="0" tIns="0" rIns="0" bIns="0" rtlCol="0" anchor="ctr"/>
          <a:lstStyle/>
          <a:p>
            <a:pPr indent="0" marL="0">
              <a:buNone/>
            </a:pPr>
            <a:r>
              <a:rPr lang="en-US" sz="1500" b="1" dirty="0">
                <a:solidFill>
                  <a:schemeClr val="tx2"/>
                </a:solidFill>
              </a:rPr>
              <a:t>Aucune donnée personnelle envoyée</a:t>
            </a:r>
            <a:endParaRPr lang="en-US" sz="15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9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26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62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8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98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216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234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252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600"/>
                                        <p:tgtEl>
                                          <p:spTgt spid="25"/>
                                        </p:tgtEl>
                                      </p:cBhvr>
                                    </p:animEffect>
                                    <p:anim calcmode="lin" valueType="num">
                                      <p:cBhvr>
                                        <p:cTn id="78" dur="600" fill="hold"/>
                                        <p:tgtEl>
                                          <p:spTgt spid="25"/>
                                        </p:tgtEl>
                                        <p:attrNameLst>
                                          <p:attrName>ppt_x</p:attrName>
                                        </p:attrNameLst>
                                      </p:cBhvr>
                                      <p:tavLst>
                                        <p:tav tm="0">
                                          <p:val>
                                            <p:strVal val="#ppt_x"/>
                                          </p:val>
                                        </p:tav>
                                        <p:tav tm="100000">
                                          <p:val>
                                            <p:strVal val="#ppt_x"/>
                                          </p:val>
                                        </p:tav>
                                      </p:tavLst>
                                    </p:anim>
                                    <p:anim calcmode="lin" valueType="num">
                                      <p:cBhvr>
                                        <p:cTn id="7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Liste d’attente, notifications et rappels</a:t>
            </a:r>
            <a:endParaRPr lang="en-US" sz="3200" dirty="0"/>
          </a:p>
        </p:txBody>
      </p:sp>
      <p:pic>
        <p:nvPicPr>
          <p:cNvPr id="3" name="Capture notifications" descr="Capture notifications">    </p:cNvPr>
          <p:cNvPicPr>
            <a:picLocks noChangeAspect="1"/>
          </p:cNvPicPr>
          <p:nvPr/>
        </p:nvPicPr>
        <p:blipFill>
          <a:blip r:embed="rId1"/>
          <a:stretch>
            <a:fillRect/>
          </a:stretch>
        </p:blipFill>
        <p:spPr>
          <a:xfrm>
            <a:off x="548640" y="1371600"/>
            <a:ext cx="5358809" cy="4480560"/>
          </a:xfrm>
          <a:prstGeom prst="rect">
            <a:avLst/>
          </a:prstGeom>
          <a:effectLst>
            <a:outerShdw sx="100000" sy="100000" kx="0" ky="0" algn="bl" rotWithShape="0" blurRad="101600" dist="38100" dir="5400000">
              <a:srgbClr val="7FA99C">
                <a:alpha val="40000"/>
              </a:srgbClr>
            </a:outerShdw>
          </a:effectLst>
        </p:spPr>
      </p:pic>
      <p:sp>
        <p:nvSpPr>
          <p:cNvPr id="4" name="Notif 1 cercle"/>
          <p:cNvSpPr/>
          <p:nvPr/>
        </p:nvSpPr>
        <p:spPr>
          <a:xfrm>
            <a:off x="7132320" y="1463040"/>
            <a:ext cx="685800" cy="685800"/>
          </a:xfrm>
          <a:prstGeom prst="ellipse">
            <a:avLst/>
          </a:prstGeom>
          <a:solidFill>
            <a:schemeClr val="accent1"/>
          </a:solidFill>
          <a:ln w="12700">
            <a:solidFill>
              <a:schemeClr val="accent1"/>
            </a:solidFill>
            <a:prstDash val="solid"/>
          </a:ln>
        </p:spPr>
      </p:sp>
      <p:pic>
        <p:nvPicPr>
          <p:cNvPr id="5" name="Notif 1 icone" descr="preencoded.png">    </p:cNvPr>
          <p:cNvPicPr>
            <a:picLocks noChangeAspect="1"/>
          </p:cNvPicPr>
          <p:nvPr/>
        </p:nvPicPr>
        <p:blipFill>
          <a:blip r:embed="rId2"/>
          <a:stretch>
            <a:fillRect/>
          </a:stretch>
        </p:blipFill>
        <p:spPr>
          <a:xfrm>
            <a:off x="7296912" y="1627632"/>
            <a:ext cx="356616" cy="356616"/>
          </a:xfrm>
          <a:prstGeom prst="rect">
            <a:avLst/>
          </a:prstGeom>
        </p:spPr>
      </p:pic>
      <p:sp>
        <p:nvSpPr>
          <p:cNvPr id="6" name="Texte notif 1"/>
          <p:cNvSpPr txBox="1"/>
          <p:nvPr/>
        </p:nvSpPr>
        <p:spPr>
          <a:xfrm>
            <a:off x="7955280" y="1417320"/>
            <a:ext cx="2194560" cy="1188720"/>
          </a:xfrm>
          <a:prstGeom prst="rect">
            <a:avLst/>
          </a:prstGeom>
          <a:noFill/>
          <a:ln/>
        </p:spPr>
        <p:txBody>
          <a:bodyPr wrap="square" lIns="0" tIns="0" rIns="0" bIns="0" rtlCol="0" anchor="t"/>
          <a:lstStyle/>
          <a:p>
            <a:pPr indent="0" marL="0">
              <a:buNone/>
            </a:pPr>
            <a:r>
              <a:rPr lang="en-US" sz="1700" b="1" dirty="0">
                <a:solidFill>
                  <a:schemeClr val="tx2"/>
                </a:solidFill>
              </a:rPr>
              <a:t>Liste d’attente</a:t>
            </a:r>
            <a:endParaRPr lang="en-US" sz="1600" dirty="0"/>
          </a:p>
          <a:p>
            <a:pPr indent="0" marL="0">
              <a:buNone/>
            </a:pPr>
            <a:r>
              <a:rPr lang="en-US" sz="1400" dirty="0">
                <a:solidFill>
                  <a:schemeClr val="tx1"/>
                </a:solidFill>
              </a:rPr>
              <a:t>Un créneau libéré est proposé au premier patient</a:t>
            </a:r>
            <a:endParaRPr lang="en-US" sz="1600" dirty="0"/>
          </a:p>
        </p:txBody>
      </p:sp>
      <p:sp>
        <p:nvSpPr>
          <p:cNvPr id="7" name="Notif 2 cercle"/>
          <p:cNvSpPr/>
          <p:nvPr/>
        </p:nvSpPr>
        <p:spPr>
          <a:xfrm>
            <a:off x="7132320" y="2926080"/>
            <a:ext cx="685800" cy="685800"/>
          </a:xfrm>
          <a:prstGeom prst="ellipse">
            <a:avLst/>
          </a:prstGeom>
          <a:solidFill>
            <a:schemeClr val="accent2"/>
          </a:solidFill>
          <a:ln w="12700">
            <a:solidFill>
              <a:schemeClr val="accent2"/>
            </a:solidFill>
            <a:prstDash val="solid"/>
          </a:ln>
        </p:spPr>
      </p:sp>
      <p:pic>
        <p:nvPicPr>
          <p:cNvPr id="8" name="Notif 2 icone" descr="preencoded.png">    </p:cNvPr>
          <p:cNvPicPr>
            <a:picLocks noChangeAspect="1"/>
          </p:cNvPicPr>
          <p:nvPr/>
        </p:nvPicPr>
        <p:blipFill>
          <a:blip r:embed="rId3"/>
          <a:stretch>
            <a:fillRect/>
          </a:stretch>
        </p:blipFill>
        <p:spPr>
          <a:xfrm>
            <a:off x="7296912" y="3090672"/>
            <a:ext cx="356616" cy="356616"/>
          </a:xfrm>
          <a:prstGeom prst="rect">
            <a:avLst/>
          </a:prstGeom>
        </p:spPr>
      </p:pic>
      <p:sp>
        <p:nvSpPr>
          <p:cNvPr id="9" name="Texte notif 2"/>
          <p:cNvSpPr txBox="1"/>
          <p:nvPr/>
        </p:nvSpPr>
        <p:spPr>
          <a:xfrm>
            <a:off x="7955280" y="2880360"/>
            <a:ext cx="2194560" cy="1188720"/>
          </a:xfrm>
          <a:prstGeom prst="rect">
            <a:avLst/>
          </a:prstGeom>
          <a:noFill/>
          <a:ln/>
        </p:spPr>
        <p:txBody>
          <a:bodyPr wrap="square" lIns="0" tIns="0" rIns="0" bIns="0" rtlCol="0" anchor="t"/>
          <a:lstStyle/>
          <a:p>
            <a:pPr indent="0" marL="0">
              <a:buNone/>
            </a:pPr>
            <a:r>
              <a:rPr lang="en-US" sz="1700" b="1" dirty="0">
                <a:solidFill>
                  <a:schemeClr val="tx2"/>
                </a:solidFill>
              </a:rPr>
              <a:t>Notifications</a:t>
            </a:r>
            <a:endParaRPr lang="en-US" sz="1600" dirty="0"/>
          </a:p>
          <a:p>
            <a:pPr indent="0" marL="0">
              <a:buNone/>
            </a:pPr>
            <a:r>
              <a:rPr lang="en-US" sz="1400" dirty="0">
                <a:solidFill>
                  <a:schemeClr val="tx1"/>
                </a:solidFill>
              </a:rPr>
              <a:t>Confirmation, annulation, déplacement</a:t>
            </a:r>
            <a:endParaRPr lang="en-US" sz="1600" dirty="0"/>
          </a:p>
        </p:txBody>
      </p:sp>
      <p:sp>
        <p:nvSpPr>
          <p:cNvPr id="10" name="Notif 3 cercle"/>
          <p:cNvSpPr/>
          <p:nvPr/>
        </p:nvSpPr>
        <p:spPr>
          <a:xfrm>
            <a:off x="7132320" y="4389120"/>
            <a:ext cx="685800" cy="685800"/>
          </a:xfrm>
          <a:prstGeom prst="ellipse">
            <a:avLst/>
          </a:prstGeom>
          <a:solidFill>
            <a:schemeClr val="accent4"/>
          </a:solidFill>
          <a:ln w="12700">
            <a:solidFill>
              <a:schemeClr val="accent4"/>
            </a:solidFill>
            <a:prstDash val="solid"/>
          </a:ln>
        </p:spPr>
      </p:sp>
      <p:pic>
        <p:nvPicPr>
          <p:cNvPr id="11" name="Notif 3 icone" descr="preencoded.png">    </p:cNvPr>
          <p:cNvPicPr>
            <a:picLocks noChangeAspect="1"/>
          </p:cNvPicPr>
          <p:nvPr/>
        </p:nvPicPr>
        <p:blipFill>
          <a:blip r:embed="rId4"/>
          <a:stretch>
            <a:fillRect/>
          </a:stretch>
        </p:blipFill>
        <p:spPr>
          <a:xfrm>
            <a:off x="7296912" y="4553712"/>
            <a:ext cx="356616" cy="356616"/>
          </a:xfrm>
          <a:prstGeom prst="rect">
            <a:avLst/>
          </a:prstGeom>
        </p:spPr>
      </p:pic>
      <p:sp>
        <p:nvSpPr>
          <p:cNvPr id="12" name="Texte notif 3"/>
          <p:cNvSpPr txBox="1"/>
          <p:nvPr/>
        </p:nvSpPr>
        <p:spPr>
          <a:xfrm>
            <a:off x="7955280" y="4343400"/>
            <a:ext cx="2194560" cy="1188720"/>
          </a:xfrm>
          <a:prstGeom prst="rect">
            <a:avLst/>
          </a:prstGeom>
          <a:noFill/>
          <a:ln/>
        </p:spPr>
        <p:txBody>
          <a:bodyPr wrap="square" lIns="0" tIns="0" rIns="0" bIns="0" rtlCol="0" anchor="t"/>
          <a:lstStyle/>
          <a:p>
            <a:pPr indent="0" marL="0">
              <a:buNone/>
            </a:pPr>
            <a:r>
              <a:rPr lang="en-US" sz="1700" b="1" dirty="0">
                <a:solidFill>
                  <a:schemeClr val="tx2"/>
                </a:solidFill>
              </a:rPr>
              <a:t>Rappels</a:t>
            </a:r>
            <a:endParaRPr lang="en-US" sz="1600" dirty="0"/>
          </a:p>
          <a:p>
            <a:pPr indent="0" marL="0">
              <a:buNone/>
            </a:pPr>
            <a:r>
              <a:rPr lang="en-US" sz="1400" dirty="0">
                <a:solidFill>
                  <a:schemeClr val="tx1"/>
                </a:solidFill>
              </a:rPr>
              <a:t>48 h et 24 h avant le rendez-vous</a:t>
            </a:r>
            <a:endParaRPr lang="en-US" sz="16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72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9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0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26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4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62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8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98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600"/>
                                        <p:tgtEl>
                                          <p:spTgt spid="25"/>
                                        </p:tgtEl>
                                      </p:cBhvr>
                                    </p:animEffect>
                                    <p:anim calcmode="lin" valueType="num">
                                      <p:cBhvr>
                                        <p:cTn id="63" dur="600" fill="hold"/>
                                        <p:tgtEl>
                                          <p:spTgt spid="25"/>
                                        </p:tgtEl>
                                        <p:attrNameLst>
                                          <p:attrName>ppt_x</p:attrName>
                                        </p:attrNameLst>
                                      </p:cBhvr>
                                      <p:tavLst>
                                        <p:tav tm="0">
                                          <p:val>
                                            <p:strVal val="#ppt_x"/>
                                          </p:val>
                                        </p:tav>
                                        <p:tav tm="100000">
                                          <p:val>
                                            <p:strVal val="#ppt_x"/>
                                          </p:val>
                                        </p:tav>
                                      </p:tavLst>
                                    </p:anim>
                                    <p:anim calcmode="lin" valueType="num">
                                      <p:cBhvr>
                                        <p:cTn id="64"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7863840" cy="1280160"/>
          </a:xfrm>
          <a:prstGeom prst="rect">
            <a:avLst/>
          </a:prstGeom>
          <a:noFill/>
          <a:ln/>
        </p:spPr>
        <p:txBody>
          <a:bodyPr wrap="square" lIns="0" tIns="0" rIns="0" bIns="0" rtlCol="0" anchor="ctr"/>
          <a:lstStyle/>
          <a:p>
            <a:pPr algn="l" indent="0" marL="0">
              <a:buNone/>
            </a:pPr>
            <a:r>
              <a:rPr lang="en-US" sz="4400" b="1" dirty="0">
                <a:solidFill>
                  <a:schemeClr val="tx2"/>
                </a:solidFill>
              </a:rPr>
              <a:t>Démonstration</a:t>
            </a:r>
            <a:endParaRPr lang="en-US" sz="4400" dirty="0"/>
          </a:p>
        </p:txBody>
      </p:sp>
      <p:sp>
        <p:nvSpPr>
          <p:cNvPr id="3" name="Demo cercle"/>
          <p:cNvSpPr/>
          <p:nvPr/>
        </p:nvSpPr>
        <p:spPr>
          <a:xfrm>
            <a:off x="822960" y="3794760"/>
            <a:ext cx="914400" cy="914400"/>
          </a:xfrm>
          <a:prstGeom prst="ellipse">
            <a:avLst/>
          </a:prstGeom>
          <a:solidFill>
            <a:schemeClr val="accent1"/>
          </a:solidFill>
          <a:ln w="12700">
            <a:solidFill>
              <a:schemeClr val="accent1"/>
            </a:solidFill>
            <a:prstDash val="solid"/>
          </a:ln>
        </p:spPr>
      </p:sp>
      <p:pic>
        <p:nvPicPr>
          <p:cNvPr id="4" name="Demo icone" descr="preencoded.png">    </p:cNvPr>
          <p:cNvPicPr>
            <a:picLocks noChangeAspect="1"/>
          </p:cNvPicPr>
          <p:nvPr/>
        </p:nvPicPr>
        <p:blipFill>
          <a:blip r:embed="rId1"/>
          <a:stretch>
            <a:fillRect/>
          </a:stretch>
        </p:blipFill>
        <p:spPr>
          <a:xfrm>
            <a:off x="1042416" y="4014216"/>
            <a:ext cx="475488" cy="475488"/>
          </a:xfrm>
          <a:prstGeom prst="rect">
            <a:avLst/>
          </a:prstGeom>
        </p:spPr>
      </p:pic>
      <p:sp>
        <p:nvSpPr>
          <p:cNvPr id="5" name="Sous-titre demo"/>
          <p:cNvSpPr txBox="1"/>
          <p:nvPr/>
        </p:nvSpPr>
        <p:spPr>
          <a:xfrm>
            <a:off x="1920240" y="3886200"/>
            <a:ext cx="6400800" cy="731520"/>
          </a:xfrm>
          <a:prstGeom prst="rect">
            <a:avLst/>
          </a:prstGeom>
          <a:noFill/>
          <a:ln/>
        </p:spPr>
        <p:txBody>
          <a:bodyPr wrap="square" lIns="0" tIns="0" rIns="0" bIns="0" rtlCol="0" anchor="ctr"/>
          <a:lstStyle/>
          <a:p>
            <a:pPr indent="0" marL="0">
              <a:buNone/>
            </a:pPr>
            <a:r>
              <a:rPr lang="en-US" sz="2200" i="1" dirty="0">
                <a:solidFill>
                  <a:schemeClr val="accent2"/>
                </a:solidFill>
              </a:rPr>
              <a:t>Place à l’application en direct</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7863840" cy="1280160"/>
          </a:xfrm>
          <a:prstGeom prst="rect">
            <a:avLst/>
          </a:prstGeom>
          <a:noFill/>
          <a:ln/>
        </p:spPr>
        <p:txBody>
          <a:bodyPr wrap="square" lIns="0" tIns="0" rIns="0" bIns="0" rtlCol="0" anchor="ctr"/>
          <a:lstStyle/>
          <a:p>
            <a:pPr algn="l" indent="0" marL="0">
              <a:buNone/>
            </a:pPr>
            <a:r>
              <a:rPr lang="en-US" sz="4400" b="1" dirty="0">
                <a:solidFill>
                  <a:schemeClr val="tx2"/>
                </a:solidFill>
              </a:rPr>
              <a:t>Conclusion et perspectives</a:t>
            </a:r>
            <a:endParaRPr lang="en-US" sz="4400" dirty="0"/>
          </a:p>
        </p:txBody>
      </p:sp>
      <p:sp>
        <p:nvSpPr>
          <p:cNvPr id="3" name="Numero partie"/>
          <p:cNvSpPr txBox="1"/>
          <p:nvPr/>
        </p:nvSpPr>
        <p:spPr>
          <a:xfrm>
            <a:off x="822960" y="2240280"/>
            <a:ext cx="3657600" cy="411480"/>
          </a:xfrm>
          <a:prstGeom prst="rect">
            <a:avLst/>
          </a:prstGeom>
          <a:noFill/>
          <a:ln/>
        </p:spPr>
        <p:txBody>
          <a:bodyPr wrap="square" lIns="0" tIns="0" rIns="0" bIns="0" rtlCol="0" anchor="t"/>
          <a:lstStyle/>
          <a:p>
            <a:pPr indent="0" marL="0">
              <a:buNone/>
            </a:pPr>
            <a:r>
              <a:rPr lang="en-US" sz="2000" b="1" dirty="0">
                <a:solidFill>
                  <a:schemeClr val="accent2"/>
                </a:solidFill>
              </a:rPr>
              <a:t>Partie 04</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algn="l" indent="0" marL="0">
              <a:buNone/>
            </a:pPr>
            <a:r>
              <a:rPr lang="en-US" sz="3200" b="1" dirty="0">
                <a:solidFill>
                  <a:schemeClr val="tx2"/>
                </a:solidFill>
              </a:rPr>
              <a:t>Conclusion et perspectives</a:t>
            </a:r>
            <a:endParaRPr lang="en-US" sz="3200" dirty="0"/>
          </a:p>
        </p:txBody>
      </p:sp>
      <p:sp>
        <p:nvSpPr>
          <p:cNvPr id="3" name="Apport 1 cercle"/>
          <p:cNvSpPr/>
          <p:nvPr/>
        </p:nvSpPr>
        <p:spPr>
          <a:xfrm>
            <a:off x="548640" y="1417320"/>
            <a:ext cx="731520" cy="731520"/>
          </a:xfrm>
          <a:prstGeom prst="ellipse">
            <a:avLst/>
          </a:prstGeom>
          <a:solidFill>
            <a:schemeClr val="accent1"/>
          </a:solidFill>
          <a:ln w="12700">
            <a:solidFill>
              <a:schemeClr val="accent1"/>
            </a:solidFill>
            <a:prstDash val="solid"/>
          </a:ln>
        </p:spPr>
      </p:sp>
      <p:pic>
        <p:nvPicPr>
          <p:cNvPr id="4" name="Apport 1 icone" descr="preencoded.png">    </p:cNvPr>
          <p:cNvPicPr>
            <a:picLocks noChangeAspect="1"/>
          </p:cNvPicPr>
          <p:nvPr/>
        </p:nvPicPr>
        <p:blipFill>
          <a:blip r:embed="rId1"/>
          <a:stretch>
            <a:fillRect/>
          </a:stretch>
        </p:blipFill>
        <p:spPr>
          <a:xfrm>
            <a:off x="724205" y="1592885"/>
            <a:ext cx="380390" cy="380390"/>
          </a:xfrm>
          <a:prstGeom prst="rect">
            <a:avLst/>
          </a:prstGeom>
        </p:spPr>
      </p:pic>
      <p:sp>
        <p:nvSpPr>
          <p:cNvPr id="5" name="Texte apport 1"/>
          <p:cNvSpPr txBox="1"/>
          <p:nvPr/>
        </p:nvSpPr>
        <p:spPr>
          <a:xfrm>
            <a:off x="1463040" y="1399032"/>
            <a:ext cx="3840480" cy="868680"/>
          </a:xfrm>
          <a:prstGeom prst="rect">
            <a:avLst/>
          </a:prstGeom>
          <a:noFill/>
          <a:ln/>
        </p:spPr>
        <p:txBody>
          <a:bodyPr wrap="square" lIns="0" tIns="0" rIns="0" bIns="0" rtlCol="0" anchor="t"/>
          <a:lstStyle/>
          <a:p>
            <a:pPr indent="0" marL="0">
              <a:buNone/>
            </a:pPr>
            <a:r>
              <a:rPr lang="en-US" sz="1800" b="1" dirty="0">
                <a:solidFill>
                  <a:schemeClr val="tx2"/>
                </a:solidFill>
              </a:rPr>
              <a:t>Fiabilité</a:t>
            </a:r>
            <a:endParaRPr lang="en-US" sz="1600" dirty="0"/>
          </a:p>
          <a:p>
            <a:pPr indent="0" marL="0">
              <a:buNone/>
            </a:pPr>
            <a:r>
              <a:rPr lang="en-US" sz="1500" dirty="0">
                <a:solidFill>
                  <a:schemeClr val="tx1"/>
                </a:solidFill>
              </a:rPr>
              <a:t>Plus de doubles réservations</a:t>
            </a:r>
            <a:endParaRPr lang="en-US" sz="1600" dirty="0"/>
          </a:p>
        </p:txBody>
      </p:sp>
      <p:sp>
        <p:nvSpPr>
          <p:cNvPr id="6" name="Apport 2 cercle"/>
          <p:cNvSpPr/>
          <p:nvPr/>
        </p:nvSpPr>
        <p:spPr>
          <a:xfrm>
            <a:off x="548640" y="2560320"/>
            <a:ext cx="731520" cy="731520"/>
          </a:xfrm>
          <a:prstGeom prst="ellipse">
            <a:avLst/>
          </a:prstGeom>
          <a:solidFill>
            <a:schemeClr val="accent2"/>
          </a:solidFill>
          <a:ln w="12700">
            <a:solidFill>
              <a:schemeClr val="accent2"/>
            </a:solidFill>
            <a:prstDash val="solid"/>
          </a:ln>
        </p:spPr>
      </p:sp>
      <p:pic>
        <p:nvPicPr>
          <p:cNvPr id="7" name="Apport 2 icone" descr="preencoded.png">    </p:cNvPr>
          <p:cNvPicPr>
            <a:picLocks noChangeAspect="1"/>
          </p:cNvPicPr>
          <p:nvPr/>
        </p:nvPicPr>
        <p:blipFill>
          <a:blip r:embed="rId2"/>
          <a:stretch>
            <a:fillRect/>
          </a:stretch>
        </p:blipFill>
        <p:spPr>
          <a:xfrm>
            <a:off x="724205" y="2735885"/>
            <a:ext cx="380390" cy="380390"/>
          </a:xfrm>
          <a:prstGeom prst="rect">
            <a:avLst/>
          </a:prstGeom>
        </p:spPr>
      </p:pic>
      <p:sp>
        <p:nvSpPr>
          <p:cNvPr id="8" name="Texte apport 2"/>
          <p:cNvSpPr txBox="1"/>
          <p:nvPr/>
        </p:nvSpPr>
        <p:spPr>
          <a:xfrm>
            <a:off x="1463040" y="2542032"/>
            <a:ext cx="3840480" cy="868680"/>
          </a:xfrm>
          <a:prstGeom prst="rect">
            <a:avLst/>
          </a:prstGeom>
          <a:noFill/>
          <a:ln/>
        </p:spPr>
        <p:txBody>
          <a:bodyPr wrap="square" lIns="0" tIns="0" rIns="0" bIns="0" rtlCol="0" anchor="t"/>
          <a:lstStyle/>
          <a:p>
            <a:pPr indent="0" marL="0">
              <a:buNone/>
            </a:pPr>
            <a:r>
              <a:rPr lang="en-US" sz="1800" b="1" dirty="0">
                <a:solidFill>
                  <a:schemeClr val="tx2"/>
                </a:solidFill>
              </a:rPr>
              <a:t>Simplicité</a:t>
            </a:r>
            <a:endParaRPr lang="en-US" sz="1600" dirty="0"/>
          </a:p>
          <a:p>
            <a:pPr indent="0" marL="0">
              <a:buNone/>
            </a:pPr>
            <a:r>
              <a:rPr lang="en-US" sz="1500" dirty="0">
                <a:solidFill>
                  <a:schemeClr val="tx1"/>
                </a:solidFill>
              </a:rPr>
              <a:t>Un assistant qui comprend le langage courant</a:t>
            </a:r>
            <a:endParaRPr lang="en-US" sz="1600" dirty="0"/>
          </a:p>
        </p:txBody>
      </p:sp>
      <p:sp>
        <p:nvSpPr>
          <p:cNvPr id="9" name="Apport 3 cercle"/>
          <p:cNvSpPr/>
          <p:nvPr/>
        </p:nvSpPr>
        <p:spPr>
          <a:xfrm>
            <a:off x="548640" y="3703320"/>
            <a:ext cx="731520" cy="731520"/>
          </a:xfrm>
          <a:prstGeom prst="ellipse">
            <a:avLst/>
          </a:prstGeom>
          <a:solidFill>
            <a:schemeClr val="accent5"/>
          </a:solidFill>
          <a:ln w="12700">
            <a:solidFill>
              <a:schemeClr val="accent5"/>
            </a:solidFill>
            <a:prstDash val="solid"/>
          </a:ln>
        </p:spPr>
      </p:sp>
      <p:pic>
        <p:nvPicPr>
          <p:cNvPr id="10" name="Apport 3 icone" descr="preencoded.png">    </p:cNvPr>
          <p:cNvPicPr>
            <a:picLocks noChangeAspect="1"/>
          </p:cNvPicPr>
          <p:nvPr/>
        </p:nvPicPr>
        <p:blipFill>
          <a:blip r:embed="rId3"/>
          <a:stretch>
            <a:fillRect/>
          </a:stretch>
        </p:blipFill>
        <p:spPr>
          <a:xfrm>
            <a:off x="724205" y="3878885"/>
            <a:ext cx="380390" cy="380390"/>
          </a:xfrm>
          <a:prstGeom prst="rect">
            <a:avLst/>
          </a:prstGeom>
        </p:spPr>
      </p:pic>
      <p:sp>
        <p:nvSpPr>
          <p:cNvPr id="11" name="Texte apport 3"/>
          <p:cNvSpPr txBox="1"/>
          <p:nvPr/>
        </p:nvSpPr>
        <p:spPr>
          <a:xfrm>
            <a:off x="1463040" y="3685032"/>
            <a:ext cx="3840480" cy="868680"/>
          </a:xfrm>
          <a:prstGeom prst="rect">
            <a:avLst/>
          </a:prstGeom>
          <a:noFill/>
          <a:ln/>
        </p:spPr>
        <p:txBody>
          <a:bodyPr wrap="square" lIns="0" tIns="0" rIns="0" bIns="0" rtlCol="0" anchor="t"/>
          <a:lstStyle/>
          <a:p>
            <a:pPr indent="0" marL="0">
              <a:buNone/>
            </a:pPr>
            <a:r>
              <a:rPr lang="en-US" sz="1800" b="1" dirty="0">
                <a:solidFill>
                  <a:schemeClr val="tx2"/>
                </a:solidFill>
              </a:rPr>
              <a:t>Efficacité</a:t>
            </a:r>
            <a:endParaRPr lang="en-US" sz="1600" dirty="0"/>
          </a:p>
          <a:p>
            <a:pPr indent="0" marL="0">
              <a:buNone/>
            </a:pPr>
            <a:r>
              <a:rPr lang="en-US" sz="1500" dirty="0">
                <a:solidFill>
                  <a:schemeClr val="tx1"/>
                </a:solidFill>
              </a:rPr>
              <a:t>Liste d’attente et rappels automatiques</a:t>
            </a:r>
            <a:endParaRPr lang="en-US" sz="1600" dirty="0"/>
          </a:p>
        </p:txBody>
      </p:sp>
      <p:sp>
        <p:nvSpPr>
          <p:cNvPr id="12" name="Apport 4 cercle"/>
          <p:cNvSpPr/>
          <p:nvPr/>
        </p:nvSpPr>
        <p:spPr>
          <a:xfrm>
            <a:off x="548640" y="4846320"/>
            <a:ext cx="731520" cy="731520"/>
          </a:xfrm>
          <a:prstGeom prst="ellipse">
            <a:avLst/>
          </a:prstGeom>
          <a:solidFill>
            <a:schemeClr val="accent4"/>
          </a:solidFill>
          <a:ln w="12700">
            <a:solidFill>
              <a:schemeClr val="accent4"/>
            </a:solidFill>
            <a:prstDash val="solid"/>
          </a:ln>
        </p:spPr>
      </p:sp>
      <p:pic>
        <p:nvPicPr>
          <p:cNvPr id="13" name="Apport 4 icone" descr="preencoded.png">    </p:cNvPr>
          <p:cNvPicPr>
            <a:picLocks noChangeAspect="1"/>
          </p:cNvPicPr>
          <p:nvPr/>
        </p:nvPicPr>
        <p:blipFill>
          <a:blip r:embed="rId4"/>
          <a:stretch>
            <a:fillRect/>
          </a:stretch>
        </p:blipFill>
        <p:spPr>
          <a:xfrm>
            <a:off x="724205" y="5021885"/>
            <a:ext cx="380390" cy="380390"/>
          </a:xfrm>
          <a:prstGeom prst="rect">
            <a:avLst/>
          </a:prstGeom>
        </p:spPr>
      </p:pic>
      <p:sp>
        <p:nvSpPr>
          <p:cNvPr id="14" name="Texte apport 4"/>
          <p:cNvSpPr txBox="1"/>
          <p:nvPr/>
        </p:nvSpPr>
        <p:spPr>
          <a:xfrm>
            <a:off x="1463040" y="4828032"/>
            <a:ext cx="3840480" cy="868680"/>
          </a:xfrm>
          <a:prstGeom prst="rect">
            <a:avLst/>
          </a:prstGeom>
          <a:noFill/>
          <a:ln/>
        </p:spPr>
        <p:txBody>
          <a:bodyPr wrap="square" lIns="0" tIns="0" rIns="0" bIns="0" rtlCol="0" anchor="t"/>
          <a:lstStyle/>
          <a:p>
            <a:pPr indent="0" marL="0">
              <a:buNone/>
            </a:pPr>
            <a:r>
              <a:rPr lang="en-US" sz="1800" b="1" dirty="0">
                <a:solidFill>
                  <a:schemeClr val="tx2"/>
                </a:solidFill>
              </a:rPr>
              <a:t>Visibilité</a:t>
            </a:r>
            <a:endParaRPr lang="en-US" sz="1600" dirty="0"/>
          </a:p>
          <a:p>
            <a:pPr indent="0" marL="0">
              <a:buNone/>
            </a:pPr>
            <a:r>
              <a:rPr lang="en-US" sz="1500" dirty="0">
                <a:solidFill>
                  <a:schemeClr val="tx1"/>
                </a:solidFill>
              </a:rPr>
              <a:t>Un tableau de bord clair</a:t>
            </a:r>
            <a:endParaRPr lang="en-US" sz="1600" dirty="0"/>
          </a:p>
        </p:txBody>
      </p:sp>
      <p:sp>
        <p:nvSpPr>
          <p:cNvPr id="15" name="Carte perspectives"/>
          <p:cNvSpPr/>
          <p:nvPr/>
        </p:nvSpPr>
        <p:spPr>
          <a:xfrm>
            <a:off x="5669280" y="1417320"/>
            <a:ext cx="4389120" cy="4343400"/>
          </a:xfrm>
          <a:prstGeom prst="roundRect">
            <a:avLst>
              <a:gd name="adj" fmla="val 2526"/>
            </a:avLst>
          </a:prstGeom>
          <a:solidFill>
            <a:schemeClr val="accent1"/>
          </a:solidFill>
          <a:ln w="12700">
            <a:solidFill>
              <a:schemeClr val="accent1"/>
            </a:solidFill>
            <a:prstDash val="solid"/>
          </a:ln>
          <a:effectLst>
            <a:outerShdw sx="100000" sy="100000" kx="0" ky="0" algn="bl" rotWithShape="0" blurRad="76200" dist="25400" dir="5400000">
              <a:srgbClr val="9CC9BB">
                <a:alpha val="35000"/>
              </a:srgbClr>
            </a:outerShdw>
          </a:effectLst>
        </p:spPr>
      </p:sp>
      <p:sp>
        <p:nvSpPr>
          <p:cNvPr id="16" name="Perspectives cercle"/>
          <p:cNvSpPr/>
          <p:nvPr/>
        </p:nvSpPr>
        <p:spPr>
          <a:xfrm>
            <a:off x="5943600" y="1645920"/>
            <a:ext cx="731520" cy="731520"/>
          </a:xfrm>
          <a:prstGeom prst="ellipse">
            <a:avLst/>
          </a:prstGeom>
          <a:solidFill>
            <a:schemeClr val="accent2"/>
          </a:solidFill>
          <a:ln w="12700">
            <a:solidFill>
              <a:schemeClr val="accent2"/>
            </a:solidFill>
            <a:prstDash val="solid"/>
          </a:ln>
        </p:spPr>
      </p:sp>
      <p:pic>
        <p:nvPicPr>
          <p:cNvPr id="17" name="Perspectives icone" descr="preencoded.png">    </p:cNvPr>
          <p:cNvPicPr>
            <a:picLocks noChangeAspect="1"/>
          </p:cNvPicPr>
          <p:nvPr/>
        </p:nvPicPr>
        <p:blipFill>
          <a:blip r:embed="rId5"/>
          <a:stretch>
            <a:fillRect/>
          </a:stretch>
        </p:blipFill>
        <p:spPr>
          <a:xfrm>
            <a:off x="6119165" y="1821485"/>
            <a:ext cx="380390" cy="380390"/>
          </a:xfrm>
          <a:prstGeom prst="rect">
            <a:avLst/>
          </a:prstGeom>
        </p:spPr>
      </p:pic>
      <p:sp>
        <p:nvSpPr>
          <p:cNvPr id="18" name="Titre perspectives"/>
          <p:cNvSpPr txBox="1"/>
          <p:nvPr/>
        </p:nvSpPr>
        <p:spPr>
          <a:xfrm>
            <a:off x="6858000" y="1691640"/>
            <a:ext cx="3017520" cy="640080"/>
          </a:xfrm>
          <a:prstGeom prst="rect">
            <a:avLst/>
          </a:prstGeom>
          <a:noFill/>
          <a:ln/>
        </p:spPr>
        <p:txBody>
          <a:bodyPr wrap="square" lIns="0" tIns="0" rIns="0" bIns="0" rtlCol="0" anchor="ctr"/>
          <a:lstStyle/>
          <a:p>
            <a:pPr indent="0" marL="0">
              <a:buNone/>
            </a:pPr>
            <a:r>
              <a:rPr lang="en-US" sz="2200" b="1" dirty="0">
                <a:solidFill>
                  <a:schemeClr val="bg1"/>
                </a:solidFill>
              </a:rPr>
              <a:t>Perspectives</a:t>
            </a:r>
            <a:endParaRPr lang="en-US" sz="2200" dirty="0"/>
          </a:p>
        </p:txBody>
      </p:sp>
      <p:sp>
        <p:nvSpPr>
          <p:cNvPr id="19" name="Liste perspectives"/>
          <p:cNvSpPr txBox="1"/>
          <p:nvPr/>
        </p:nvSpPr>
        <p:spPr>
          <a:xfrm>
            <a:off x="6035040" y="2606040"/>
            <a:ext cx="3840480" cy="292608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bg1"/>
                </a:solidFill>
              </a:rPr>
              <a:t>Rappels par SMS et e-mail</a:t>
            </a:r>
            <a:endParaRPr lang="en-US" sz="1700" dirty="0"/>
          </a:p>
          <a:p>
            <a:pPr marL="228600" indent="-228600">
              <a:spcAft>
                <a:spcPts val="1000"/>
              </a:spcAft>
              <a:buSzPct val="100000"/>
              <a:buChar char="•"/>
            </a:pPr>
            <a:r>
              <a:rPr lang="en-US" sz="1700" dirty="0">
                <a:solidFill>
                  <a:schemeClr val="bg1"/>
                </a:solidFill>
              </a:rPr>
              <a:t>Application mobile</a:t>
            </a:r>
            <a:endParaRPr lang="en-US" sz="1700" dirty="0"/>
          </a:p>
          <a:p>
            <a:pPr marL="228600" indent="-228600">
              <a:spcAft>
                <a:spcPts val="1000"/>
              </a:spcAft>
              <a:buSzPct val="100000"/>
              <a:buChar char="•"/>
            </a:pPr>
            <a:r>
              <a:rPr lang="en-US" sz="1700" dirty="0">
                <a:solidFill>
                  <a:schemeClr val="bg1"/>
                </a:solidFill>
              </a:rPr>
              <a:t>Espace dédié aux médecins</a:t>
            </a:r>
            <a:endParaRPr lang="en-US" sz="1700" dirty="0"/>
          </a:p>
          <a:p>
            <a:pPr marL="228600" indent="-228600">
              <a:spcAft>
                <a:spcPts val="1000"/>
              </a:spcAft>
              <a:buSzPct val="100000"/>
              <a:buChar char="•"/>
            </a:pPr>
            <a:r>
              <a:rPr lang="en-US" sz="1700" dirty="0">
                <a:solidFill>
                  <a:schemeClr val="bg1"/>
                </a:solidFill>
              </a:rPr>
              <a:t>Téléconsultation</a:t>
            </a:r>
            <a:endParaRPr lang="en-US" sz="1700" dirty="0"/>
          </a:p>
          <a:p>
            <a:pPr marL="228600" indent="-228600">
              <a:spcAft>
                <a:spcPts val="1000"/>
              </a:spcAft>
              <a:buSzPct val="100000"/>
              <a:buChar char="•"/>
            </a:pPr>
            <a:r>
              <a:rPr lang="en-US" sz="1700" dirty="0">
                <a:solidFill>
                  <a:schemeClr val="bg1"/>
                </a:solidFill>
              </a:rPr>
              <a:t>Assistant en malagasy</a:t>
            </a:r>
            <a:endParaRPr lang="en-US" sz="1700" dirty="0"/>
          </a:p>
        </p:txBody>
      </p:sp>
      <p:sp>
        <p:nvSpPr>
          <p:cNvPr id="25" name="Slide Number Placeholder 0"/>
          <p:cNvSpPr>
            <a:spLocks noGrp="1"/>
          </p:cNvSpPr>
          <p:nvPr>
            <p:ph type="sldNum" sz="quarter" idx="4294967295"/>
          </p:nvPr>
        </p:nvSpPr>
        <p:spPr>
          <a:xfrm>
            <a:off x="112928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ctr"/>
            <a:fld id="{F7021451-1387-4CA6-816F-3879F97B5CBC}" type="slidenum">
              <a:rPr b="0" lang="en-US"/>
              <a:t>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57"/>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14"/>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471"/>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628"/>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p:cTn id="28" dur="600" fill="hold"/>
                                        <p:tgtEl>
                                          <p:spTgt spid="6"/>
                                        </p:tgtEl>
                                        <p:attrNameLst>
                                          <p:attrName>ppt_x</p:attrName>
                                        </p:attrNameLst>
                                      </p:cBhvr>
                                      <p:tavLst>
                                        <p:tav tm="0">
                                          <p:val>
                                            <p:strVal val="#ppt_x"/>
                                          </p:val>
                                        </p:tav>
                                        <p:tav tm="100000">
                                          <p:val>
                                            <p:strVal val="#ppt_x"/>
                                          </p:val>
                                        </p:tav>
                                      </p:tavLst>
                                    </p:anim>
                                    <p:anim calcmode="lin" valueType="num">
                                      <p:cBhvr>
                                        <p:cTn id="29" dur="6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785"/>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600"/>
                                        <p:tgtEl>
                                          <p:spTgt spid="7"/>
                                        </p:tgtEl>
                                      </p:cBhvr>
                                    </p:animEffect>
                                    <p:anim calcmode="lin" valueType="num">
                                      <p:cBhvr>
                                        <p:cTn id="33" dur="600" fill="hold"/>
                                        <p:tgtEl>
                                          <p:spTgt spid="7"/>
                                        </p:tgtEl>
                                        <p:attrNameLst>
                                          <p:attrName>ppt_x</p:attrName>
                                        </p:attrNameLst>
                                      </p:cBhvr>
                                      <p:tavLst>
                                        <p:tav tm="0">
                                          <p:val>
                                            <p:strVal val="#ppt_x"/>
                                          </p:val>
                                        </p:tav>
                                        <p:tav tm="100000">
                                          <p:val>
                                            <p:strVal val="#ppt_x"/>
                                          </p:val>
                                        </p:tav>
                                      </p:tavLst>
                                    </p:anim>
                                    <p:anim calcmode="lin" valueType="num">
                                      <p:cBhvr>
                                        <p:cTn id="34" dur="6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942"/>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6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099"/>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600"/>
                                        <p:tgtEl>
                                          <p:spTgt spid="9"/>
                                        </p:tgtEl>
                                      </p:cBhvr>
                                    </p:animEffect>
                                    <p:anim calcmode="lin" valueType="num">
                                      <p:cBhvr>
                                        <p:cTn id="43" dur="600" fill="hold"/>
                                        <p:tgtEl>
                                          <p:spTgt spid="9"/>
                                        </p:tgtEl>
                                        <p:attrNameLst>
                                          <p:attrName>ppt_x</p:attrName>
                                        </p:attrNameLst>
                                      </p:cBhvr>
                                      <p:tavLst>
                                        <p:tav tm="0">
                                          <p:val>
                                            <p:strVal val="#ppt_x"/>
                                          </p:val>
                                        </p:tav>
                                        <p:tav tm="100000">
                                          <p:val>
                                            <p:strVal val="#ppt_x"/>
                                          </p:val>
                                        </p:tav>
                                      </p:tavLst>
                                    </p:anim>
                                    <p:anim calcmode="lin" valueType="num">
                                      <p:cBhvr>
                                        <p:cTn id="44" dur="6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256"/>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600"/>
                                        <p:tgtEl>
                                          <p:spTgt spid="10"/>
                                        </p:tgtEl>
                                      </p:cBhvr>
                                    </p:animEffect>
                                    <p:anim calcmode="lin" valueType="num">
                                      <p:cBhvr>
                                        <p:cTn id="48" dur="600" fill="hold"/>
                                        <p:tgtEl>
                                          <p:spTgt spid="10"/>
                                        </p:tgtEl>
                                        <p:attrNameLst>
                                          <p:attrName>ppt_x</p:attrName>
                                        </p:attrNameLst>
                                      </p:cBhvr>
                                      <p:tavLst>
                                        <p:tav tm="0">
                                          <p:val>
                                            <p:strVal val="#ppt_x"/>
                                          </p:val>
                                        </p:tav>
                                        <p:tav tm="100000">
                                          <p:val>
                                            <p:strVal val="#ppt_x"/>
                                          </p:val>
                                        </p:tav>
                                      </p:tavLst>
                                    </p:anim>
                                    <p:anim calcmode="lin" valueType="num">
                                      <p:cBhvr>
                                        <p:cTn id="49" dur="6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1413"/>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6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157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6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1727"/>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6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1884"/>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600"/>
                                        <p:tgtEl>
                                          <p:spTgt spid="14"/>
                                        </p:tgtEl>
                                      </p:cBhvr>
                                    </p:animEffect>
                                    <p:anim calcmode="lin" valueType="num">
                                      <p:cBhvr>
                                        <p:cTn id="68" dur="600" fill="hold"/>
                                        <p:tgtEl>
                                          <p:spTgt spid="14"/>
                                        </p:tgtEl>
                                        <p:attrNameLst>
                                          <p:attrName>ppt_x</p:attrName>
                                        </p:attrNameLst>
                                      </p:cBhvr>
                                      <p:tavLst>
                                        <p:tav tm="0">
                                          <p:val>
                                            <p:strVal val="#ppt_x"/>
                                          </p:val>
                                        </p:tav>
                                        <p:tav tm="100000">
                                          <p:val>
                                            <p:strVal val="#ppt_x"/>
                                          </p:val>
                                        </p:tav>
                                      </p:tavLst>
                                    </p:anim>
                                    <p:anim calcmode="lin" valueType="num">
                                      <p:cBhvr>
                                        <p:cTn id="69" dur="6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2041"/>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p:cTn id="73" dur="600" fill="hold"/>
                                        <p:tgtEl>
                                          <p:spTgt spid="15"/>
                                        </p:tgtEl>
                                        <p:attrNameLst>
                                          <p:attrName>ppt_x</p:attrName>
                                        </p:attrNameLst>
                                      </p:cBhvr>
                                      <p:tavLst>
                                        <p:tav tm="0">
                                          <p:val>
                                            <p:strVal val="#ppt_x"/>
                                          </p:val>
                                        </p:tav>
                                        <p:tav tm="100000">
                                          <p:val>
                                            <p:strVal val="#ppt_x"/>
                                          </p:val>
                                        </p:tav>
                                      </p:tavLst>
                                    </p:anim>
                                    <p:anim calcmode="lin" valueType="num">
                                      <p:cBhvr>
                                        <p:cTn id="74" dur="6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2198"/>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600"/>
                                        <p:tgtEl>
                                          <p:spTgt spid="16"/>
                                        </p:tgtEl>
                                      </p:cBhvr>
                                    </p:animEffect>
                                    <p:anim calcmode="lin" valueType="num">
                                      <p:cBhvr>
                                        <p:cTn id="78" dur="600" fill="hold"/>
                                        <p:tgtEl>
                                          <p:spTgt spid="16"/>
                                        </p:tgtEl>
                                        <p:attrNameLst>
                                          <p:attrName>ppt_x</p:attrName>
                                        </p:attrNameLst>
                                      </p:cBhvr>
                                      <p:tavLst>
                                        <p:tav tm="0">
                                          <p:val>
                                            <p:strVal val="#ppt_x"/>
                                          </p:val>
                                        </p:tav>
                                        <p:tav tm="100000">
                                          <p:val>
                                            <p:strVal val="#ppt_x"/>
                                          </p:val>
                                        </p:tav>
                                      </p:tavLst>
                                    </p:anim>
                                    <p:anim calcmode="lin" valueType="num">
                                      <p:cBhvr>
                                        <p:cTn id="79" dur="6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2355"/>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6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2512"/>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600"/>
                                        <p:tgtEl>
                                          <p:spTgt spid="18"/>
                                        </p:tgtEl>
                                      </p:cBhvr>
                                    </p:animEffect>
                                    <p:anim calcmode="lin" valueType="num">
                                      <p:cBhvr>
                                        <p:cTn id="88" dur="600" fill="hold"/>
                                        <p:tgtEl>
                                          <p:spTgt spid="18"/>
                                        </p:tgtEl>
                                        <p:attrNameLst>
                                          <p:attrName>ppt_x</p:attrName>
                                        </p:attrNameLst>
                                      </p:cBhvr>
                                      <p:tavLst>
                                        <p:tav tm="0">
                                          <p:val>
                                            <p:strVal val="#ppt_x"/>
                                          </p:val>
                                        </p:tav>
                                        <p:tav tm="100000">
                                          <p:val>
                                            <p:strVal val="#ppt_x"/>
                                          </p:val>
                                        </p:tav>
                                      </p:tavLst>
                                    </p:anim>
                                    <p:anim calcmode="lin" valueType="num">
                                      <p:cBhvr>
                                        <p:cTn id="89" dur="6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2669"/>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600"/>
                                        <p:tgtEl>
                                          <p:spTgt spid="19"/>
                                        </p:tgtEl>
                                      </p:cBhvr>
                                    </p:animEffect>
                                    <p:anim calcmode="lin" valueType="num">
                                      <p:cBhvr>
                                        <p:cTn id="93" dur="600" fill="hold"/>
                                        <p:tgtEl>
                                          <p:spTgt spid="19"/>
                                        </p:tgtEl>
                                        <p:attrNameLst>
                                          <p:attrName>ppt_x</p:attrName>
                                        </p:attrNameLst>
                                      </p:cBhvr>
                                      <p:tavLst>
                                        <p:tav tm="0">
                                          <p:val>
                                            <p:strVal val="#ppt_x"/>
                                          </p:val>
                                        </p:tav>
                                        <p:tav tm="100000">
                                          <p:val>
                                            <p:strVal val="#ppt_x"/>
                                          </p:val>
                                        </p:tav>
                                      </p:tavLst>
                                    </p:anim>
                                    <p:anim calcmode="lin" valueType="num">
                                      <p:cBhvr>
                                        <p:cTn id="94" dur="6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2826"/>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600"/>
                                        <p:tgtEl>
                                          <p:spTgt spid="25"/>
                                        </p:tgtEl>
                                      </p:cBhvr>
                                    </p:animEffect>
                                    <p:anim calcmode="lin" valueType="num">
                                      <p:cBhvr>
                                        <p:cTn id="98" dur="600" fill="hold"/>
                                        <p:tgtEl>
                                          <p:spTgt spid="25"/>
                                        </p:tgtEl>
                                        <p:attrNameLst>
                                          <p:attrName>ppt_x</p:attrName>
                                        </p:attrNameLst>
                                      </p:cBhvr>
                                      <p:tavLst>
                                        <p:tav tm="0">
                                          <p:val>
                                            <p:strVal val="#ppt_x"/>
                                          </p:val>
                                        </p:tav>
                                        <p:tav tm="100000">
                                          <p:val>
                                            <p:strVal val="#ppt_x"/>
                                          </p:val>
                                        </p:tav>
                                      </p:tavLst>
                                    </p:anim>
                                    <p:anim calcmode="lin" valueType="num">
                                      <p:cBhvr>
                                        <p:cTn id="99"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7863840" cy="1280160"/>
          </a:xfrm>
          <a:prstGeom prst="rect">
            <a:avLst/>
          </a:prstGeom>
          <a:noFill/>
          <a:ln/>
        </p:spPr>
        <p:txBody>
          <a:bodyPr wrap="square" lIns="0" tIns="0" rIns="0" bIns="0" rtlCol="0" anchor="ctr"/>
          <a:lstStyle/>
          <a:p>
            <a:pPr algn="l" indent="0" marL="0">
              <a:buNone/>
            </a:pPr>
            <a:r>
              <a:rPr lang="en-US" sz="4400" b="1" dirty="0">
                <a:solidFill>
                  <a:schemeClr val="tx2"/>
                </a:solidFill>
              </a:rPr>
              <a:t>Merci pour votre aimable attention</a:t>
            </a:r>
            <a:endParaRPr lang="en-US" sz="4400" dirty="0"/>
          </a:p>
        </p:txBody>
      </p:sp>
      <p:sp>
        <p:nvSpPr>
          <p:cNvPr id="3" name="Merci cercle"/>
          <p:cNvSpPr/>
          <p:nvPr/>
        </p:nvSpPr>
        <p:spPr>
          <a:xfrm>
            <a:off x="822960" y="3886200"/>
            <a:ext cx="914400" cy="914400"/>
          </a:xfrm>
          <a:prstGeom prst="ellipse">
            <a:avLst/>
          </a:prstGeom>
          <a:solidFill>
            <a:schemeClr val="accent2"/>
          </a:solidFill>
          <a:ln w="12700">
            <a:solidFill>
              <a:schemeClr val="accent2"/>
            </a:solidFill>
            <a:prstDash val="solid"/>
          </a:ln>
        </p:spPr>
      </p:sp>
      <p:pic>
        <p:nvPicPr>
          <p:cNvPr id="4" name="Merci icone" descr="preencoded.png">    </p:cNvPr>
          <p:cNvPicPr>
            <a:picLocks noChangeAspect="1"/>
          </p:cNvPicPr>
          <p:nvPr/>
        </p:nvPicPr>
        <p:blipFill>
          <a:blip r:embed="rId1"/>
          <a:stretch>
            <a:fillRect/>
          </a:stretch>
        </p:blipFill>
        <p:spPr>
          <a:xfrm>
            <a:off x="1042416" y="4105656"/>
            <a:ext cx="475488" cy="4754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7863840" cy="1280160"/>
          </a:xfrm>
          <a:prstGeom prst="rect">
            <a:avLst/>
          </a:prstGeom>
          <a:noFill/>
          <a:ln/>
        </p:spPr>
        <p:txBody>
          <a:bodyPr wrap="square" lIns="0" tIns="0" rIns="0" bIns="0" rtlCol="0" anchor="ctr"/>
          <a:lstStyle/>
          <a:p>
            <a:pPr algn="l" indent="0" marL="0">
              <a:buNone/>
            </a:pPr>
            <a:r>
              <a:rPr lang="en-US" sz="4400" b="1" dirty="0">
                <a:solidFill>
                  <a:schemeClr val="tx2"/>
                </a:solidFill>
              </a:rPr>
              <a:t>Questions et remarques</a:t>
            </a:r>
            <a:endParaRPr lang="en-US" sz="4400" dirty="0"/>
          </a:p>
        </p:txBody>
      </p:sp>
      <p:sp>
        <p:nvSpPr>
          <p:cNvPr id="3" name="Questions cercle"/>
          <p:cNvSpPr/>
          <p:nvPr/>
        </p:nvSpPr>
        <p:spPr>
          <a:xfrm>
            <a:off x="822960" y="3886200"/>
            <a:ext cx="914400" cy="914400"/>
          </a:xfrm>
          <a:prstGeom prst="ellipse">
            <a:avLst/>
          </a:prstGeom>
          <a:solidFill>
            <a:schemeClr val="accent1"/>
          </a:solidFill>
          <a:ln w="12700">
            <a:solidFill>
              <a:schemeClr val="accent1"/>
            </a:solidFill>
            <a:prstDash val="solid"/>
          </a:ln>
        </p:spPr>
      </p:sp>
      <p:pic>
        <p:nvPicPr>
          <p:cNvPr id="4" name="Questions icone" descr="preencoded.png">    </p:cNvPr>
          <p:cNvPicPr>
            <a:picLocks noChangeAspect="1"/>
          </p:cNvPicPr>
          <p:nvPr/>
        </p:nvPicPr>
        <p:blipFill>
          <a:blip r:embed="rId1"/>
          <a:stretch>
            <a:fillRect/>
          </a:stretch>
        </p:blipFill>
        <p:spPr>
          <a:xfrm>
            <a:off x="1042416" y="4105656"/>
            <a:ext cx="475488" cy="475488"/>
          </a:xfrm>
          <a:prstGeom prst="rect">
            <a:avLst/>
          </a:prstGeom>
        </p:spPr>
      </p:pic>
      <p:sp>
        <p:nvSpPr>
          <p:cNvPr id="5" name="Disponibilite"/>
          <p:cNvSpPr txBox="1"/>
          <p:nvPr/>
        </p:nvSpPr>
        <p:spPr>
          <a:xfrm>
            <a:off x="1920240" y="3977640"/>
            <a:ext cx="6400800" cy="731520"/>
          </a:xfrm>
          <a:prstGeom prst="rect">
            <a:avLst/>
          </a:prstGeom>
          <a:noFill/>
          <a:ln/>
        </p:spPr>
        <p:txBody>
          <a:bodyPr wrap="square" lIns="0" tIns="0" rIns="0" bIns="0" rtlCol="0" anchor="ctr"/>
          <a:lstStyle/>
          <a:p>
            <a:pPr indent="0" marL="0">
              <a:buNone/>
            </a:pPr>
            <a:r>
              <a:rPr lang="en-US" sz="2200" i="1" dirty="0">
                <a:solidFill>
                  <a:schemeClr val="accent2"/>
                </a:solidFill>
              </a:rPr>
              <a:t>Je suis à votre disposition</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anim calcmode="lin" valueType="num">
                                      <p:cBhvr>
                                        <p:cTn id="8" dur="600" fill="hold"/>
                                        <p:tgtEl>
                                          <p:spTgt spid="2"/>
                                        </p:tgtEl>
                                        <p:attrNameLst>
                                          <p:attrName>ppt_x</p:attrName>
                                        </p:attrNameLst>
                                      </p:cBhvr>
                                      <p:tavLst>
                                        <p:tav tm="0">
                                          <p:val>
                                            <p:strVal val="#ppt_x"/>
                                          </p:val>
                                        </p:tav>
                                        <p:tav tm="100000">
                                          <p:val>
                                            <p:strVal val="#ppt_x"/>
                                          </p:val>
                                        </p:tav>
                                      </p:tavLst>
                                    </p:anim>
                                    <p:anim calcmode="lin" valueType="num">
                                      <p:cBhvr>
                                        <p:cTn id="9" dur="6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8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p:cTn id="13" dur="600" fill="hold"/>
                                        <p:tgtEl>
                                          <p:spTgt spid="3"/>
                                        </p:tgtEl>
                                        <p:attrNameLst>
                                          <p:attrName>ppt_x</p:attrName>
                                        </p:attrNameLst>
                                      </p:cBhvr>
                                      <p:tavLst>
                                        <p:tav tm="0">
                                          <p:val>
                                            <p:strVal val="#ppt_x"/>
                                          </p:val>
                                        </p:tav>
                                        <p:tav tm="100000">
                                          <p:val>
                                            <p:strVal val="#ppt_x"/>
                                          </p:val>
                                        </p:tav>
                                      </p:tavLst>
                                    </p:anim>
                                    <p:anim calcmode="lin" valueType="num">
                                      <p:cBhvr>
                                        <p:cTn id="14" dur="6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3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p:cTn id="18" dur="600" fill="hold"/>
                                        <p:tgtEl>
                                          <p:spTgt spid="4"/>
                                        </p:tgtEl>
                                        <p:attrNameLst>
                                          <p:attrName>ppt_x</p:attrName>
                                        </p:attrNameLst>
                                      </p:cBhvr>
                                      <p:tavLst>
                                        <p:tav tm="0">
                                          <p:val>
                                            <p:strVal val="#ppt_x"/>
                                          </p:val>
                                        </p:tav>
                                        <p:tav tm="100000">
                                          <p:val>
                                            <p:strVal val="#ppt_x"/>
                                          </p:val>
                                        </p:tav>
                                      </p:tavLst>
                                    </p:anim>
                                    <p:anim calcmode="lin" valueType="num">
                                      <p:cBhvr>
                                        <p:cTn id="19" dur="6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54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SFA Santé">
  <a:themeElements>
    <a:clrScheme name="PSFA Santé">
      <a:dk1>
        <a:srgbClr val="1E2B28"/>
      </a:dk1>
      <a:lt1>
        <a:srgbClr val="FFFFFF"/>
      </a:lt1>
      <a:dk2>
        <a:srgbClr val="1F5C4A"/>
      </a:dk2>
      <a:lt2>
        <a:srgbClr val="EEF7F3"/>
      </a:lt2>
      <a:accent1>
        <a:srgbClr val="1F5C4A"/>
      </a:accent1>
      <a:accent2>
        <a:srgbClr val="2A9D8F"/>
      </a:accent2>
      <a:accent3>
        <a:srgbClr val="8FD3B6"/>
      </a:accent3>
      <a:accent4>
        <a:srgbClr val="E9A23B"/>
      </a:accent4>
      <a:accent5>
        <a:srgbClr val="5FB49C"/>
      </a:accent5>
      <a:accent6>
        <a:srgbClr val="D9534F"/>
      </a:accent6>
      <a:hlink>
        <a:srgbClr val="2A9D8F"/>
      </a:hlink>
      <a:folHlink>
        <a:srgbClr val="1F5C4A"/>
      </a:folHlink>
    </a:clrScheme>
    <a:fontScheme name="PSFA Santé">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web intelligente de gestion des rendez-vous – PSFA</dc:title>
  <dc:subject>PptxGenJS Presentation</dc:subject>
  <dc:creator>NOMENJANAHARY Heritina Johnny</dc:creator>
  <cp:lastModifiedBy>NOMENJANAHARY Heritina Johnny</cp:lastModifiedBy>
  <cp:revision>1</cp:revision>
  <dcterms:created xsi:type="dcterms:W3CDTF">2026-10-28T11:27:28Z</dcterms:created>
  <dcterms:modified xsi:type="dcterms:W3CDTF">2026-10-28T11:27:28Z</dcterms:modified>
</cp:coreProperties>
</file>